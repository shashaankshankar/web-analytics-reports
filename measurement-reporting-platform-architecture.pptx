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67cf4bf8da04a67" /><Relationship Type="http://schemas.openxmlformats.org/officeDocument/2006/relationships/extended-properties" Target="/docProps/app.xml" Id="Rcc9e66c72351461c" /><Relationship Type="http://schemas.openxmlformats.org/officeDocument/2006/relationships/officeDocument" Target="/ppt/presentation.xml" Id="R3a60e657fc2c4a69" /></Relationships>
</file>

<file path=ppt/presentation.xml><?xml version="1.0" encoding="utf-8"?>
<p:presentation xmlns:p="http://schemas.openxmlformats.org/presentationml/2006/main">
  <p:sldMasterIdLst>
    <p:sldMasterId xmlns:r="http://schemas.openxmlformats.org/officeDocument/2006/relationships" id="2147483648" r:id="Rde18fda5ac5b4ca1"/>
  </p:sldMasterIdLst>
  <p:notesMasterIdLst>
    <p:notesMasterId xmlns:r="http://schemas.openxmlformats.org/officeDocument/2006/relationships" r:id="R2b353a7bdf7c4b09"/>
  </p:notesMasterIdLst>
  <p:sldIdLst>
    <p:sldId xmlns:r="http://schemas.openxmlformats.org/officeDocument/2006/relationships" id="256" r:id="Rc66ad26dcd9e4a78"/>
    <p:sldId xmlns:r="http://schemas.openxmlformats.org/officeDocument/2006/relationships" id="257" r:id="R821707afec4a4c34"/>
    <p:sldId xmlns:r="http://schemas.openxmlformats.org/officeDocument/2006/relationships" id="258" r:id="R76db0b57a0bb42fb"/>
    <p:sldId xmlns:r="http://schemas.openxmlformats.org/officeDocument/2006/relationships" id="259" r:id="R22a6d9b684164b1c"/>
    <p:sldId xmlns:r="http://schemas.openxmlformats.org/officeDocument/2006/relationships" id="260" r:id="R205430152fd8439a"/>
    <p:sldId xmlns:r="http://schemas.openxmlformats.org/officeDocument/2006/relationships" id="261" r:id="R0eb17aa15b294ae2"/>
    <p:sldId xmlns:r="http://schemas.openxmlformats.org/officeDocument/2006/relationships" id="262" r:id="R2ba1c5f012d348ce"/>
    <p:sldId xmlns:r="http://schemas.openxmlformats.org/officeDocument/2006/relationships" id="263" r:id="Rbfe5bb88793145d7"/>
    <p:sldId xmlns:r="http://schemas.openxmlformats.org/officeDocument/2006/relationships" id="264" r:id="Rebd33dd33a1f4fc4"/>
    <p:sldId xmlns:r="http://schemas.openxmlformats.org/officeDocument/2006/relationships" id="265" r:id="Rabe6e29e3377466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012dd161f8f4244" /><Relationship Type="http://schemas.openxmlformats.org/officeDocument/2006/relationships/slideMaster" Target="/ppt/slideMasters/slideMaster1.xml" Id="Rde18fda5ac5b4ca1" /><Relationship Type="http://schemas.openxmlformats.org/officeDocument/2006/relationships/notesMaster" Target="/ppt/notesMasters/notesMaster1.xml" Id="R2b353a7bdf7c4b09" /><Relationship Type="http://schemas.openxmlformats.org/officeDocument/2006/relationships/presProps" Target="/ppt/presProps.xml" Id="Rb4926253bf01476c" /><Relationship Type="http://schemas.openxmlformats.org/officeDocument/2006/relationships/tableStyles" Target="/ppt/tableStyles.xml" Id="R10c4d5d4f0184baf" /><Relationship Type="http://schemas.openxmlformats.org/officeDocument/2006/relationships/slide" Target="/ppt/slides/slide1.xml" Id="Rc66ad26dcd9e4a78" /><Relationship Type="http://schemas.openxmlformats.org/officeDocument/2006/relationships/slide" Target="/ppt/slides/slide2.xml" Id="R821707afec4a4c34" /><Relationship Type="http://schemas.openxmlformats.org/officeDocument/2006/relationships/slide" Target="/ppt/slides/slide3.xml" Id="R76db0b57a0bb42fb" /><Relationship Type="http://schemas.openxmlformats.org/officeDocument/2006/relationships/slide" Target="/ppt/slides/slide4.xml" Id="R22a6d9b684164b1c" /><Relationship Type="http://schemas.openxmlformats.org/officeDocument/2006/relationships/slide" Target="/ppt/slides/slide5.xml" Id="R205430152fd8439a" /><Relationship Type="http://schemas.openxmlformats.org/officeDocument/2006/relationships/slide" Target="/ppt/slides/slide6.xml" Id="R0eb17aa15b294ae2" /><Relationship Type="http://schemas.openxmlformats.org/officeDocument/2006/relationships/slide" Target="/ppt/slides/slide7.xml" Id="R2ba1c5f012d348ce" /><Relationship Type="http://schemas.openxmlformats.org/officeDocument/2006/relationships/slide" Target="/ppt/slides/slide8.xml" Id="Rbfe5bb88793145d7" /><Relationship Type="http://schemas.openxmlformats.org/officeDocument/2006/relationships/slide" Target="/ppt/slides/slide9.xml" Id="Rebd33dd33a1f4fc4" /><Relationship Type="http://schemas.openxmlformats.org/officeDocument/2006/relationships/slide" Target="/ppt/slides/slide10.xml" Id="Rabe6e29e3377466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0e92c8732f047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7226ce744c046a4" /><Relationship Type="http://schemas.openxmlformats.org/officeDocument/2006/relationships/notesMaster" Target="/ppt/notesMasters/notesMaster1.xml" Id="R21d4f358a5924a4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9ee43882aeb46a1" /><Relationship Type="http://schemas.openxmlformats.org/officeDocument/2006/relationships/notesMaster" Target="/ppt/notesMasters/notesMaster1.xml" Id="R5d6048028f564277" /></Relationships>
</file>

<file path=ppt/notesSlides/_rels/notesSlide3.xml.rels>&#65279;<?xml version="1.0" encoding="utf-8"?><Relationships xmlns="http://schemas.openxmlformats.org/package/2006/relationships"><Relationship Type="http://schemas.openxmlformats.org/officeDocument/2006/relationships/slide" Target="/ppt/slides/slide3.xml" Id="R5a031b4eb27743cd" /><Relationship Type="http://schemas.openxmlformats.org/officeDocument/2006/relationships/notesMaster" Target="/ppt/notesMasters/notesMaster1.xml" Id="Rc7e42608d6734695" /></Relationships>
</file>

<file path=ppt/notesSlides/_rels/notesSlide4.xml.rels>&#65279;<?xml version="1.0" encoding="utf-8"?><Relationships xmlns="http://schemas.openxmlformats.org/package/2006/relationships"><Relationship Type="http://schemas.openxmlformats.org/officeDocument/2006/relationships/slide" Target="/ppt/slides/slide4.xml" Id="R7c2bdf7a353d426c" /><Relationship Type="http://schemas.openxmlformats.org/officeDocument/2006/relationships/notesMaster" Target="/ppt/notesMasters/notesMaster1.xml" Id="Re9c48db1b02a41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8d0ae2e10d6140f6" /><Relationship Type="http://schemas.openxmlformats.org/officeDocument/2006/relationships/notesMaster" Target="/ppt/notesMasters/notesMaster1.xml" Id="Re0a7875da6f84fd2" /></Relationships>
</file>

<file path=ppt/notesSlides/_rels/notesSlide6.xml.rels>&#65279;<?xml version="1.0" encoding="utf-8"?><Relationships xmlns="http://schemas.openxmlformats.org/package/2006/relationships"><Relationship Type="http://schemas.openxmlformats.org/officeDocument/2006/relationships/slide" Target="/ppt/slides/slide6.xml" Id="Rb573fe2d07d54719" /><Relationship Type="http://schemas.openxmlformats.org/officeDocument/2006/relationships/notesMaster" Target="/ppt/notesMasters/notesMaster1.xml" Id="Re148acda38894dce" /></Relationships>
</file>

<file path=ppt/notesSlides/_rels/notesSlide7.xml.rels>&#65279;<?xml version="1.0" encoding="utf-8"?><Relationships xmlns="http://schemas.openxmlformats.org/package/2006/relationships"><Relationship Type="http://schemas.openxmlformats.org/officeDocument/2006/relationships/slide" Target="/ppt/slides/slide7.xml" Id="R1e3d2c67c666450e" /><Relationship Type="http://schemas.openxmlformats.org/officeDocument/2006/relationships/notesMaster" Target="/ppt/notesMasters/notesMaster1.xml" Id="R8e1acfd8ba4e440a"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fc22a94825430a" /><Relationship Type="http://schemas.openxmlformats.org/officeDocument/2006/relationships/notesMaster" Target="/ppt/notesMasters/notesMaster1.xml" Id="Rffe44609fb0b41ba" /></Relationships>
</file>

<file path=ppt/notesSlides/_rels/notesSlide9.xml.rels>&#65279;<?xml version="1.0" encoding="utf-8"?><Relationships xmlns="http://schemas.openxmlformats.org/package/2006/relationships"><Relationship Type="http://schemas.openxmlformats.org/officeDocument/2006/relationships/slide" Target="/ppt/slides/slide9.xml" Id="R65e41eefb41f4fdc" /><Relationship Type="http://schemas.openxmlformats.org/officeDocument/2006/relationships/notesMaster" Target="/ppt/notesMasters/notesMaster1.xml" Id="R89ef951e4efe468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4dbcb9055514ffa" /><Relationship Type="http://schemas.openxmlformats.org/officeDocument/2006/relationships/notesMaster" Target="/ppt/notesMasters/notesMaster1.xml" Id="R648831358a0143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architecture decision: the product earns trust by standardizing measurement, storing evidence, and enforcing release gates before it expands into a client portal.</a:t>
            </a:r>
          </a:p>
          <a:p xmlns:a="http://schemas.openxmlformats.org/drawingml/2006/main">
            <a:r>
              <a:t/>
            </a:r>
          </a:p>
          <a:p xmlns:a="http://schemas.openxmlformats.org/drawingml/2006/main">
            <a:r>
              <a:t>[Sources]</a:t>
            </a:r>
          </a:p>
          <a:p xmlns:a="http://schemas.openxmlformats.org/drawingml/2006/main">
            <a:r>
              <a:t>- Measurement and Reporting Platform Architecture Plan, provided by the user, final refined architecture plan, August 8, 2026.</a:t>
            </a:r>
          </a:p>
          <a:p xmlns:a="http://schemas.openxmlformats.org/drawingml/2006/main">
            <a:r>
              <a:t>- https://developers.google.com/analytics/devguides/collection/ga4/reference/events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the executive summary. The architecture has three deliberate priorities: standardized semantics, traceable evidence, and release gates for privacy, quality, and isolation.</a:t>
            </a:r>
          </a:p>
          <a:p xmlns:a="http://schemas.openxmlformats.org/drawingml/2006/main">
            <a:r>
              <a:t/>
            </a:r>
          </a:p>
          <a:p xmlns:a="http://schemas.openxmlformats.org/drawingml/2006/main">
            <a:r>
              <a:t>[Sources]</a:t>
            </a:r>
          </a:p>
          <a:p xmlns:a="http://schemas.openxmlformats.org/drawingml/2006/main">
            <a:r>
              <a:t>- Measurement and Reporting Platform Architecture Plan, provided by the user, final refined architecture plan, August 8,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through the three planes. The measurement plane establishes meaning and privacy. The connector and data plane captures source evidence into Postgres. The application plane turns that evidence into tenant-aware product surfaces. BigQuery is optional and never the default dashboard path.</a:t>
            </a:r>
          </a:p>
          <a:p xmlns:a="http://schemas.openxmlformats.org/drawingml/2006/main">
            <a:r>
              <a:t/>
            </a:r>
          </a:p>
          <a:p xmlns:a="http://schemas.openxmlformats.org/drawingml/2006/main">
            <a:r>
              <a:t>[Sources]</a:t>
            </a:r>
          </a:p>
          <a:p xmlns:a="http://schemas.openxmlformats.org/drawingml/2006/main">
            <a:r>
              <a:t>- Measurement and Reporting Platform Architecture Plan, provided by the user, final refined architecture plan, August 8, 2026.</a:t>
            </a:r>
          </a:p>
          <a:p xmlns:a="http://schemas.openxmlformats.org/drawingml/2006/main">
            <a:r>
              <a:t>- https://developers.google.com/analytics/devguides/reporting/data/v1</a:t>
            </a:r>
          </a:p>
          <a:p xmlns:a="http://schemas.openxmlformats.org/drawingml/2006/main">
            <a:r>
              <a:t>- https://developers.google.com/analytics/devguides/config/admin/v1</a:t>
            </a:r>
          </a:p>
          <a:p xmlns:a="http://schemas.openxmlformats.org/drawingml/2006/main">
            <a:r>
              <a:t>- https://support.google.com/analytics/answer/9358801?hl=en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the semantic distinction: phone clicks and form submissions are not automatically leads. The platform keeps source events immutable and derives canonical metrics through client-specific, effective-dated mappings.</a:t>
            </a:r>
          </a:p>
          <a:p xmlns:a="http://schemas.openxmlformats.org/drawingml/2006/main">
            <a:r>
              <a:t/>
            </a:r>
          </a:p>
          <a:p xmlns:a="http://schemas.openxmlformats.org/drawingml/2006/main">
            <a:r>
              <a:t>[Sources]</a:t>
            </a:r>
          </a:p>
          <a:p xmlns:a="http://schemas.openxmlformats.org/drawingml/2006/main">
            <a:r>
              <a:t>- Measurement and Reporting Platform Architecture Plan, provided by the user, final refined architecture plan, August 8, 2026.</a:t>
            </a:r>
          </a:p>
          <a:p xmlns:a="http://schemas.openxmlformats.org/drawingml/2006/main">
            <a:r>
              <a:t>- https://developers.google.com/analytics/devguides/collection/ga4/reference/events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Healthcare is the hard stop. The deployment manifest owns route eligibility, and runtime code fails closed when eligibility is missing or unknown. Make clear that consent mode is not a substitute for client or legal approval.</a:t>
            </a:r>
          </a:p>
          <a:p xmlns:a="http://schemas.openxmlformats.org/drawingml/2006/main">
            <a:r>
              <a:t/>
            </a:r>
          </a:p>
          <a:p xmlns:a="http://schemas.openxmlformats.org/drawingml/2006/main">
            <a:r>
              <a:t>[Sources]</a:t>
            </a:r>
          </a:p>
          <a:p xmlns:a="http://schemas.openxmlformats.org/drawingml/2006/main">
            <a:r>
              <a:t>- Measurement and Reporting Platform Architecture Plan, provided by the user, final refined architecture plan, August 8, 2026.</a:t>
            </a:r>
          </a:p>
          <a:p xmlns:a="http://schemas.openxmlformats.org/drawingml/2006/main">
            <a:r>
              <a:t>- https://support.google.com/analytics/answer/6366371?hl=en</a:t>
            </a:r>
          </a:p>
          <a:p xmlns:a="http://schemas.openxmlformats.org/drawingml/2006/main">
            <a:r>
              <a:t>- https://support.google.com/analytics/answer/13297105?hl=en</a:t>
            </a:r>
          </a:p>
          <a:p xmlns:a="http://schemas.openxmlformats.org/drawingml/2006/main">
            <a:r>
              <a:t>- https://developers.google.com/tag-platform/security/concepts/consent-mode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operational trust loop. The dashboard never synchronously calls Google; it reads from Postgres and shows the state of the underlying execution. The reconciliation windows are application defaults, not promises that older GA4 data never changes.</a:t>
            </a:r>
          </a:p>
          <a:p xmlns:a="http://schemas.openxmlformats.org/drawingml/2006/main">
            <a:r>
              <a:t/>
            </a:r>
          </a:p>
          <a:p xmlns:a="http://schemas.openxmlformats.org/drawingml/2006/main">
            <a:r>
              <a:t>[Sources]</a:t>
            </a:r>
          </a:p>
          <a:p xmlns:a="http://schemas.openxmlformats.org/drawingml/2006/main">
            <a:r>
              <a:t>- Measurement and Reporting Platform Architecture Plan, provided by the user, final refined architecture plan, August 8, 2026.</a:t>
            </a:r>
          </a:p>
          <a:p xmlns:a="http://schemas.openxmlformats.org/drawingml/2006/main">
            <a:r>
              <a:t>- https://developers.google.com/analytics/devguides/reporting/data/v1/reporting-data-expectations</a:t>
            </a:r>
          </a:p>
          <a:p xmlns:a="http://schemas.openxmlformats.org/drawingml/2006/main">
            <a:r>
              <a:t>- https://developers.google.com/analytics/devguides/reporting/data/v1/rest/v1beta/ResponseMetaData</a:t>
            </a:r>
          </a:p>
          <a:p xmlns:a="http://schemas.openxmlformats.org/drawingml/2006/main">
            <a:r>
              <a:t>- https://developers.google.com/analytics/devguides/reporting/data/v1/quotas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the guardrail against a common reporting failure. Non-additive metrics use matching GA4 period executions and are stored as period snapshots. Canonical business outcomes such as qualified leads and revenue come from approved external systems.</a:t>
            </a:r>
          </a:p>
          <a:p xmlns:a="http://schemas.openxmlformats.org/drawingml/2006/main">
            <a:r>
              <a:t/>
            </a:r>
          </a:p>
          <a:p xmlns:a="http://schemas.openxmlformats.org/drawingml/2006/main">
            <a:r>
              <a:t>[Sources]</a:t>
            </a:r>
          </a:p>
          <a:p xmlns:a="http://schemas.openxmlformats.org/drawingml/2006/main">
            <a:r>
              <a:t>- Measurement and Reporting Platform Architecture Plan, provided by the user, final refined architecture plan, August 8, 2026.</a:t>
            </a:r>
          </a:p>
          <a:p xmlns:a="http://schemas.openxmlformats.org/drawingml/2006/main">
            <a:r>
              <a:t>- https://developers.google.com/analytics/devguides/reporting/data/v1</a:t>
            </a:r>
          </a:p>
          <a:p xmlns:a="http://schemas.openxmlformats.org/drawingml/2006/main">
            <a:r>
              <a:t>- https://developers.google.com/analytics/devguides/reporting/data/v1/reporting-data-expectations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 model deliberately inserts website and assignment between company and property. This prevents a credential or property from being treated as the ownership boundary. Before client-facing access, isolation must exist at HTTP, service, and database layers.</a:t>
            </a:r>
          </a:p>
          <a:p xmlns:a="http://schemas.openxmlformats.org/drawingml/2006/main">
            <a:r>
              <a:t/>
            </a:r>
          </a:p>
          <a:p xmlns:a="http://schemas.openxmlformats.org/drawingml/2006/main">
            <a:r>
              <a:t>[Sources]</a:t>
            </a:r>
          </a:p>
          <a:p xmlns:a="http://schemas.openxmlformats.org/drawingml/2006/main">
            <a:r>
              <a:t>- Measurement and Reporting Platform Architecture Plan, provided by the user, final refined architecture plan, August 8,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roadmap is a sequence of gates, not a feature inventory. The first milestone is intentionally small: prove one website end to end before broadening into the portfolio console, client portal, integrations, or raw-event tier.</a:t>
            </a:r>
          </a:p>
          <a:p xmlns:a="http://schemas.openxmlformats.org/drawingml/2006/main">
            <a:r>
              <a:t/>
            </a:r>
          </a:p>
          <a:p xmlns:a="http://schemas.openxmlformats.org/drawingml/2006/main">
            <a:r>
              <a:t>[Sources]</a:t>
            </a:r>
          </a:p>
          <a:p xmlns:a="http://schemas.openxmlformats.org/drawingml/2006/main">
            <a:r>
              <a:t>- Measurement and Reporting Platform Architecture Plan, provided by the user, final refined architecture plan, August 8,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decision: architecture planning stops here until the pilot assumptions are tested. The immediate work is Phase 0 and Phase 1, followed by the narrowest possible Phase 2 data pilot.</a:t>
            </a:r>
          </a:p>
          <a:p xmlns:a="http://schemas.openxmlformats.org/drawingml/2006/main">
            <a:r>
              <a:t/>
            </a:r>
          </a:p>
          <a:p xmlns:a="http://schemas.openxmlformats.org/drawingml/2006/main">
            <a:r>
              <a:t>[Sources]</a:t>
            </a:r>
          </a:p>
          <a:p xmlns:a="http://schemas.openxmlformats.org/drawingml/2006/main">
            <a:r>
              <a:t>- Measurement and Reporting Platform Architecture Plan, provided by the user, final refined architecture plan, August 8,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8c16a59ab054ee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a277ab6cd9a42ab" /><Relationship Type="http://schemas.openxmlformats.org/officeDocument/2006/relationships/slideLayout" Target="/ppt/slideLayouts/slideLayout1.xml" Id="R4037078eec1a42c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37078eec1a42c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85148db5dab4d52" /><Relationship Type="http://schemas.openxmlformats.org/officeDocument/2006/relationships/notesSlide" Target="/ppt/notesSlides/notesSlide1.xml" Id="Rda890f6c9e26433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db87dcd56014b1c" /><Relationship Type="http://schemas.openxmlformats.org/officeDocument/2006/relationships/notesSlide" Target="/ppt/notesSlides/notesSlide2.xml" Id="Red832b80c548416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44ff7331c1b4e56" /><Relationship Type="http://schemas.openxmlformats.org/officeDocument/2006/relationships/notesSlide" Target="/ppt/notesSlides/notesSlide3.xml" Id="R62e4b856c580409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1ef4887eb7543b9" /><Relationship Type="http://schemas.openxmlformats.org/officeDocument/2006/relationships/notesSlide" Target="/ppt/notesSlides/notesSlide4.xml" Id="R512d105471f34cd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9165eeee1d44221" /><Relationship Type="http://schemas.openxmlformats.org/officeDocument/2006/relationships/notesSlide" Target="/ppt/notesSlides/notesSlide5.xml" Id="R329a795ad78549b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bb2cf30146f436e" /><Relationship Type="http://schemas.openxmlformats.org/officeDocument/2006/relationships/notesSlide" Target="/ppt/notesSlides/notesSlide6.xml" Id="R6763e3266af54f7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e45822288d44337" /><Relationship Type="http://schemas.openxmlformats.org/officeDocument/2006/relationships/notesSlide" Target="/ppt/notesSlides/notesSlide7.xml" Id="R9d3d786b674540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17983a9fbbc4d3f" /><Relationship Type="http://schemas.openxmlformats.org/officeDocument/2006/relationships/notesSlide" Target="/ppt/notesSlides/notesSlide8.xml" Id="Rd50b31d25a36475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f780eacb631489c" /><Relationship Type="http://schemas.openxmlformats.org/officeDocument/2006/relationships/notesSlide" Target="/ppt/notesSlides/notesSlide9.xml" Id="R41a522c00cb3499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8daef678cac4baa" /><Relationship Type="http://schemas.openxmlformats.org/officeDocument/2006/relationships/notesSlide" Target="/ppt/notesSlides/notesSlide10.xml" Id="R3a6fc9df32f3479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box-1">
            <a:extLst xmlns:a="http://schemas.openxmlformats.org/drawingml/2006/main">
              <a:ext uri="{FF2B5EF4-FFF2-40B4-BE49-F238E27FC236}">
                <a16:creationId xmlns:a16="http://schemas.microsoft.com/office/drawing/2014/main" id="{F45BC6F7-C7CD-4739-934E-FC2513857A5E}"/>
              </a:ext>
            </a:extLst>
          </p:cNvPr>
          <p:cNvSpPr>
            <a:spLocks xmlns:a="http://schemas.openxmlformats.org/drawingml/2006/main" noGrp="1"/>
          </p:cNvSpPr>
          <p:nvPr/>
        </p:nvSpPr>
        <p:spPr>
          <a:xfrm xmlns:a="http://schemas.openxmlformats.org/drawingml/2006/main">
            <a:off x="393668" y="392240"/>
            <a:ext cx="5702332"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i="0">
                <a:solidFill>
                  <a:srgbClr val="3D8DFF"/>
                </a:solidFill>
                <a:latin typeface="Helvetica Neue"/>
                <a:ea typeface="Helvetica Neue"/>
                <a:cs typeface="Helvetica Neue"/>
              </a:defRPr>
            </a:pPr>
            <a:r>
              <a:rPr sz="1500" b="1" i="0">
                <a:solidFill>
                  <a:srgbClr val="3D8DFF"/>
                </a:solidFill>
                <a:latin typeface="Helvetica Neue"/>
                <a:ea typeface="Helvetica Neue"/>
                <a:cs typeface="Helvetica Neue"/>
              </a:rPr>
              <a:t>MEASUREMENT &amp; REPORTING PLATFORM</a:t>
            </a:r>
          </a:p>
        </p:txBody>
      </p:sp>
      <p:sp>
        <p:nvSpPr>
          <p:cNvPr id="2" name="line-2">
            <a:extLst xmlns:a="http://schemas.openxmlformats.org/drawingml/2006/main">
              <a:ext uri="{FF2B5EF4-FFF2-40B4-BE49-F238E27FC236}">
                <a16:creationId xmlns:a16="http://schemas.microsoft.com/office/drawing/2014/main" id="{340DE2B5-C821-4EEC-A830-32C32B97FCB4}"/>
              </a:ext>
            </a:extLst>
          </p:cNvPr>
          <p:cNvSpPr>
            <a:spLocks xmlns:a="http://schemas.openxmlformats.org/drawingml/2006/main" noGrp="1"/>
          </p:cNvSpPr>
          <p:nvPr/>
        </p:nvSpPr>
        <p:spPr>
          <a:xfrm xmlns:a="http://schemas.openxmlformats.org/drawingml/2006/main">
            <a:off x="393668" y="876300"/>
            <a:ext cx="123825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3" name="textbox-3">
            <a:extLst xmlns:a="http://schemas.openxmlformats.org/drawingml/2006/main">
              <a:ext uri="{FF2B5EF4-FFF2-40B4-BE49-F238E27FC236}">
                <a16:creationId xmlns:a16="http://schemas.microsoft.com/office/drawing/2014/main" id="{B5C66D54-FE28-40ED-AFFE-312166666D6F}"/>
              </a:ext>
            </a:extLst>
          </p:cNvPr>
          <p:cNvSpPr>
            <a:spLocks xmlns:a="http://schemas.openxmlformats.org/drawingml/2006/main" noGrp="1"/>
          </p:cNvSpPr>
          <p:nvPr/>
        </p:nvSpPr>
        <p:spPr>
          <a:xfrm xmlns:a="http://schemas.openxmlformats.org/drawingml/2006/main">
            <a:off x="393668" y="1504950"/>
            <a:ext cx="85725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l">
              <a:defRPr sz="5700" b="0" i="0">
                <a:solidFill>
                  <a:srgbClr val="000000"/>
                </a:solidFill>
                <a:latin typeface="Helvetica Neue"/>
                <a:ea typeface="Helvetica Neue"/>
                <a:cs typeface="Helvetica Neue"/>
              </a:defRPr>
            </a:pPr>
            <a:r>
              <a:rPr sz="5700" b="0" i="0">
                <a:solidFill>
                  <a:srgbClr val="000000"/>
                </a:solidFill>
                <a:latin typeface="Helvetica Neue"/>
                <a:ea typeface="Helvetica Neue"/>
                <a:cs typeface="Helvetica Neue"/>
              </a:rPr>
              <a:t>Business architecture</a:t>
            </a:r>
          </a:p>
          <a:p xmlns:a="http://schemas.openxmlformats.org/drawingml/2006/main">
            <a:pPr algn="l">
              <a:defRPr sz="5700" b="0" i="0">
                <a:solidFill>
                  <a:srgbClr val="000000"/>
                </a:solidFill>
                <a:latin typeface="Helvetica Neue"/>
                <a:ea typeface="Helvetica Neue"/>
                <a:cs typeface="Helvetica Neue"/>
              </a:defRPr>
            </a:pPr>
            <a:r>
              <a:rPr sz="5700" b="0" i="0">
                <a:solidFill>
                  <a:srgbClr val="000000"/>
                </a:solidFill>
                <a:latin typeface="Helvetica Neue"/>
                <a:ea typeface="Helvetica Neue"/>
                <a:cs typeface="Helvetica Neue"/>
              </a:rPr>
              <a:t>you can trust</a:t>
            </a:r>
          </a:p>
        </p:txBody>
      </p:sp>
      <p:sp>
        <p:nvSpPr>
          <p:cNvPr id="4" name="textbox-4">
            <a:extLst xmlns:a="http://schemas.openxmlformats.org/drawingml/2006/main">
              <a:ext uri="{FF2B5EF4-FFF2-40B4-BE49-F238E27FC236}">
                <a16:creationId xmlns:a16="http://schemas.microsoft.com/office/drawing/2014/main" id="{48BF8509-3B59-46AE-B4A9-D93D44C58573}"/>
              </a:ext>
            </a:extLst>
          </p:cNvPr>
          <p:cNvSpPr>
            <a:spLocks xmlns:a="http://schemas.openxmlformats.org/drawingml/2006/main" noGrp="1"/>
          </p:cNvSpPr>
          <p:nvPr/>
        </p:nvSpPr>
        <p:spPr>
          <a:xfrm xmlns:a="http://schemas.openxmlformats.org/drawingml/2006/main">
            <a:off x="393668" y="4638675"/>
            <a:ext cx="581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i="0">
                <a:solidFill>
                  <a:srgbClr val="656B73"/>
                </a:solidFill>
                <a:latin typeface="Helvetica Neue"/>
                <a:ea typeface="Helvetica Neue"/>
                <a:cs typeface="Helvetica Neue"/>
              </a:defRPr>
            </a:pPr>
            <a:r>
              <a:rPr sz="1800" b="0" i="0">
                <a:solidFill>
                  <a:srgbClr val="656B73"/>
                </a:solidFill>
                <a:latin typeface="Helvetica Neue"/>
                <a:ea typeface="Helvetica Neue"/>
                <a:cs typeface="Helvetica Neue"/>
              </a:rPr>
              <a:t>Standardized measurement, trustworthy reporting, and a phased path to a client-ready portal.</a:t>
            </a:r>
          </a:p>
        </p:txBody>
      </p:sp>
      <p:sp>
        <p:nvSpPr>
          <p:cNvPr id="5" name="textbox-5">
            <a:extLst xmlns:a="http://schemas.openxmlformats.org/drawingml/2006/main">
              <a:ext uri="{FF2B5EF4-FFF2-40B4-BE49-F238E27FC236}">
                <a16:creationId xmlns:a16="http://schemas.microsoft.com/office/drawing/2014/main" id="{EA5683D6-2828-4DA5-A3F0-65BCACC55FBE}"/>
              </a:ext>
            </a:extLst>
          </p:cNvPr>
          <p:cNvSpPr>
            <a:spLocks xmlns:a="http://schemas.openxmlformats.org/drawingml/2006/main" noGrp="1"/>
          </p:cNvSpPr>
          <p:nvPr/>
        </p:nvSpPr>
        <p:spPr>
          <a:xfrm xmlns:a="http://schemas.openxmlformats.org/drawingml/2006/main">
            <a:off x="393668" y="59245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i="0">
                <a:solidFill>
                  <a:srgbClr val="656B73"/>
                </a:solidFill>
                <a:latin typeface="Helvetica Neue"/>
                <a:ea typeface="Helvetica Neue"/>
                <a:cs typeface="Helvetica Neue"/>
              </a:defRPr>
            </a:pPr>
            <a:r>
              <a:rPr sz="1200" b="0" i="0">
                <a:solidFill>
                  <a:srgbClr val="656B73"/>
                </a:solidFill>
                <a:latin typeface="Helvetica Neue"/>
                <a:ea typeface="Helvetica Neue"/>
                <a:cs typeface="Helvetica Neue"/>
              </a:rPr>
              <a:t>GA4 first · agency-managed websites</a:t>
            </a:r>
          </a:p>
          <a:p xmlns:a="http://schemas.openxmlformats.org/drawingml/2006/main">
            <a:pPr algn="l">
              <a:defRPr sz="1200" b="0" i="0">
                <a:solidFill>
                  <a:srgbClr val="656B73"/>
                </a:solidFill>
                <a:latin typeface="Helvetica Neue"/>
                <a:ea typeface="Helvetica Neue"/>
                <a:cs typeface="Helvetica Neue"/>
              </a:defRPr>
            </a:pPr>
            <a:r>
              <a:rPr sz="1200" b="0" i="0">
                <a:solidFill>
                  <a:srgbClr val="656B73"/>
                </a:solidFill>
                <a:latin typeface="Helvetica Neue"/>
                <a:ea typeface="Helvetica Neue"/>
                <a:cs typeface="Helvetica Neue"/>
              </a:rPr>
              <a:t>08 AUG 2026</a:t>
            </a:r>
          </a:p>
        </p:txBody>
      </p:sp>
      <p:sp>
        <p:nvSpPr>
          <p:cNvPr id="6" name="textbox-6">
            <a:extLst xmlns:a="http://schemas.openxmlformats.org/drawingml/2006/main">
              <a:ext uri="{FF2B5EF4-FFF2-40B4-BE49-F238E27FC236}">
                <a16:creationId xmlns:a16="http://schemas.microsoft.com/office/drawing/2014/main" id="{E86DEA72-5AFD-48A1-AEA9-61864C4AB5D7}"/>
              </a:ext>
            </a:extLst>
          </p:cNvPr>
          <p:cNvSpPr>
            <a:spLocks xmlns:a="http://schemas.openxmlformats.org/drawingml/2006/main" noGrp="1"/>
          </p:cNvSpPr>
          <p:nvPr/>
        </p:nvSpPr>
        <p:spPr>
          <a:xfrm xmlns:a="http://schemas.openxmlformats.org/drawingml/2006/main">
            <a:off x="9525000" y="5924550"/>
            <a:ext cx="22764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i="0">
                <a:solidFill>
                  <a:srgbClr val="656B73"/>
                </a:solidFill>
                <a:latin typeface="Helvetica Neue"/>
                <a:ea typeface="Helvetica Neue"/>
                <a:cs typeface="Helvetica Neue"/>
              </a:defRPr>
            </a:pPr>
            <a:r>
              <a:rPr sz="900" b="0" i="0">
                <a:solidFill>
                  <a:srgbClr val="656B73"/>
                </a:solidFill>
                <a:latin typeface="Helvetica Neue"/>
                <a:ea typeface="Helvetica Neue"/>
                <a:cs typeface="Helvetica Neue"/>
              </a:rPr>
              <a:t>FINAL REFINED ARCHITECTURE PLAN</a:t>
            </a:r>
          </a:p>
        </p:txBody>
      </p:sp>
    </p:spTree>
    <p:extLst>
      <p:ext uri="{BB962C8B-B14F-4D97-AF65-F5344CB8AC3E}">
        <p14:creationId xmlns:p14="http://schemas.microsoft.com/office/powerpoint/2010/main" val="185012442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box-7">
            <a:extLst xmlns:a="http://schemas.openxmlformats.org/drawingml/2006/main">
              <a:ext uri="{FF2B5EF4-FFF2-40B4-BE49-F238E27FC236}">
                <a16:creationId xmlns:a16="http://schemas.microsoft.com/office/drawing/2014/main" id="{F732ABD8-BA6C-4401-8EAE-3B6779D31A58}"/>
              </a:ext>
            </a:extLst>
          </p:cNvPr>
          <p:cNvSpPr>
            <a:spLocks xmlns:a="http://schemas.openxmlformats.org/drawingml/2006/main" noGrp="1"/>
          </p:cNvSpPr>
          <p:nvPr/>
        </p:nvSpPr>
        <p:spPr>
          <a:xfrm xmlns:a="http://schemas.openxmlformats.org/drawingml/2006/main">
            <a:off x="393668" y="344043"/>
            <a:ext cx="11404568"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0" bIns="0" anchor="t">
            <a:normAutofit fontScale="100000"/>
          </a:bodyPr>
          <a:lstStyle xmlns:a="http://schemas.openxmlformats.org/drawingml/2006/main"/>
          <a:p xmlns:a="http://schemas.openxmlformats.org/drawingml/2006/main">
            <a:pPr algn="l">
              <a:defRPr sz="2850" b="0" i="0">
                <a:solidFill>
                  <a:srgbClr val="000000"/>
                </a:solidFill>
                <a:latin typeface="Helvetica Neue"/>
                <a:ea typeface="Helvetica Neue"/>
                <a:cs typeface="Helvetica Neue"/>
              </a:defRPr>
            </a:pPr>
            <a:r>
              <a:rPr sz="2850" b="0" i="0">
                <a:solidFill>
                  <a:srgbClr val="000000"/>
                </a:solidFill>
                <a:latin typeface="Helvetica Neue"/>
                <a:ea typeface="Helvetica Neue"/>
                <a:cs typeface="Helvetica Neue"/>
              </a:rPr>
              <a:t>The product is a trust layer before it is a dashboard</a:t>
            </a:r>
          </a:p>
        </p:txBody>
      </p:sp>
      <p:sp>
        <p:nvSpPr>
          <p:cNvPr id="2" name="line-8">
            <a:extLst xmlns:a="http://schemas.openxmlformats.org/drawingml/2006/main">
              <a:ext uri="{FF2B5EF4-FFF2-40B4-BE49-F238E27FC236}">
                <a16:creationId xmlns:a16="http://schemas.microsoft.com/office/drawing/2014/main" id="{4A98B08C-DA3E-484D-A1BC-B8F6F91FE611}"/>
              </a:ext>
            </a:extLst>
          </p:cNvPr>
          <p:cNvSpPr>
            <a:spLocks xmlns:a="http://schemas.openxmlformats.org/drawingml/2006/main" noGrp="1"/>
          </p:cNvSpPr>
          <p:nvPr/>
        </p:nvSpPr>
        <p:spPr>
          <a:xfrm xmlns:a="http://schemas.openxmlformats.org/drawingml/2006/main">
            <a:off x="393668" y="1181100"/>
            <a:ext cx="11404568"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3" name="textbox-9">
            <a:extLst xmlns:a="http://schemas.openxmlformats.org/drawingml/2006/main">
              <a:ext uri="{FF2B5EF4-FFF2-40B4-BE49-F238E27FC236}">
                <a16:creationId xmlns:a16="http://schemas.microsoft.com/office/drawing/2014/main" id="{665B97B0-B540-4C2C-9939-02AE204B13F0}"/>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975" b="0" i="0">
                <a:solidFill>
                  <a:srgbClr val="000000"/>
                </a:solidFill>
                <a:latin typeface="Helvetica Neue"/>
                <a:ea typeface="Helvetica Neue"/>
                <a:cs typeface="Helvetica Neue"/>
              </a:defRPr>
            </a:pPr>
            <a:r>
              <a:rPr sz="975" b="0" i="0">
                <a:solidFill>
                  <a:srgbClr val="000000"/>
                </a:solidFill>
                <a:latin typeface="Helvetica Neue"/>
                <a:ea typeface="Helvetica Neue"/>
                <a:cs typeface="Helvetica Neue"/>
              </a:rPr>
              <a:t>02</a:t>
            </a:r>
          </a:p>
        </p:txBody>
      </p:sp>
      <p:sp>
        <p:nvSpPr>
          <p:cNvPr id="4" name="textbox-10">
            <a:extLst xmlns:a="http://schemas.openxmlformats.org/drawingml/2006/main">
              <a:ext uri="{FF2B5EF4-FFF2-40B4-BE49-F238E27FC236}">
                <a16:creationId xmlns:a16="http://schemas.microsoft.com/office/drawing/2014/main" id="{35B93031-F050-47A4-AC62-8B583204E4CF}"/>
              </a:ext>
            </a:extLst>
          </p:cNvPr>
          <p:cNvSpPr>
            <a:spLocks xmlns:a="http://schemas.openxmlformats.org/drawingml/2006/main" noGrp="1"/>
          </p:cNvSpPr>
          <p:nvPr/>
        </p:nvSpPr>
        <p:spPr>
          <a:xfrm xmlns:a="http://schemas.openxmlformats.org/drawingml/2006/main">
            <a:off x="393668" y="1600200"/>
            <a:ext cx="10096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0" i="0">
                <a:solidFill>
                  <a:srgbClr val="000000"/>
                </a:solidFill>
                <a:latin typeface="Helvetica Neue"/>
                <a:ea typeface="Helvetica Neue"/>
                <a:cs typeface="Helvetica Neue"/>
              </a:defRPr>
            </a:pPr>
            <a:r>
              <a:rPr sz="2400" b="0" i="0">
                <a:solidFill>
                  <a:srgbClr val="000000"/>
                </a:solidFill>
                <a:latin typeface="Helvetica Neue"/>
                <a:ea typeface="Helvetica Neue"/>
                <a:cs typeface="Helvetica Neue"/>
              </a:rPr>
              <a:t>A dashboard becomes useful only when its definitions, freshness, and privacy state are explicit.</a:t>
            </a:r>
          </a:p>
        </p:txBody>
      </p:sp>
      <p:sp>
        <p:nvSpPr>
          <p:cNvPr id="5" name="line-11">
            <a:extLst xmlns:a="http://schemas.openxmlformats.org/drawingml/2006/main">
              <a:ext uri="{FF2B5EF4-FFF2-40B4-BE49-F238E27FC236}">
                <a16:creationId xmlns:a16="http://schemas.microsoft.com/office/drawing/2014/main" id="{43E11122-E38A-46C3-BE2C-102D15DAF710}"/>
              </a:ext>
            </a:extLst>
          </p:cNvPr>
          <p:cNvSpPr>
            <a:spLocks xmlns:a="http://schemas.openxmlformats.org/drawingml/2006/main" noGrp="1"/>
          </p:cNvSpPr>
          <p:nvPr/>
        </p:nvSpPr>
        <p:spPr>
          <a:xfrm xmlns:a="http://schemas.openxmlformats.org/drawingml/2006/main">
            <a:off x="393668" y="2695575"/>
            <a:ext cx="11404568"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6" name="roundRect-12">
            <a:extLst xmlns:a="http://schemas.openxmlformats.org/drawingml/2006/main">
              <a:ext uri="{FF2B5EF4-FFF2-40B4-BE49-F238E27FC236}">
                <a16:creationId xmlns:a16="http://schemas.microsoft.com/office/drawing/2014/main" id="{E265360C-9BE1-479A-A03A-9DF60C5E1129}"/>
              </a:ext>
            </a:extLst>
          </p:cNvPr>
          <p:cNvSpPr>
            <a:spLocks xmlns:a="http://schemas.openxmlformats.org/drawingml/2006/main" noGrp="1"/>
          </p:cNvSpPr>
          <p:nvPr/>
        </p:nvSpPr>
        <p:spPr>
          <a:xfrm xmlns:a="http://schemas.openxmlformats.org/drawingml/2006/main">
            <a:off x="393668" y="3200400"/>
            <a:ext cx="3568732" cy="2571750"/>
          </a:xfrm>
          <a:prstGeom xmlns:a="http://schemas.openxmlformats.org/drawingml/2006/main" prst="roundRect">
            <a:avLst>
              <a:gd name="adj" fmla="val 2963"/>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t">
            <a:noAutofit/>
          </a:bodyPr>
          <a:lstStyle xmlns:a="http://schemas.openxmlformats.org/drawingml/2006/main"/>
          <a:p xmlns:a="http://schemas.openxmlformats.org/drawingml/2006/main">
            <a:r>
              <a:t/>
            </a:r>
          </a:p>
        </p:txBody>
      </p:sp>
      <p:sp>
        <p:nvSpPr>
          <p:cNvPr id="7" name="rect-13">
            <a:extLst xmlns:a="http://schemas.openxmlformats.org/drawingml/2006/main">
              <a:ext uri="{FF2B5EF4-FFF2-40B4-BE49-F238E27FC236}">
                <a16:creationId xmlns:a16="http://schemas.microsoft.com/office/drawing/2014/main" id="{F64A22AD-E11C-4C3F-BE24-67DBD577F007}"/>
              </a:ext>
            </a:extLst>
          </p:cNvPr>
          <p:cNvSpPr>
            <a:spLocks xmlns:a="http://schemas.openxmlformats.org/drawingml/2006/main" noGrp="1"/>
          </p:cNvSpPr>
          <p:nvPr/>
        </p:nvSpPr>
        <p:spPr>
          <a:xfrm xmlns:a="http://schemas.openxmlformats.org/drawingml/2006/main">
            <a:off x="393668" y="3200400"/>
            <a:ext cx="3568732" cy="762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8" name="textbox-14">
            <a:extLst xmlns:a="http://schemas.openxmlformats.org/drawingml/2006/main">
              <a:ext uri="{FF2B5EF4-FFF2-40B4-BE49-F238E27FC236}">
                <a16:creationId xmlns:a16="http://schemas.microsoft.com/office/drawing/2014/main" id="{06E9EE5F-7E63-4441-B8DD-089F1ADDCA64}"/>
              </a:ext>
            </a:extLst>
          </p:cNvPr>
          <p:cNvSpPr>
            <a:spLocks xmlns:a="http://schemas.openxmlformats.org/drawingml/2006/main" noGrp="1"/>
          </p:cNvSpPr>
          <p:nvPr/>
        </p:nvSpPr>
        <p:spPr>
          <a:xfrm xmlns:a="http://schemas.openxmlformats.org/drawingml/2006/main">
            <a:off x="698468" y="365760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i="0">
                <a:solidFill>
                  <a:srgbClr val="000000"/>
                </a:solidFill>
                <a:latin typeface="Helvetica Neue"/>
                <a:ea typeface="Helvetica Neue"/>
                <a:cs typeface="Helvetica Neue"/>
              </a:defRPr>
            </a:pPr>
            <a:r>
              <a:rPr sz="1875" b="1" i="0">
                <a:solidFill>
                  <a:srgbClr val="000000"/>
                </a:solidFill>
                <a:latin typeface="Helvetica Neue"/>
                <a:ea typeface="Helvetica Neue"/>
                <a:cs typeface="Helvetica Neue"/>
              </a:rPr>
              <a:t>Standardize meaning</a:t>
            </a:r>
          </a:p>
        </p:txBody>
      </p:sp>
      <p:sp>
        <p:nvSpPr>
          <p:cNvPr id="9" name="textbox-15">
            <a:extLst xmlns:a="http://schemas.openxmlformats.org/drawingml/2006/main">
              <a:ext uri="{FF2B5EF4-FFF2-40B4-BE49-F238E27FC236}">
                <a16:creationId xmlns:a16="http://schemas.microsoft.com/office/drawing/2014/main" id="{34554A2E-80C8-436A-AFC7-B8FE262F1DAD}"/>
              </a:ext>
            </a:extLst>
          </p:cNvPr>
          <p:cNvSpPr>
            <a:spLocks xmlns:a="http://schemas.openxmlformats.org/drawingml/2006/main" noGrp="1"/>
          </p:cNvSpPr>
          <p:nvPr/>
        </p:nvSpPr>
        <p:spPr>
          <a:xfrm xmlns:a="http://schemas.openxmlformats.org/drawingml/2006/main">
            <a:off x="698468" y="4171950"/>
            <a:ext cx="2952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656B73"/>
                </a:solidFill>
                <a:latin typeface="Helvetica Neue"/>
                <a:ea typeface="Helvetica Neue"/>
                <a:cs typeface="Helvetica Neue"/>
              </a:defRPr>
            </a:pPr>
            <a:r>
              <a:rPr sz="1350" b="0" i="0">
                <a:solidFill>
                  <a:srgbClr val="656B73"/>
                </a:solidFill>
                <a:latin typeface="Helvetica Neue"/>
                <a:ea typeface="Helvetica Neue"/>
                <a:cs typeface="Helvetica Neue"/>
              </a:rPr>
              <a:t>Versioned contracts keep event semantics consistent across websites.</a:t>
            </a:r>
          </a:p>
        </p:txBody>
      </p:sp>
      <p:sp>
        <p:nvSpPr>
          <p:cNvPr id="10" name="roundRect-16">
            <a:extLst xmlns:a="http://schemas.openxmlformats.org/drawingml/2006/main">
              <a:ext uri="{FF2B5EF4-FFF2-40B4-BE49-F238E27FC236}">
                <a16:creationId xmlns:a16="http://schemas.microsoft.com/office/drawing/2014/main" id="{7EA7BE4E-FE95-429E-A200-FF36F82172AC}"/>
              </a:ext>
            </a:extLst>
          </p:cNvPr>
          <p:cNvSpPr>
            <a:spLocks xmlns:a="http://schemas.openxmlformats.org/drawingml/2006/main" noGrp="1"/>
          </p:cNvSpPr>
          <p:nvPr/>
        </p:nvSpPr>
        <p:spPr>
          <a:xfrm xmlns:a="http://schemas.openxmlformats.org/drawingml/2006/main">
            <a:off x="4308443" y="3200400"/>
            <a:ext cx="3568732" cy="2571750"/>
          </a:xfrm>
          <a:prstGeom xmlns:a="http://schemas.openxmlformats.org/drawingml/2006/main" prst="roundRect">
            <a:avLst>
              <a:gd name="adj" fmla="val 2963"/>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t">
            <a:noAutofit/>
          </a:bodyPr>
          <a:lstStyle xmlns:a="http://schemas.openxmlformats.org/drawingml/2006/main"/>
          <a:p xmlns:a="http://schemas.openxmlformats.org/drawingml/2006/main">
            <a:r>
              <a:t/>
            </a:r>
          </a:p>
        </p:txBody>
      </p:sp>
      <p:sp>
        <p:nvSpPr>
          <p:cNvPr id="11" name="rect-17">
            <a:extLst xmlns:a="http://schemas.openxmlformats.org/drawingml/2006/main">
              <a:ext uri="{FF2B5EF4-FFF2-40B4-BE49-F238E27FC236}">
                <a16:creationId xmlns:a16="http://schemas.microsoft.com/office/drawing/2014/main" id="{D65E2A61-C8B2-4E8C-BC3E-68ACBD44D1D5}"/>
              </a:ext>
            </a:extLst>
          </p:cNvPr>
          <p:cNvSpPr>
            <a:spLocks xmlns:a="http://schemas.openxmlformats.org/drawingml/2006/main" noGrp="1"/>
          </p:cNvSpPr>
          <p:nvPr/>
        </p:nvSpPr>
        <p:spPr>
          <a:xfrm xmlns:a="http://schemas.openxmlformats.org/drawingml/2006/main">
            <a:off x="4308443" y="3200400"/>
            <a:ext cx="3568732"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2" name="textbox-18">
            <a:extLst xmlns:a="http://schemas.openxmlformats.org/drawingml/2006/main">
              <a:ext uri="{FF2B5EF4-FFF2-40B4-BE49-F238E27FC236}">
                <a16:creationId xmlns:a16="http://schemas.microsoft.com/office/drawing/2014/main" id="{B5CC591C-6E9A-4DED-93BB-F17809CC9FCC}"/>
              </a:ext>
            </a:extLst>
          </p:cNvPr>
          <p:cNvSpPr>
            <a:spLocks xmlns:a="http://schemas.openxmlformats.org/drawingml/2006/main" noGrp="1"/>
          </p:cNvSpPr>
          <p:nvPr/>
        </p:nvSpPr>
        <p:spPr>
          <a:xfrm xmlns:a="http://schemas.openxmlformats.org/drawingml/2006/main">
            <a:off x="4613243" y="365760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i="0">
                <a:solidFill>
                  <a:srgbClr val="000000"/>
                </a:solidFill>
                <a:latin typeface="Helvetica Neue"/>
                <a:ea typeface="Helvetica Neue"/>
                <a:cs typeface="Helvetica Neue"/>
              </a:defRPr>
            </a:pPr>
            <a:r>
              <a:rPr sz="1875" b="1" i="0">
                <a:solidFill>
                  <a:srgbClr val="000000"/>
                </a:solidFill>
                <a:latin typeface="Helvetica Neue"/>
                <a:ea typeface="Helvetica Neue"/>
                <a:cs typeface="Helvetica Neue"/>
              </a:rPr>
              <a:t>Store evidence</a:t>
            </a:r>
          </a:p>
        </p:txBody>
      </p:sp>
      <p:sp>
        <p:nvSpPr>
          <p:cNvPr id="13" name="textbox-19">
            <a:extLst xmlns:a="http://schemas.openxmlformats.org/drawingml/2006/main">
              <a:ext uri="{FF2B5EF4-FFF2-40B4-BE49-F238E27FC236}">
                <a16:creationId xmlns:a16="http://schemas.microsoft.com/office/drawing/2014/main" id="{B69EADD6-E5B5-4E50-BC39-22B392A2D7FC}"/>
              </a:ext>
            </a:extLst>
          </p:cNvPr>
          <p:cNvSpPr>
            <a:spLocks xmlns:a="http://schemas.openxmlformats.org/drawingml/2006/main" noGrp="1"/>
          </p:cNvSpPr>
          <p:nvPr/>
        </p:nvSpPr>
        <p:spPr>
          <a:xfrm xmlns:a="http://schemas.openxmlformats.org/drawingml/2006/main">
            <a:off x="4613243" y="4171950"/>
            <a:ext cx="2952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656B73"/>
                </a:solidFill>
                <a:latin typeface="Helvetica Neue"/>
                <a:ea typeface="Helvetica Neue"/>
                <a:cs typeface="Helvetica Neue"/>
              </a:defRPr>
            </a:pPr>
            <a:r>
              <a:rPr sz="1350" b="0" i="0">
                <a:solidFill>
                  <a:srgbClr val="656B73"/>
                </a:solidFill>
                <a:latin typeface="Helvetica Neue"/>
                <a:ea typeface="Helvetica Neue"/>
                <a:cs typeface="Helvetica Neue"/>
              </a:rPr>
              <a:t>Postgres is the default reporting store; every fact traces to a report execution.</a:t>
            </a:r>
          </a:p>
        </p:txBody>
      </p:sp>
      <p:sp>
        <p:nvSpPr>
          <p:cNvPr id="14" name="roundRect-20">
            <a:extLst xmlns:a="http://schemas.openxmlformats.org/drawingml/2006/main">
              <a:ext uri="{FF2B5EF4-FFF2-40B4-BE49-F238E27FC236}">
                <a16:creationId xmlns:a16="http://schemas.microsoft.com/office/drawing/2014/main" id="{EC843D6F-43E2-49E8-9BE5-EBC67BFBFE09}"/>
              </a:ext>
            </a:extLst>
          </p:cNvPr>
          <p:cNvSpPr>
            <a:spLocks xmlns:a="http://schemas.openxmlformats.org/drawingml/2006/main" noGrp="1"/>
          </p:cNvSpPr>
          <p:nvPr/>
        </p:nvSpPr>
        <p:spPr>
          <a:xfrm xmlns:a="http://schemas.openxmlformats.org/drawingml/2006/main">
            <a:off x="8232743" y="3200400"/>
            <a:ext cx="3568732" cy="2571750"/>
          </a:xfrm>
          <a:prstGeom xmlns:a="http://schemas.openxmlformats.org/drawingml/2006/main" prst="roundRect">
            <a:avLst>
              <a:gd name="adj" fmla="val 2963"/>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t">
            <a:noAutofit/>
          </a:bodyPr>
          <a:lstStyle xmlns:a="http://schemas.openxmlformats.org/drawingml/2006/main"/>
          <a:p xmlns:a="http://schemas.openxmlformats.org/drawingml/2006/main">
            <a:r>
              <a:t/>
            </a:r>
          </a:p>
        </p:txBody>
      </p:sp>
      <p:sp>
        <p:nvSpPr>
          <p:cNvPr id="15" name="rect-21">
            <a:extLst xmlns:a="http://schemas.openxmlformats.org/drawingml/2006/main">
              <a:ext uri="{FF2B5EF4-FFF2-40B4-BE49-F238E27FC236}">
                <a16:creationId xmlns:a16="http://schemas.microsoft.com/office/drawing/2014/main" id="{22C4D81F-CAEA-417B-900D-EE7D1E648566}"/>
              </a:ext>
            </a:extLst>
          </p:cNvPr>
          <p:cNvSpPr>
            <a:spLocks xmlns:a="http://schemas.openxmlformats.org/drawingml/2006/main" noGrp="1"/>
          </p:cNvSpPr>
          <p:nvPr/>
        </p:nvSpPr>
        <p:spPr>
          <a:xfrm xmlns:a="http://schemas.openxmlformats.org/drawingml/2006/main">
            <a:off x="8232743" y="3200400"/>
            <a:ext cx="3568732" cy="762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6" name="textbox-22">
            <a:extLst xmlns:a="http://schemas.openxmlformats.org/drawingml/2006/main">
              <a:ext uri="{FF2B5EF4-FFF2-40B4-BE49-F238E27FC236}">
                <a16:creationId xmlns:a16="http://schemas.microsoft.com/office/drawing/2014/main" id="{CD556FEA-07FB-4EC2-BA1D-B98D55878F1D}"/>
              </a:ext>
            </a:extLst>
          </p:cNvPr>
          <p:cNvSpPr>
            <a:spLocks xmlns:a="http://schemas.openxmlformats.org/drawingml/2006/main" noGrp="1"/>
          </p:cNvSpPr>
          <p:nvPr/>
        </p:nvSpPr>
        <p:spPr>
          <a:xfrm xmlns:a="http://schemas.openxmlformats.org/drawingml/2006/main">
            <a:off x="8537543" y="365760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i="0">
                <a:solidFill>
                  <a:srgbClr val="000000"/>
                </a:solidFill>
                <a:latin typeface="Helvetica Neue"/>
                <a:ea typeface="Helvetica Neue"/>
                <a:cs typeface="Helvetica Neue"/>
              </a:defRPr>
            </a:pPr>
            <a:r>
              <a:rPr sz="1875" b="1" i="0">
                <a:solidFill>
                  <a:srgbClr val="000000"/>
                </a:solidFill>
                <a:latin typeface="Helvetica Neue"/>
                <a:ea typeface="Helvetica Neue"/>
                <a:cs typeface="Helvetica Neue"/>
              </a:rPr>
              <a:t>Ship with gates</a:t>
            </a:r>
          </a:p>
        </p:txBody>
      </p:sp>
      <p:sp>
        <p:nvSpPr>
          <p:cNvPr id="17" name="textbox-23">
            <a:extLst xmlns:a="http://schemas.openxmlformats.org/drawingml/2006/main">
              <a:ext uri="{FF2B5EF4-FFF2-40B4-BE49-F238E27FC236}">
                <a16:creationId xmlns:a16="http://schemas.microsoft.com/office/drawing/2014/main" id="{2ACED109-D6FC-4D1F-8213-F43C4B24EBC8}"/>
              </a:ext>
            </a:extLst>
          </p:cNvPr>
          <p:cNvSpPr>
            <a:spLocks xmlns:a="http://schemas.openxmlformats.org/drawingml/2006/main" noGrp="1"/>
          </p:cNvSpPr>
          <p:nvPr/>
        </p:nvSpPr>
        <p:spPr>
          <a:xfrm xmlns:a="http://schemas.openxmlformats.org/drawingml/2006/main">
            <a:off x="8537543" y="4171950"/>
            <a:ext cx="2952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656B73"/>
                </a:solidFill>
                <a:latin typeface="Helvetica Neue"/>
                <a:ea typeface="Helvetica Neue"/>
                <a:cs typeface="Helvetica Neue"/>
              </a:defRPr>
            </a:pPr>
            <a:r>
              <a:rPr sz="1350" b="0" i="0">
                <a:solidFill>
                  <a:srgbClr val="656B73"/>
                </a:solidFill>
                <a:latin typeface="Helvetica Neue"/>
                <a:ea typeface="Helvetica Neue"/>
                <a:cs typeface="Helvetica Neue"/>
              </a:rPr>
              <a:t>Privacy, data quality, and tenant isolation are product behaviors—not afterthoughts.</a:t>
            </a:r>
          </a:p>
        </p:txBody>
      </p:sp>
    </p:spTree>
    <p:extLst>
      <p:ext uri="{BB962C8B-B14F-4D97-AF65-F5344CB8AC3E}">
        <p14:creationId xmlns:p14="http://schemas.microsoft.com/office/powerpoint/2010/main" val="99969240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textbox-24">
            <a:extLst xmlns:a="http://schemas.openxmlformats.org/drawingml/2006/main">
              <a:ext uri="{FF2B5EF4-FFF2-40B4-BE49-F238E27FC236}">
                <a16:creationId xmlns:a16="http://schemas.microsoft.com/office/drawing/2014/main" id="{1FFBEE01-86CE-4B82-AA0B-6DECCE99B0DD}"/>
              </a:ext>
            </a:extLst>
          </p:cNvPr>
          <p:cNvSpPr>
            <a:spLocks xmlns:a="http://schemas.openxmlformats.org/drawingml/2006/main" noGrp="1"/>
          </p:cNvSpPr>
          <p:nvPr/>
        </p:nvSpPr>
        <p:spPr>
          <a:xfrm xmlns:a="http://schemas.openxmlformats.org/drawingml/2006/main">
            <a:off x="393668" y="344043"/>
            <a:ext cx="11404568"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0" bIns="0" anchor="t">
            <a:normAutofit fontScale="100000"/>
          </a:bodyPr>
          <a:lstStyle xmlns:a="http://schemas.openxmlformats.org/drawingml/2006/main"/>
          <a:p xmlns:a="http://schemas.openxmlformats.org/drawingml/2006/main">
            <a:pPr algn="l">
              <a:defRPr sz="2850" b="0" i="0">
                <a:solidFill>
                  <a:srgbClr val="000000"/>
                </a:solidFill>
                <a:latin typeface="Helvetica Neue"/>
                <a:ea typeface="Helvetica Neue"/>
                <a:cs typeface="Helvetica Neue"/>
              </a:defRPr>
            </a:pPr>
            <a:r>
              <a:rPr sz="2850" b="0" i="0">
                <a:solidFill>
                  <a:srgbClr val="000000"/>
                </a:solidFill>
                <a:latin typeface="Helvetica Neue"/>
                <a:ea typeface="Helvetica Neue"/>
                <a:cs typeface="Helvetica Neue"/>
              </a:rPr>
              <a:t>Three planes turn web events into a reliable product</a:t>
            </a:r>
          </a:p>
        </p:txBody>
      </p:sp>
      <p:sp>
        <p:nvSpPr>
          <p:cNvPr id="2" name="line-25">
            <a:extLst xmlns:a="http://schemas.openxmlformats.org/drawingml/2006/main">
              <a:ext uri="{FF2B5EF4-FFF2-40B4-BE49-F238E27FC236}">
                <a16:creationId xmlns:a16="http://schemas.microsoft.com/office/drawing/2014/main" id="{EC51B26A-28FE-4AC9-98D4-DBB4098C017C}"/>
              </a:ext>
            </a:extLst>
          </p:cNvPr>
          <p:cNvSpPr>
            <a:spLocks xmlns:a="http://schemas.openxmlformats.org/drawingml/2006/main" noGrp="1"/>
          </p:cNvSpPr>
          <p:nvPr/>
        </p:nvSpPr>
        <p:spPr>
          <a:xfrm xmlns:a="http://schemas.openxmlformats.org/drawingml/2006/main">
            <a:off x="393668" y="1181100"/>
            <a:ext cx="11404568"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3" name="textbox-26">
            <a:extLst xmlns:a="http://schemas.openxmlformats.org/drawingml/2006/main">
              <a:ext uri="{FF2B5EF4-FFF2-40B4-BE49-F238E27FC236}">
                <a16:creationId xmlns:a16="http://schemas.microsoft.com/office/drawing/2014/main" id="{06163C96-3059-4961-B131-E16D789E3386}"/>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975" b="0" i="0">
                <a:solidFill>
                  <a:srgbClr val="000000"/>
                </a:solidFill>
                <a:latin typeface="Helvetica Neue"/>
                <a:ea typeface="Helvetica Neue"/>
                <a:cs typeface="Helvetica Neue"/>
              </a:defRPr>
            </a:pPr>
            <a:r>
              <a:rPr sz="975" b="0" i="0">
                <a:solidFill>
                  <a:srgbClr val="000000"/>
                </a:solidFill>
                <a:latin typeface="Helvetica Neue"/>
                <a:ea typeface="Helvetica Neue"/>
                <a:cs typeface="Helvetica Neue"/>
              </a:rPr>
              <a:t>03</a:t>
            </a:r>
          </a:p>
        </p:txBody>
      </p:sp>
      <p:sp>
        <p:nvSpPr>
          <p:cNvPr id="4" name="textbox-27">
            <a:extLst xmlns:a="http://schemas.openxmlformats.org/drawingml/2006/main">
              <a:ext uri="{FF2B5EF4-FFF2-40B4-BE49-F238E27FC236}">
                <a16:creationId xmlns:a16="http://schemas.microsoft.com/office/drawing/2014/main" id="{C0B34BD5-F1D5-443C-9879-78487FB3B753}"/>
              </a:ext>
            </a:extLst>
          </p:cNvPr>
          <p:cNvSpPr>
            <a:spLocks xmlns:a="http://schemas.openxmlformats.org/drawingml/2006/main" noGrp="1"/>
          </p:cNvSpPr>
          <p:nvPr/>
        </p:nvSpPr>
        <p:spPr>
          <a:xfrm xmlns:a="http://schemas.openxmlformats.org/drawingml/2006/main">
            <a:off x="393668" y="1333500"/>
            <a:ext cx="1009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656B73"/>
                </a:solidFill>
                <a:latin typeface="Helvetica Neue"/>
                <a:ea typeface="Helvetica Neue"/>
                <a:cs typeface="Helvetica Neue"/>
              </a:defRPr>
            </a:pPr>
            <a:r>
              <a:rPr sz="1500" b="0" i="0">
                <a:solidFill>
                  <a:srgbClr val="656B73"/>
                </a:solidFill>
                <a:latin typeface="Helvetica Neue"/>
                <a:ea typeface="Helvetica Neue"/>
                <a:cs typeface="Helvetica Neue"/>
              </a:rPr>
              <a:t>One reporting boundary connects the website, its measurement contract, and the GA4 property.</a:t>
            </a:r>
          </a:p>
        </p:txBody>
      </p:sp>
      <p:sp>
        <p:nvSpPr>
          <p:cNvPr id="5" name="roundRect-28">
            <a:extLst xmlns:a="http://schemas.openxmlformats.org/drawingml/2006/main">
              <a:ext uri="{FF2B5EF4-FFF2-40B4-BE49-F238E27FC236}">
                <a16:creationId xmlns:a16="http://schemas.microsoft.com/office/drawing/2014/main" id="{150480BB-A380-4BB8-BFA7-6B7CFC491303}"/>
              </a:ext>
            </a:extLst>
          </p:cNvPr>
          <p:cNvSpPr>
            <a:spLocks xmlns:a="http://schemas.openxmlformats.org/drawingml/2006/main" noGrp="1"/>
          </p:cNvSpPr>
          <p:nvPr/>
        </p:nvSpPr>
        <p:spPr>
          <a:xfrm xmlns:a="http://schemas.openxmlformats.org/drawingml/2006/main">
            <a:off x="393668" y="1809750"/>
            <a:ext cx="1866900" cy="742950"/>
          </a:xfrm>
          <a:prstGeom xmlns:a="http://schemas.openxmlformats.org/drawingml/2006/main" prst="roundRect">
            <a:avLst>
              <a:gd name="adj" fmla="val 12821"/>
            </a:avLst>
          </a:prstGeom>
          <a:solidFill xmlns:a="http://schemas.openxmlformats.org/drawingml/2006/main">
            <a:srgbClr val="000000"/>
          </a:solidFill>
          <a:ln xmlns:a="http://schemas.openxmlformats.org/drawingml/2006/main" w="0">
            <a:solidFill>
              <a:srgbClr val="000000"/>
            </a:solidFill>
            <a:prstDash val="solid"/>
          </a:ln>
        </p:spPr>
        <p:txBody>
          <a:bodyPr xmlns:a="http://schemas.openxmlformats.org/drawingml/2006/main" wrap="square" lIns="152400" tIns="133350" rIns="152400" bIns="114300" anchor="ctr">
            <a:noAutofit/>
          </a:bodyPr>
          <a:lstStyle xmlns:a="http://schemas.openxmlformats.org/drawingml/2006/main"/>
          <a:p xmlns:a="http://schemas.openxmlformats.org/drawingml/2006/main">
            <a:pPr algn="l">
              <a:defRPr sz="1200" b="1" i="0">
                <a:solidFill>
                  <a:srgbClr val="FFFFFF"/>
                </a:solidFill>
                <a:latin typeface="Helvetica Neue"/>
                <a:ea typeface="Helvetica Neue"/>
                <a:cs typeface="Helvetica Neue"/>
              </a:defRPr>
            </a:pPr>
            <a:r>
              <a:rPr sz="1200" b="1" i="0">
                <a:solidFill>
                  <a:srgbClr val="FFFFFF"/>
                </a:solidFill>
                <a:latin typeface="Helvetica Neue"/>
                <a:ea typeface="Helvetica Neue"/>
                <a:cs typeface="Helvetica Neue"/>
              </a:rPr>
              <a:t>MEASUREMENT</a:t>
            </a:r>
          </a:p>
        </p:txBody>
      </p:sp>
      <p:sp>
        <p:nvSpPr>
          <p:cNvPr id="6" name="rightArrow-29">
            <a:extLst xmlns:a="http://schemas.openxmlformats.org/drawingml/2006/main">
              <a:ext uri="{FF2B5EF4-FFF2-40B4-BE49-F238E27FC236}">
                <a16:creationId xmlns:a16="http://schemas.microsoft.com/office/drawing/2014/main" id="{67C78E9F-93C7-41E7-87CB-022EDE3839BC}"/>
              </a:ext>
            </a:extLst>
          </p:cNvPr>
          <p:cNvSpPr>
            <a:spLocks xmlns:a="http://schemas.openxmlformats.org/drawingml/2006/main" noGrp="1"/>
          </p:cNvSpPr>
          <p:nvPr/>
        </p:nvSpPr>
        <p:spPr>
          <a:xfrm xmlns:a="http://schemas.openxmlformats.org/drawingml/2006/main">
            <a:off x="4229100" y="2114550"/>
            <a:ext cx="381000" cy="133350"/>
          </a:xfrm>
          <a:prstGeom xmlns:a="http://schemas.openxmlformats.org/drawingml/2006/main" prst="rightArrow">
            <a:avLst/>
          </a:prstGeom>
          <a:solidFill xmlns:a="http://schemas.openxmlformats.org/drawingml/2006/main">
            <a:srgbClr val="D0EDFA"/>
          </a:solidFill>
          <a:ln xmlns:a="http://schemas.openxmlformats.org/drawingml/2006/main" w="0">
            <a:solidFill>
              <a:srgbClr val="D0EDFA"/>
            </a:solidFill>
            <a:prstDash val="solid"/>
          </a:ln>
        </p:spPr>
      </p:sp>
      <p:sp>
        <p:nvSpPr>
          <p:cNvPr id="7" name="rightArrow-30">
            <a:extLst xmlns:a="http://schemas.openxmlformats.org/drawingml/2006/main">
              <a:ext uri="{FF2B5EF4-FFF2-40B4-BE49-F238E27FC236}">
                <a16:creationId xmlns:a16="http://schemas.microsoft.com/office/drawing/2014/main" id="{7BB8B170-A2C2-4B9C-9FCC-9DCB4DDDB9A6}"/>
              </a:ext>
            </a:extLst>
          </p:cNvPr>
          <p:cNvSpPr>
            <a:spLocks xmlns:a="http://schemas.openxmlformats.org/drawingml/2006/main" noGrp="1"/>
          </p:cNvSpPr>
          <p:nvPr/>
        </p:nvSpPr>
        <p:spPr>
          <a:xfrm xmlns:a="http://schemas.openxmlformats.org/drawingml/2006/main">
            <a:off x="6353175" y="2114550"/>
            <a:ext cx="381000" cy="133350"/>
          </a:xfrm>
          <a:prstGeom xmlns:a="http://schemas.openxmlformats.org/drawingml/2006/main" prst="rightArrow">
            <a:avLst/>
          </a:prstGeom>
          <a:solidFill xmlns:a="http://schemas.openxmlformats.org/drawingml/2006/main">
            <a:srgbClr val="D0EDFA"/>
          </a:solidFill>
          <a:ln xmlns:a="http://schemas.openxmlformats.org/drawingml/2006/main" w="0">
            <a:solidFill>
              <a:srgbClr val="D0EDFA"/>
            </a:solidFill>
            <a:prstDash val="solid"/>
          </a:ln>
        </p:spPr>
      </p:sp>
      <p:sp>
        <p:nvSpPr>
          <p:cNvPr id="8" name="rightArrow-31">
            <a:extLst xmlns:a="http://schemas.openxmlformats.org/drawingml/2006/main">
              <a:ext uri="{FF2B5EF4-FFF2-40B4-BE49-F238E27FC236}">
                <a16:creationId xmlns:a16="http://schemas.microsoft.com/office/drawing/2014/main" id="{A6EEED02-7AD0-41A8-83C3-501E34EFC83E}"/>
              </a:ext>
            </a:extLst>
          </p:cNvPr>
          <p:cNvSpPr>
            <a:spLocks xmlns:a="http://schemas.openxmlformats.org/drawingml/2006/main" noGrp="1"/>
          </p:cNvSpPr>
          <p:nvPr/>
        </p:nvSpPr>
        <p:spPr>
          <a:xfrm xmlns:a="http://schemas.openxmlformats.org/drawingml/2006/main">
            <a:off x="8477250" y="2114550"/>
            <a:ext cx="381000" cy="133350"/>
          </a:xfrm>
          <a:prstGeom xmlns:a="http://schemas.openxmlformats.org/drawingml/2006/main" prst="rightArrow">
            <a:avLst/>
          </a:prstGeom>
          <a:solidFill xmlns:a="http://schemas.openxmlformats.org/drawingml/2006/main">
            <a:srgbClr val="D0EDFA"/>
          </a:solidFill>
          <a:ln xmlns:a="http://schemas.openxmlformats.org/drawingml/2006/main" w="0">
            <a:solidFill>
              <a:srgbClr val="D0EDFA"/>
            </a:solidFill>
            <a:prstDash val="solid"/>
          </a:ln>
        </p:spPr>
      </p:sp>
      <p:sp>
        <p:nvSpPr>
          <p:cNvPr id="9" name="roundRect-32">
            <a:extLst xmlns:a="http://schemas.openxmlformats.org/drawingml/2006/main">
              <a:ext uri="{FF2B5EF4-FFF2-40B4-BE49-F238E27FC236}">
                <a16:creationId xmlns:a16="http://schemas.microsoft.com/office/drawing/2014/main" id="{F9416D78-515B-422A-90F4-24D1F0731F2B}"/>
              </a:ext>
            </a:extLst>
          </p:cNvPr>
          <p:cNvSpPr>
            <a:spLocks xmlns:a="http://schemas.openxmlformats.org/drawingml/2006/main" noGrp="1"/>
          </p:cNvSpPr>
          <p:nvPr/>
        </p:nvSpPr>
        <p:spPr>
          <a:xfrm xmlns:a="http://schemas.openxmlformats.org/drawingml/2006/main">
            <a:off x="2533650" y="1857375"/>
            <a:ext cx="1695450" cy="647700"/>
          </a:xfrm>
          <a:prstGeom xmlns:a="http://schemas.openxmlformats.org/drawingml/2006/main" prst="roundRect">
            <a:avLst>
              <a:gd name="adj" fmla="val 14706"/>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ctr">
            <a:normAutofit fontScale="100000"/>
          </a:bodyPr>
          <a:lstStyle xmlns:a="http://schemas.openxmlformats.org/drawingml/2006/main"/>
          <a:p xmlns:a="http://schemas.openxmlformats.org/drawingml/2006/main">
            <a:pPr algn="l">
              <a:defRPr sz="1350" b="1" i="0">
                <a:solidFill>
                  <a:srgbClr val="000000"/>
                </a:solidFill>
                <a:latin typeface="Helvetica Neue"/>
                <a:ea typeface="Helvetica Neue"/>
                <a:cs typeface="Helvetica Neue"/>
              </a:defRPr>
            </a:pPr>
            <a:r>
              <a:rPr sz="1350" b="1" i="0">
                <a:solidFill>
                  <a:srgbClr val="000000"/>
                </a:solidFill>
                <a:latin typeface="Helvetica Neue"/>
                <a:ea typeface="Helvetica Neue"/>
                <a:cs typeface="Helvetica Neue"/>
              </a:rPr>
              <a:t>Client websites</a:t>
            </a:r>
          </a:p>
        </p:txBody>
      </p:sp>
      <p:sp>
        <p:nvSpPr>
          <p:cNvPr id="10" name="roundRect-33">
            <a:extLst xmlns:a="http://schemas.openxmlformats.org/drawingml/2006/main">
              <a:ext uri="{FF2B5EF4-FFF2-40B4-BE49-F238E27FC236}">
                <a16:creationId xmlns:a16="http://schemas.microsoft.com/office/drawing/2014/main" id="{6DE3EA0C-7FD2-4826-94AF-0C220BDAF17D}"/>
              </a:ext>
            </a:extLst>
          </p:cNvPr>
          <p:cNvSpPr>
            <a:spLocks xmlns:a="http://schemas.openxmlformats.org/drawingml/2006/main" noGrp="1"/>
          </p:cNvSpPr>
          <p:nvPr/>
        </p:nvSpPr>
        <p:spPr>
          <a:xfrm xmlns:a="http://schemas.openxmlformats.org/drawingml/2006/main">
            <a:off x="4657725" y="1857375"/>
            <a:ext cx="1695450" cy="647700"/>
          </a:xfrm>
          <a:prstGeom xmlns:a="http://schemas.openxmlformats.org/drawingml/2006/main" prst="roundRect">
            <a:avLst>
              <a:gd name="adj" fmla="val 14706"/>
            </a:avLst>
          </a:prstGeom>
          <a:solidFill xmlns:a="http://schemas.openxmlformats.org/drawingml/2006/main">
            <a:srgbClr val="EDF8FD"/>
          </a:solidFill>
          <a:ln xmlns:a="http://schemas.openxmlformats.org/drawingml/2006/main" w="14288">
            <a:solidFill>
              <a:srgbClr val="3D8DFF"/>
            </a:solidFill>
            <a:prstDash val="solid"/>
          </a:ln>
        </p:spPr>
        <p:txBody>
          <a:bodyPr xmlns:a="http://schemas.openxmlformats.org/drawingml/2006/main" wrap="square" lIns="152400" tIns="133350" rIns="152400" bIns="114300" anchor="ctr">
            <a:normAutofit fontScale="83662"/>
          </a:bodyPr>
          <a:lstStyle xmlns:a="http://schemas.openxmlformats.org/drawingml/2006/main"/>
          <a:p xmlns:a="http://schemas.openxmlformats.org/drawingml/2006/main">
            <a:pPr algn="l">
              <a:defRPr sz="1350" b="1" i="0">
                <a:solidFill>
                  <a:srgbClr val="000000"/>
                </a:solidFill>
                <a:latin typeface="Helvetica Neue"/>
                <a:ea typeface="Helvetica Neue"/>
                <a:cs typeface="Helvetica Neue"/>
              </a:defRPr>
            </a:pPr>
            <a:r>
              <a:rPr sz="1350" b="1" i="0">
                <a:solidFill>
                  <a:srgbClr val="000000"/>
                </a:solidFill>
                <a:latin typeface="Helvetica Neue"/>
                <a:ea typeface="Helvetica Neue"/>
                <a:cs typeface="Helvetica Neue"/>
              </a:rPr>
              <a:t>Versioned</a:t>
            </a:r>
          </a:p>
          <a:p xmlns:a="http://schemas.openxmlformats.org/drawingml/2006/main">
            <a:pPr algn="l">
              <a:defRPr sz="1350" b="1" i="0">
                <a:solidFill>
                  <a:srgbClr val="000000"/>
                </a:solidFill>
                <a:latin typeface="Helvetica Neue"/>
                <a:ea typeface="Helvetica Neue"/>
                <a:cs typeface="Helvetica Neue"/>
              </a:defRPr>
            </a:pPr>
            <a:r>
              <a:rPr sz="1350" b="1" i="0">
                <a:solidFill>
                  <a:srgbClr val="000000"/>
                </a:solidFill>
                <a:latin typeface="Helvetica Neue"/>
                <a:ea typeface="Helvetica Neue"/>
                <a:cs typeface="Helvetica Neue"/>
              </a:rPr>
              <a:t>contract</a:t>
            </a:r>
          </a:p>
        </p:txBody>
      </p:sp>
      <p:sp>
        <p:nvSpPr>
          <p:cNvPr id="11" name="roundRect-34">
            <a:extLst xmlns:a="http://schemas.openxmlformats.org/drawingml/2006/main">
              <a:ext uri="{FF2B5EF4-FFF2-40B4-BE49-F238E27FC236}">
                <a16:creationId xmlns:a16="http://schemas.microsoft.com/office/drawing/2014/main" id="{23C94F34-C83C-428A-967E-ABF9FA20E41F}"/>
              </a:ext>
            </a:extLst>
          </p:cNvPr>
          <p:cNvSpPr>
            <a:spLocks xmlns:a="http://schemas.openxmlformats.org/drawingml/2006/main" noGrp="1"/>
          </p:cNvSpPr>
          <p:nvPr/>
        </p:nvSpPr>
        <p:spPr>
          <a:xfrm xmlns:a="http://schemas.openxmlformats.org/drawingml/2006/main">
            <a:off x="6781800" y="1857375"/>
            <a:ext cx="1695450" cy="647700"/>
          </a:xfrm>
          <a:prstGeom xmlns:a="http://schemas.openxmlformats.org/drawingml/2006/main" prst="roundRect">
            <a:avLst>
              <a:gd name="adj" fmla="val 14706"/>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ctr">
            <a:normAutofit fontScale="83662"/>
          </a:bodyPr>
          <a:lstStyle xmlns:a="http://schemas.openxmlformats.org/drawingml/2006/main"/>
          <a:p xmlns:a="http://schemas.openxmlformats.org/drawingml/2006/main">
            <a:pPr algn="l">
              <a:defRPr sz="1350" b="1" i="0">
                <a:solidFill>
                  <a:srgbClr val="000000"/>
                </a:solidFill>
                <a:latin typeface="Helvetica Neue"/>
                <a:ea typeface="Helvetica Neue"/>
                <a:cs typeface="Helvetica Neue"/>
              </a:defRPr>
            </a:pPr>
            <a:r>
              <a:rPr sz="1350" b="1" i="0">
                <a:solidFill>
                  <a:srgbClr val="000000"/>
                </a:solidFill>
                <a:latin typeface="Helvetica Neue"/>
                <a:ea typeface="Helvetica Neue"/>
                <a:cs typeface="Helvetica Neue"/>
              </a:rPr>
              <a:t>Consent +</a:t>
            </a:r>
          </a:p>
          <a:p xmlns:a="http://schemas.openxmlformats.org/drawingml/2006/main">
            <a:pPr algn="l">
              <a:defRPr sz="1350" b="1" i="0">
                <a:solidFill>
                  <a:srgbClr val="000000"/>
                </a:solidFill>
                <a:latin typeface="Helvetica Neue"/>
                <a:ea typeface="Helvetica Neue"/>
                <a:cs typeface="Helvetica Neue"/>
              </a:defRPr>
            </a:pPr>
            <a:r>
              <a:rPr sz="1350" b="1" i="0">
                <a:solidFill>
                  <a:srgbClr val="000000"/>
                </a:solidFill>
                <a:latin typeface="Helvetica Neue"/>
                <a:ea typeface="Helvetica Neue"/>
                <a:cs typeface="Helvetica Neue"/>
              </a:rPr>
              <a:t>privacy gate</a:t>
            </a:r>
          </a:p>
        </p:txBody>
      </p:sp>
      <p:sp>
        <p:nvSpPr>
          <p:cNvPr id="12" name="roundRect-35">
            <a:extLst xmlns:a="http://schemas.openxmlformats.org/drawingml/2006/main">
              <a:ext uri="{FF2B5EF4-FFF2-40B4-BE49-F238E27FC236}">
                <a16:creationId xmlns:a16="http://schemas.microsoft.com/office/drawing/2014/main" id="{F7149526-1F8D-4C5E-B7B1-FE737DB75F60}"/>
              </a:ext>
            </a:extLst>
          </p:cNvPr>
          <p:cNvSpPr>
            <a:spLocks xmlns:a="http://schemas.openxmlformats.org/drawingml/2006/main" noGrp="1"/>
          </p:cNvSpPr>
          <p:nvPr/>
        </p:nvSpPr>
        <p:spPr>
          <a:xfrm xmlns:a="http://schemas.openxmlformats.org/drawingml/2006/main">
            <a:off x="8905875" y="1857375"/>
            <a:ext cx="1695450" cy="647700"/>
          </a:xfrm>
          <a:prstGeom xmlns:a="http://schemas.openxmlformats.org/drawingml/2006/main" prst="roundRect">
            <a:avLst>
              <a:gd name="adj" fmla="val 14706"/>
            </a:avLst>
          </a:prstGeom>
          <a:solidFill xmlns:a="http://schemas.openxmlformats.org/drawingml/2006/main">
            <a:srgbClr val="EDF8FD"/>
          </a:solidFill>
          <a:ln xmlns:a="http://schemas.openxmlformats.org/drawingml/2006/main" w="14288">
            <a:solidFill>
              <a:srgbClr val="3D8DFF"/>
            </a:solidFill>
            <a:prstDash val="solid"/>
          </a:ln>
        </p:spPr>
        <p:txBody>
          <a:bodyPr xmlns:a="http://schemas.openxmlformats.org/drawingml/2006/main" wrap="square" lIns="152400" tIns="133350" rIns="152400" bIns="114300" anchor="ctr">
            <a:normAutofit fontScale="100000"/>
          </a:bodyPr>
          <a:lstStyle xmlns:a="http://schemas.openxmlformats.org/drawingml/2006/main"/>
          <a:p xmlns:a="http://schemas.openxmlformats.org/drawingml/2006/main">
            <a:pPr algn="l">
              <a:defRPr sz="1350" b="1" i="0">
                <a:solidFill>
                  <a:srgbClr val="000000"/>
                </a:solidFill>
                <a:latin typeface="Helvetica Neue"/>
                <a:ea typeface="Helvetica Neue"/>
                <a:cs typeface="Helvetica Neue"/>
              </a:defRPr>
            </a:pPr>
            <a:r>
              <a:rPr sz="1350" b="1" i="0">
                <a:solidFill>
                  <a:srgbClr val="000000"/>
                </a:solidFill>
                <a:latin typeface="Helvetica Neue"/>
                <a:ea typeface="Helvetica Neue"/>
                <a:cs typeface="Helvetica Neue"/>
              </a:rPr>
              <a:t>GA4 property</a:t>
            </a:r>
          </a:p>
        </p:txBody>
      </p:sp>
      <p:sp>
        <p:nvSpPr>
          <p:cNvPr id="13" name="roundRect-36">
            <a:extLst xmlns:a="http://schemas.openxmlformats.org/drawingml/2006/main">
              <a:ext uri="{FF2B5EF4-FFF2-40B4-BE49-F238E27FC236}">
                <a16:creationId xmlns:a16="http://schemas.microsoft.com/office/drawing/2014/main" id="{55A1E043-A40E-457C-81B4-9FC792617A8F}"/>
              </a:ext>
            </a:extLst>
          </p:cNvPr>
          <p:cNvSpPr>
            <a:spLocks xmlns:a="http://schemas.openxmlformats.org/drawingml/2006/main" noGrp="1"/>
          </p:cNvSpPr>
          <p:nvPr/>
        </p:nvSpPr>
        <p:spPr>
          <a:xfrm xmlns:a="http://schemas.openxmlformats.org/drawingml/2006/main">
            <a:off x="393668" y="3009900"/>
            <a:ext cx="1866900" cy="742950"/>
          </a:xfrm>
          <a:prstGeom xmlns:a="http://schemas.openxmlformats.org/drawingml/2006/main" prst="roundRect">
            <a:avLst>
              <a:gd name="adj" fmla="val 12821"/>
            </a:avLst>
          </a:prstGeom>
          <a:solidFill xmlns:a="http://schemas.openxmlformats.org/drawingml/2006/main">
            <a:srgbClr val="000000"/>
          </a:solidFill>
          <a:ln xmlns:a="http://schemas.openxmlformats.org/drawingml/2006/main" w="0">
            <a:solidFill>
              <a:srgbClr val="000000"/>
            </a:solidFill>
            <a:prstDash val="solid"/>
          </a:ln>
        </p:spPr>
        <p:txBody>
          <a:bodyPr xmlns:a="http://schemas.openxmlformats.org/drawingml/2006/main" wrap="square" lIns="152400" tIns="133350" rIns="152400" bIns="114300" anchor="ctr">
            <a:noAutofit/>
          </a:bodyPr>
          <a:lstStyle xmlns:a="http://schemas.openxmlformats.org/drawingml/2006/main"/>
          <a:p xmlns:a="http://schemas.openxmlformats.org/drawingml/2006/main">
            <a:pPr algn="l">
              <a:defRPr sz="1200" b="1" i="0">
                <a:solidFill>
                  <a:srgbClr val="FFFFFF"/>
                </a:solidFill>
                <a:latin typeface="Helvetica Neue"/>
                <a:ea typeface="Helvetica Neue"/>
                <a:cs typeface="Helvetica Neue"/>
              </a:defRPr>
            </a:pPr>
            <a:r>
              <a:rPr sz="1200" b="1" i="0">
                <a:solidFill>
                  <a:srgbClr val="FFFFFF"/>
                </a:solidFill>
                <a:latin typeface="Helvetica Neue"/>
                <a:ea typeface="Helvetica Neue"/>
                <a:cs typeface="Helvetica Neue"/>
              </a:rPr>
              <a:t>CONNECTOR + DATA</a:t>
            </a:r>
          </a:p>
        </p:txBody>
      </p:sp>
      <p:sp>
        <p:nvSpPr>
          <p:cNvPr id="14" name="rightArrow-37">
            <a:extLst xmlns:a="http://schemas.openxmlformats.org/drawingml/2006/main">
              <a:ext uri="{FF2B5EF4-FFF2-40B4-BE49-F238E27FC236}">
                <a16:creationId xmlns:a16="http://schemas.microsoft.com/office/drawing/2014/main" id="{C418B29B-F900-4A28-9585-6F6B60FF4F01}"/>
              </a:ext>
            </a:extLst>
          </p:cNvPr>
          <p:cNvSpPr>
            <a:spLocks xmlns:a="http://schemas.openxmlformats.org/drawingml/2006/main" noGrp="1"/>
          </p:cNvSpPr>
          <p:nvPr/>
        </p:nvSpPr>
        <p:spPr>
          <a:xfrm xmlns:a="http://schemas.openxmlformats.org/drawingml/2006/main">
            <a:off x="4229100" y="3314700"/>
            <a:ext cx="381000" cy="133350"/>
          </a:xfrm>
          <a:prstGeom xmlns:a="http://schemas.openxmlformats.org/drawingml/2006/main" prst="rightArrow">
            <a:avLst/>
          </a:prstGeom>
          <a:solidFill xmlns:a="http://schemas.openxmlformats.org/drawingml/2006/main">
            <a:srgbClr val="D0EDFA"/>
          </a:solidFill>
          <a:ln xmlns:a="http://schemas.openxmlformats.org/drawingml/2006/main" w="0">
            <a:solidFill>
              <a:srgbClr val="D0EDFA"/>
            </a:solidFill>
            <a:prstDash val="solid"/>
          </a:ln>
        </p:spPr>
      </p:sp>
      <p:sp>
        <p:nvSpPr>
          <p:cNvPr id="15" name="rightArrow-38">
            <a:extLst xmlns:a="http://schemas.openxmlformats.org/drawingml/2006/main">
              <a:ext uri="{FF2B5EF4-FFF2-40B4-BE49-F238E27FC236}">
                <a16:creationId xmlns:a16="http://schemas.microsoft.com/office/drawing/2014/main" id="{F4907944-AC40-416E-973F-53387DB89CE2}"/>
              </a:ext>
            </a:extLst>
          </p:cNvPr>
          <p:cNvSpPr>
            <a:spLocks xmlns:a="http://schemas.openxmlformats.org/drawingml/2006/main" noGrp="1"/>
          </p:cNvSpPr>
          <p:nvPr/>
        </p:nvSpPr>
        <p:spPr>
          <a:xfrm xmlns:a="http://schemas.openxmlformats.org/drawingml/2006/main">
            <a:off x="6353175" y="3314700"/>
            <a:ext cx="381000" cy="133350"/>
          </a:xfrm>
          <a:prstGeom xmlns:a="http://schemas.openxmlformats.org/drawingml/2006/main" prst="rightArrow">
            <a:avLst/>
          </a:prstGeom>
          <a:solidFill xmlns:a="http://schemas.openxmlformats.org/drawingml/2006/main">
            <a:srgbClr val="D0EDFA"/>
          </a:solidFill>
          <a:ln xmlns:a="http://schemas.openxmlformats.org/drawingml/2006/main" w="0">
            <a:solidFill>
              <a:srgbClr val="D0EDFA"/>
            </a:solidFill>
            <a:prstDash val="solid"/>
          </a:ln>
        </p:spPr>
      </p:sp>
      <p:sp>
        <p:nvSpPr>
          <p:cNvPr id="16" name="rightArrow-39">
            <a:extLst xmlns:a="http://schemas.openxmlformats.org/drawingml/2006/main">
              <a:ext uri="{FF2B5EF4-FFF2-40B4-BE49-F238E27FC236}">
                <a16:creationId xmlns:a16="http://schemas.microsoft.com/office/drawing/2014/main" id="{C6DA12D5-12E9-4AC8-A6C7-B8C9C20C1E8A}"/>
              </a:ext>
            </a:extLst>
          </p:cNvPr>
          <p:cNvSpPr>
            <a:spLocks xmlns:a="http://schemas.openxmlformats.org/drawingml/2006/main" noGrp="1"/>
          </p:cNvSpPr>
          <p:nvPr/>
        </p:nvSpPr>
        <p:spPr>
          <a:xfrm xmlns:a="http://schemas.openxmlformats.org/drawingml/2006/main">
            <a:off x="8477250" y="3314700"/>
            <a:ext cx="381000" cy="133350"/>
          </a:xfrm>
          <a:prstGeom xmlns:a="http://schemas.openxmlformats.org/drawingml/2006/main" prst="rightArrow">
            <a:avLst/>
          </a:prstGeom>
          <a:solidFill xmlns:a="http://schemas.openxmlformats.org/drawingml/2006/main">
            <a:srgbClr val="D0EDFA"/>
          </a:solidFill>
          <a:ln xmlns:a="http://schemas.openxmlformats.org/drawingml/2006/main" w="0">
            <a:solidFill>
              <a:srgbClr val="D0EDFA"/>
            </a:solidFill>
            <a:prstDash val="solid"/>
          </a:ln>
        </p:spPr>
      </p:sp>
      <p:sp>
        <p:nvSpPr>
          <p:cNvPr id="17" name="roundRect-40">
            <a:extLst xmlns:a="http://schemas.openxmlformats.org/drawingml/2006/main">
              <a:ext uri="{FF2B5EF4-FFF2-40B4-BE49-F238E27FC236}">
                <a16:creationId xmlns:a16="http://schemas.microsoft.com/office/drawing/2014/main" id="{A35DB046-8D60-46F8-82DE-26030BC8E3F0}"/>
              </a:ext>
            </a:extLst>
          </p:cNvPr>
          <p:cNvSpPr>
            <a:spLocks xmlns:a="http://schemas.openxmlformats.org/drawingml/2006/main" noGrp="1"/>
          </p:cNvSpPr>
          <p:nvPr/>
        </p:nvSpPr>
        <p:spPr>
          <a:xfrm xmlns:a="http://schemas.openxmlformats.org/drawingml/2006/main">
            <a:off x="2533650" y="3057525"/>
            <a:ext cx="1695450" cy="647700"/>
          </a:xfrm>
          <a:prstGeom xmlns:a="http://schemas.openxmlformats.org/drawingml/2006/main" prst="roundRect">
            <a:avLst>
              <a:gd name="adj" fmla="val 14706"/>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ctr">
            <a:normAutofit fontScale="83662"/>
          </a:bodyPr>
          <a:lstStyle xmlns:a="http://schemas.openxmlformats.org/drawingml/2006/main"/>
          <a:p xmlns:a="http://schemas.openxmlformats.org/drawingml/2006/main">
            <a:pPr algn="l">
              <a:defRPr sz="1350" b="1" i="0">
                <a:solidFill>
                  <a:srgbClr val="000000"/>
                </a:solidFill>
                <a:latin typeface="Helvetica Neue"/>
                <a:ea typeface="Helvetica Neue"/>
                <a:cs typeface="Helvetica Neue"/>
              </a:defRPr>
            </a:pPr>
            <a:r>
              <a:rPr sz="1350" b="1" i="0">
                <a:solidFill>
                  <a:srgbClr val="000000"/>
                </a:solidFill>
                <a:latin typeface="Helvetica Neue"/>
                <a:ea typeface="Helvetica Neue"/>
                <a:cs typeface="Helvetica Neue"/>
              </a:rPr>
              <a:t>Admin /</a:t>
            </a:r>
          </a:p>
          <a:p xmlns:a="http://schemas.openxmlformats.org/drawingml/2006/main">
            <a:pPr algn="l">
              <a:defRPr sz="1350" b="1" i="0">
                <a:solidFill>
                  <a:srgbClr val="000000"/>
                </a:solidFill>
                <a:latin typeface="Helvetica Neue"/>
                <a:ea typeface="Helvetica Neue"/>
                <a:cs typeface="Helvetica Neue"/>
              </a:defRPr>
            </a:pPr>
            <a:r>
              <a:rPr sz="1350" b="1" i="0">
                <a:solidFill>
                  <a:srgbClr val="000000"/>
                </a:solidFill>
                <a:latin typeface="Helvetica Neue"/>
                <a:ea typeface="Helvetica Neue"/>
                <a:cs typeface="Helvetica Neue"/>
              </a:rPr>
              <a:t>Data API</a:t>
            </a:r>
          </a:p>
        </p:txBody>
      </p:sp>
      <p:sp>
        <p:nvSpPr>
          <p:cNvPr id="18" name="roundRect-41">
            <a:extLst xmlns:a="http://schemas.openxmlformats.org/drawingml/2006/main">
              <a:ext uri="{FF2B5EF4-FFF2-40B4-BE49-F238E27FC236}">
                <a16:creationId xmlns:a16="http://schemas.microsoft.com/office/drawing/2014/main" id="{648A534E-1742-4875-9CAC-5A1E220B52A6}"/>
              </a:ext>
            </a:extLst>
          </p:cNvPr>
          <p:cNvSpPr>
            <a:spLocks xmlns:a="http://schemas.openxmlformats.org/drawingml/2006/main" noGrp="1"/>
          </p:cNvSpPr>
          <p:nvPr/>
        </p:nvSpPr>
        <p:spPr>
          <a:xfrm xmlns:a="http://schemas.openxmlformats.org/drawingml/2006/main">
            <a:off x="4657725" y="3057525"/>
            <a:ext cx="1695450" cy="647700"/>
          </a:xfrm>
          <a:prstGeom xmlns:a="http://schemas.openxmlformats.org/drawingml/2006/main" prst="roundRect">
            <a:avLst>
              <a:gd name="adj" fmla="val 14706"/>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ctr">
            <a:normAutofit fontScale="83662"/>
          </a:bodyPr>
          <a:lstStyle xmlns:a="http://schemas.openxmlformats.org/drawingml/2006/main"/>
          <a:p xmlns:a="http://schemas.openxmlformats.org/drawingml/2006/main">
            <a:pPr algn="l">
              <a:defRPr sz="1350" b="1" i="0">
                <a:solidFill>
                  <a:srgbClr val="000000"/>
                </a:solidFill>
                <a:latin typeface="Helvetica Neue"/>
                <a:ea typeface="Helvetica Neue"/>
                <a:cs typeface="Helvetica Neue"/>
              </a:defRPr>
            </a:pPr>
            <a:r>
              <a:rPr sz="1350" b="1" i="0">
                <a:solidFill>
                  <a:srgbClr val="000000"/>
                </a:solidFill>
                <a:latin typeface="Helvetica Neue"/>
                <a:ea typeface="Helvetica Neue"/>
                <a:cs typeface="Helvetica Neue"/>
              </a:rPr>
              <a:t>Queue +</a:t>
            </a:r>
          </a:p>
          <a:p xmlns:a="http://schemas.openxmlformats.org/drawingml/2006/main">
            <a:pPr algn="l">
              <a:defRPr sz="1350" b="1" i="0">
                <a:solidFill>
                  <a:srgbClr val="000000"/>
                </a:solidFill>
                <a:latin typeface="Helvetica Neue"/>
                <a:ea typeface="Helvetica Neue"/>
                <a:cs typeface="Helvetica Neue"/>
              </a:defRPr>
            </a:pPr>
            <a:r>
              <a:rPr sz="1350" b="1" i="0">
                <a:solidFill>
                  <a:srgbClr val="000000"/>
                </a:solidFill>
                <a:latin typeface="Helvetica Neue"/>
                <a:ea typeface="Helvetica Neue"/>
                <a:cs typeface="Helvetica Neue"/>
              </a:rPr>
              <a:t>workers</a:t>
            </a:r>
          </a:p>
        </p:txBody>
      </p:sp>
      <p:sp>
        <p:nvSpPr>
          <p:cNvPr id="19" name="roundRect-42">
            <a:extLst xmlns:a="http://schemas.openxmlformats.org/drawingml/2006/main">
              <a:ext uri="{FF2B5EF4-FFF2-40B4-BE49-F238E27FC236}">
                <a16:creationId xmlns:a16="http://schemas.microsoft.com/office/drawing/2014/main" id="{EC838BF4-7455-4F8F-A618-F63293C5BCBD}"/>
              </a:ext>
            </a:extLst>
          </p:cNvPr>
          <p:cNvSpPr>
            <a:spLocks xmlns:a="http://schemas.openxmlformats.org/drawingml/2006/main" noGrp="1"/>
          </p:cNvSpPr>
          <p:nvPr/>
        </p:nvSpPr>
        <p:spPr>
          <a:xfrm xmlns:a="http://schemas.openxmlformats.org/drawingml/2006/main">
            <a:off x="6781800" y="3057525"/>
            <a:ext cx="1695450" cy="647700"/>
          </a:xfrm>
          <a:prstGeom xmlns:a="http://schemas.openxmlformats.org/drawingml/2006/main" prst="roundRect">
            <a:avLst>
              <a:gd name="adj" fmla="val 14706"/>
            </a:avLst>
          </a:prstGeom>
          <a:solidFill xmlns:a="http://schemas.openxmlformats.org/drawingml/2006/main">
            <a:srgbClr val="EDF8FD"/>
          </a:solidFill>
          <a:ln xmlns:a="http://schemas.openxmlformats.org/drawingml/2006/main" w="14288">
            <a:solidFill>
              <a:srgbClr val="3D8DFF"/>
            </a:solidFill>
            <a:prstDash val="solid"/>
          </a:ln>
        </p:spPr>
        <p:txBody>
          <a:bodyPr xmlns:a="http://schemas.openxmlformats.org/drawingml/2006/main" wrap="square" lIns="152400" tIns="133350" rIns="152400" bIns="114300" anchor="ctr">
            <a:normAutofit fontScale="83662"/>
          </a:bodyPr>
          <a:lstStyle xmlns:a="http://schemas.openxmlformats.org/drawingml/2006/main"/>
          <a:p xmlns:a="http://schemas.openxmlformats.org/drawingml/2006/main">
            <a:pPr algn="l">
              <a:defRPr sz="1350" b="1" i="0">
                <a:solidFill>
                  <a:srgbClr val="000000"/>
                </a:solidFill>
                <a:latin typeface="Helvetica Neue"/>
                <a:ea typeface="Helvetica Neue"/>
                <a:cs typeface="Helvetica Neue"/>
              </a:defRPr>
            </a:pPr>
            <a:r>
              <a:rPr sz="1350" b="1" i="0">
                <a:solidFill>
                  <a:srgbClr val="000000"/>
                </a:solidFill>
                <a:latin typeface="Helvetica Neue"/>
                <a:ea typeface="Helvetica Neue"/>
                <a:cs typeface="Helvetica Neue"/>
              </a:rPr>
              <a:t>Postgres</a:t>
            </a:r>
          </a:p>
          <a:p xmlns:a="http://schemas.openxmlformats.org/drawingml/2006/main">
            <a:pPr algn="l">
              <a:defRPr sz="1350" b="1" i="0">
                <a:solidFill>
                  <a:srgbClr val="000000"/>
                </a:solidFill>
                <a:latin typeface="Helvetica Neue"/>
                <a:ea typeface="Helvetica Neue"/>
                <a:cs typeface="Helvetica Neue"/>
              </a:defRPr>
            </a:pPr>
            <a:r>
              <a:rPr sz="1350" b="1" i="0">
                <a:solidFill>
                  <a:srgbClr val="000000"/>
                </a:solidFill>
                <a:latin typeface="Helvetica Neue"/>
                <a:ea typeface="Helvetica Neue"/>
                <a:cs typeface="Helvetica Neue"/>
              </a:rPr>
              <a:t>reporting store</a:t>
            </a:r>
          </a:p>
        </p:txBody>
      </p:sp>
      <p:sp>
        <p:nvSpPr>
          <p:cNvPr id="20" name="roundRect-43">
            <a:extLst xmlns:a="http://schemas.openxmlformats.org/drawingml/2006/main">
              <a:ext uri="{FF2B5EF4-FFF2-40B4-BE49-F238E27FC236}">
                <a16:creationId xmlns:a16="http://schemas.microsoft.com/office/drawing/2014/main" id="{C5BDAC53-EA27-424F-B68B-4CB46F440F24}"/>
              </a:ext>
            </a:extLst>
          </p:cNvPr>
          <p:cNvSpPr>
            <a:spLocks xmlns:a="http://schemas.openxmlformats.org/drawingml/2006/main" noGrp="1"/>
          </p:cNvSpPr>
          <p:nvPr/>
        </p:nvSpPr>
        <p:spPr>
          <a:xfrm xmlns:a="http://schemas.openxmlformats.org/drawingml/2006/main">
            <a:off x="8905875" y="3057525"/>
            <a:ext cx="1695450" cy="647700"/>
          </a:xfrm>
          <a:prstGeom xmlns:a="http://schemas.openxmlformats.org/drawingml/2006/main" prst="roundRect">
            <a:avLst>
              <a:gd name="adj" fmla="val 14706"/>
            </a:avLst>
          </a:prstGeom>
          <a:solidFill xmlns:a="http://schemas.openxmlformats.org/drawingml/2006/main">
            <a:srgbClr val="EDF8FD"/>
          </a:solidFill>
          <a:ln xmlns:a="http://schemas.openxmlformats.org/drawingml/2006/main" w="14288">
            <a:solidFill>
              <a:srgbClr val="3D8DFF"/>
            </a:solidFill>
            <a:prstDash val="solid"/>
          </a:ln>
        </p:spPr>
        <p:txBody>
          <a:bodyPr xmlns:a="http://schemas.openxmlformats.org/drawingml/2006/main" wrap="square" lIns="152400" tIns="133350" rIns="152400" bIns="114300" anchor="ctr">
            <a:normAutofit fontScale="83662"/>
          </a:bodyPr>
          <a:lstStyle xmlns:a="http://schemas.openxmlformats.org/drawingml/2006/main"/>
          <a:p xmlns:a="http://schemas.openxmlformats.org/drawingml/2006/main">
            <a:pPr algn="l">
              <a:defRPr sz="1350" b="1" i="0">
                <a:solidFill>
                  <a:srgbClr val="000000"/>
                </a:solidFill>
                <a:latin typeface="Helvetica Neue"/>
                <a:ea typeface="Helvetica Neue"/>
                <a:cs typeface="Helvetica Neue"/>
              </a:defRPr>
            </a:pPr>
            <a:r>
              <a:rPr sz="1350" b="1" i="0">
                <a:solidFill>
                  <a:srgbClr val="000000"/>
                </a:solidFill>
                <a:latin typeface="Helvetica Neue"/>
                <a:ea typeface="Helvetica Neue"/>
                <a:cs typeface="Helvetica Neue"/>
              </a:rPr>
              <a:t>Tenant-aware</a:t>
            </a:r>
          </a:p>
          <a:p xmlns:a="http://schemas.openxmlformats.org/drawingml/2006/main">
            <a:pPr algn="l">
              <a:defRPr sz="1350" b="1" i="0">
                <a:solidFill>
                  <a:srgbClr val="000000"/>
                </a:solidFill>
                <a:latin typeface="Helvetica Neue"/>
                <a:ea typeface="Helvetica Neue"/>
                <a:cs typeface="Helvetica Neue"/>
              </a:defRPr>
            </a:pPr>
            <a:r>
              <a:rPr sz="1350" b="1" i="0">
                <a:solidFill>
                  <a:srgbClr val="000000"/>
                </a:solidFill>
                <a:latin typeface="Helvetica Neue"/>
                <a:ea typeface="Helvetica Neue"/>
                <a:cs typeface="Helvetica Neue"/>
              </a:rPr>
              <a:t>reporting API</a:t>
            </a:r>
          </a:p>
        </p:txBody>
      </p:sp>
      <p:sp>
        <p:nvSpPr>
          <p:cNvPr id="21" name="roundRect-44">
            <a:extLst xmlns:a="http://schemas.openxmlformats.org/drawingml/2006/main">
              <a:ext uri="{FF2B5EF4-FFF2-40B4-BE49-F238E27FC236}">
                <a16:creationId xmlns:a16="http://schemas.microsoft.com/office/drawing/2014/main" id="{2F41791E-19EB-448D-AB13-EE91E6E3C996}"/>
              </a:ext>
            </a:extLst>
          </p:cNvPr>
          <p:cNvSpPr>
            <a:spLocks xmlns:a="http://schemas.openxmlformats.org/drawingml/2006/main" noGrp="1"/>
          </p:cNvSpPr>
          <p:nvPr/>
        </p:nvSpPr>
        <p:spPr>
          <a:xfrm xmlns:a="http://schemas.openxmlformats.org/drawingml/2006/main">
            <a:off x="393668" y="4210050"/>
            <a:ext cx="1866900" cy="742950"/>
          </a:xfrm>
          <a:prstGeom xmlns:a="http://schemas.openxmlformats.org/drawingml/2006/main" prst="roundRect">
            <a:avLst>
              <a:gd name="adj" fmla="val 12821"/>
            </a:avLst>
          </a:prstGeom>
          <a:solidFill xmlns:a="http://schemas.openxmlformats.org/drawingml/2006/main">
            <a:srgbClr val="000000"/>
          </a:solidFill>
          <a:ln xmlns:a="http://schemas.openxmlformats.org/drawingml/2006/main" w="0">
            <a:solidFill>
              <a:srgbClr val="000000"/>
            </a:solidFill>
            <a:prstDash val="solid"/>
          </a:ln>
        </p:spPr>
        <p:txBody>
          <a:bodyPr xmlns:a="http://schemas.openxmlformats.org/drawingml/2006/main" wrap="square" lIns="152400" tIns="133350" rIns="152400" bIns="114300" anchor="ctr">
            <a:noAutofit/>
          </a:bodyPr>
          <a:lstStyle xmlns:a="http://schemas.openxmlformats.org/drawingml/2006/main"/>
          <a:p xmlns:a="http://schemas.openxmlformats.org/drawingml/2006/main">
            <a:pPr algn="l">
              <a:defRPr sz="1200" b="1" i="0">
                <a:solidFill>
                  <a:srgbClr val="FFFFFF"/>
                </a:solidFill>
                <a:latin typeface="Helvetica Neue"/>
                <a:ea typeface="Helvetica Neue"/>
                <a:cs typeface="Helvetica Neue"/>
              </a:defRPr>
            </a:pPr>
            <a:r>
              <a:rPr sz="1200" b="1" i="0">
                <a:solidFill>
                  <a:srgbClr val="FFFFFF"/>
                </a:solidFill>
                <a:latin typeface="Helvetica Neue"/>
                <a:ea typeface="Helvetica Neue"/>
                <a:cs typeface="Helvetica Neue"/>
              </a:rPr>
              <a:t>APPLICATION + CONTROL</a:t>
            </a:r>
          </a:p>
        </p:txBody>
      </p:sp>
      <p:sp>
        <p:nvSpPr>
          <p:cNvPr id="22" name="rightArrow-45">
            <a:extLst xmlns:a="http://schemas.openxmlformats.org/drawingml/2006/main">
              <a:ext uri="{FF2B5EF4-FFF2-40B4-BE49-F238E27FC236}">
                <a16:creationId xmlns:a16="http://schemas.microsoft.com/office/drawing/2014/main" id="{BC8905C6-5917-4C4D-8602-E85E761CF13B}"/>
              </a:ext>
            </a:extLst>
          </p:cNvPr>
          <p:cNvSpPr>
            <a:spLocks xmlns:a="http://schemas.openxmlformats.org/drawingml/2006/main" noGrp="1"/>
          </p:cNvSpPr>
          <p:nvPr/>
        </p:nvSpPr>
        <p:spPr>
          <a:xfrm xmlns:a="http://schemas.openxmlformats.org/drawingml/2006/main">
            <a:off x="4229100" y="4514850"/>
            <a:ext cx="381000" cy="133350"/>
          </a:xfrm>
          <a:prstGeom xmlns:a="http://schemas.openxmlformats.org/drawingml/2006/main" prst="rightArrow">
            <a:avLst/>
          </a:prstGeom>
          <a:solidFill xmlns:a="http://schemas.openxmlformats.org/drawingml/2006/main">
            <a:srgbClr val="D0EDFA"/>
          </a:solidFill>
          <a:ln xmlns:a="http://schemas.openxmlformats.org/drawingml/2006/main" w="0">
            <a:solidFill>
              <a:srgbClr val="D0EDFA"/>
            </a:solidFill>
            <a:prstDash val="solid"/>
          </a:ln>
        </p:spPr>
      </p:sp>
      <p:sp>
        <p:nvSpPr>
          <p:cNvPr id="23" name="rightArrow-46">
            <a:extLst xmlns:a="http://schemas.openxmlformats.org/drawingml/2006/main">
              <a:ext uri="{FF2B5EF4-FFF2-40B4-BE49-F238E27FC236}">
                <a16:creationId xmlns:a16="http://schemas.microsoft.com/office/drawing/2014/main" id="{0AAC6C8B-7216-4DA4-BC3F-3B00612459DA}"/>
              </a:ext>
            </a:extLst>
          </p:cNvPr>
          <p:cNvSpPr>
            <a:spLocks xmlns:a="http://schemas.openxmlformats.org/drawingml/2006/main" noGrp="1"/>
          </p:cNvSpPr>
          <p:nvPr/>
        </p:nvSpPr>
        <p:spPr>
          <a:xfrm xmlns:a="http://schemas.openxmlformats.org/drawingml/2006/main">
            <a:off x="6353175" y="4514850"/>
            <a:ext cx="381000" cy="133350"/>
          </a:xfrm>
          <a:prstGeom xmlns:a="http://schemas.openxmlformats.org/drawingml/2006/main" prst="rightArrow">
            <a:avLst/>
          </a:prstGeom>
          <a:solidFill xmlns:a="http://schemas.openxmlformats.org/drawingml/2006/main">
            <a:srgbClr val="D0EDFA"/>
          </a:solidFill>
          <a:ln xmlns:a="http://schemas.openxmlformats.org/drawingml/2006/main" w="0">
            <a:solidFill>
              <a:srgbClr val="D0EDFA"/>
            </a:solidFill>
            <a:prstDash val="solid"/>
          </a:ln>
        </p:spPr>
      </p:sp>
      <p:sp>
        <p:nvSpPr>
          <p:cNvPr id="24" name="rightArrow-47">
            <a:extLst xmlns:a="http://schemas.openxmlformats.org/drawingml/2006/main">
              <a:ext uri="{FF2B5EF4-FFF2-40B4-BE49-F238E27FC236}">
                <a16:creationId xmlns:a16="http://schemas.microsoft.com/office/drawing/2014/main" id="{453FEFDA-D097-4511-92A6-6086787C71FD}"/>
              </a:ext>
            </a:extLst>
          </p:cNvPr>
          <p:cNvSpPr>
            <a:spLocks xmlns:a="http://schemas.openxmlformats.org/drawingml/2006/main" noGrp="1"/>
          </p:cNvSpPr>
          <p:nvPr/>
        </p:nvSpPr>
        <p:spPr>
          <a:xfrm xmlns:a="http://schemas.openxmlformats.org/drawingml/2006/main">
            <a:off x="8477250" y="4514850"/>
            <a:ext cx="381000" cy="133350"/>
          </a:xfrm>
          <a:prstGeom xmlns:a="http://schemas.openxmlformats.org/drawingml/2006/main" prst="rightArrow">
            <a:avLst/>
          </a:prstGeom>
          <a:solidFill xmlns:a="http://schemas.openxmlformats.org/drawingml/2006/main">
            <a:srgbClr val="D0EDFA"/>
          </a:solidFill>
          <a:ln xmlns:a="http://schemas.openxmlformats.org/drawingml/2006/main" w="0">
            <a:solidFill>
              <a:srgbClr val="D0EDFA"/>
            </a:solidFill>
            <a:prstDash val="solid"/>
          </a:ln>
        </p:spPr>
      </p:sp>
      <p:sp>
        <p:nvSpPr>
          <p:cNvPr id="25" name="roundRect-48">
            <a:extLst xmlns:a="http://schemas.openxmlformats.org/drawingml/2006/main">
              <a:ext uri="{FF2B5EF4-FFF2-40B4-BE49-F238E27FC236}">
                <a16:creationId xmlns:a16="http://schemas.microsoft.com/office/drawing/2014/main" id="{C3DF5FC1-1D30-4390-823C-0DA668530A69}"/>
              </a:ext>
            </a:extLst>
          </p:cNvPr>
          <p:cNvSpPr>
            <a:spLocks xmlns:a="http://schemas.openxmlformats.org/drawingml/2006/main" noGrp="1"/>
          </p:cNvSpPr>
          <p:nvPr/>
        </p:nvSpPr>
        <p:spPr>
          <a:xfrm xmlns:a="http://schemas.openxmlformats.org/drawingml/2006/main">
            <a:off x="2533650" y="4257675"/>
            <a:ext cx="1695450" cy="647700"/>
          </a:xfrm>
          <a:prstGeom xmlns:a="http://schemas.openxmlformats.org/drawingml/2006/main" prst="roundRect">
            <a:avLst>
              <a:gd name="adj" fmla="val 14706"/>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ctr">
            <a:normAutofit fontScale="83662"/>
          </a:bodyPr>
          <a:lstStyle xmlns:a="http://schemas.openxmlformats.org/drawingml/2006/main"/>
          <a:p xmlns:a="http://schemas.openxmlformats.org/drawingml/2006/main">
            <a:pPr algn="l">
              <a:defRPr sz="1350" b="1" i="0">
                <a:solidFill>
                  <a:srgbClr val="000000"/>
                </a:solidFill>
                <a:latin typeface="Helvetica Neue"/>
                <a:ea typeface="Helvetica Neue"/>
                <a:cs typeface="Helvetica Neue"/>
              </a:defRPr>
            </a:pPr>
            <a:r>
              <a:rPr sz="1350" b="1" i="0">
                <a:solidFill>
                  <a:srgbClr val="000000"/>
                </a:solidFill>
                <a:latin typeface="Helvetica Neue"/>
                <a:ea typeface="Helvetica Neue"/>
                <a:cs typeface="Helvetica Neue"/>
              </a:rPr>
              <a:t>Tenant</a:t>
            </a:r>
          </a:p>
          <a:p xmlns:a="http://schemas.openxmlformats.org/drawingml/2006/main">
            <a:pPr algn="l">
              <a:defRPr sz="1350" b="1" i="0">
                <a:solidFill>
                  <a:srgbClr val="000000"/>
                </a:solidFill>
                <a:latin typeface="Helvetica Neue"/>
                <a:ea typeface="Helvetica Neue"/>
                <a:cs typeface="Helvetica Neue"/>
              </a:defRPr>
            </a:pPr>
            <a:r>
              <a:rPr sz="1350" b="1" i="0">
                <a:solidFill>
                  <a:srgbClr val="000000"/>
                </a:solidFill>
                <a:latin typeface="Helvetica Neue"/>
                <a:ea typeface="Helvetica Neue"/>
                <a:cs typeface="Helvetica Neue"/>
              </a:rPr>
              <a:t>authorization</a:t>
            </a:r>
          </a:p>
        </p:txBody>
      </p:sp>
      <p:sp>
        <p:nvSpPr>
          <p:cNvPr id="26" name="roundRect-49">
            <a:extLst xmlns:a="http://schemas.openxmlformats.org/drawingml/2006/main">
              <a:ext uri="{FF2B5EF4-FFF2-40B4-BE49-F238E27FC236}">
                <a16:creationId xmlns:a16="http://schemas.microsoft.com/office/drawing/2014/main" id="{6B2885FC-0B10-42FF-A881-8FF27C0A827A}"/>
              </a:ext>
            </a:extLst>
          </p:cNvPr>
          <p:cNvSpPr>
            <a:spLocks xmlns:a="http://schemas.openxmlformats.org/drawingml/2006/main" noGrp="1"/>
          </p:cNvSpPr>
          <p:nvPr/>
        </p:nvSpPr>
        <p:spPr>
          <a:xfrm xmlns:a="http://schemas.openxmlformats.org/drawingml/2006/main">
            <a:off x="4657725" y="4257675"/>
            <a:ext cx="1695450" cy="647700"/>
          </a:xfrm>
          <a:prstGeom xmlns:a="http://schemas.openxmlformats.org/drawingml/2006/main" prst="roundRect">
            <a:avLst>
              <a:gd name="adj" fmla="val 14706"/>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ctr">
            <a:normAutofit fontScale="83662"/>
          </a:bodyPr>
          <a:lstStyle xmlns:a="http://schemas.openxmlformats.org/drawingml/2006/main"/>
          <a:p xmlns:a="http://schemas.openxmlformats.org/drawingml/2006/main">
            <a:pPr algn="l">
              <a:defRPr sz="1350" b="1" i="0">
                <a:solidFill>
                  <a:srgbClr val="000000"/>
                </a:solidFill>
                <a:latin typeface="Helvetica Neue"/>
                <a:ea typeface="Helvetica Neue"/>
                <a:cs typeface="Helvetica Neue"/>
              </a:defRPr>
            </a:pPr>
            <a:r>
              <a:rPr sz="1350" b="1" i="0">
                <a:solidFill>
                  <a:srgbClr val="000000"/>
                </a:solidFill>
                <a:latin typeface="Helvetica Neue"/>
                <a:ea typeface="Helvetica Neue"/>
                <a:cs typeface="Helvetica Neue"/>
              </a:rPr>
              <a:t>Agency</a:t>
            </a:r>
          </a:p>
          <a:p xmlns:a="http://schemas.openxmlformats.org/drawingml/2006/main">
            <a:pPr algn="l">
              <a:defRPr sz="1350" b="1" i="0">
                <a:solidFill>
                  <a:srgbClr val="000000"/>
                </a:solidFill>
                <a:latin typeface="Helvetica Neue"/>
                <a:ea typeface="Helvetica Neue"/>
                <a:cs typeface="Helvetica Neue"/>
              </a:defRPr>
            </a:pPr>
            <a:r>
              <a:rPr sz="1350" b="1" i="0">
                <a:solidFill>
                  <a:srgbClr val="000000"/>
                </a:solidFill>
                <a:latin typeface="Helvetica Neue"/>
                <a:ea typeface="Helvetica Neue"/>
                <a:cs typeface="Helvetica Neue"/>
              </a:rPr>
              <a:t>operations console</a:t>
            </a:r>
          </a:p>
        </p:txBody>
      </p:sp>
      <p:sp>
        <p:nvSpPr>
          <p:cNvPr id="27" name="roundRect-50">
            <a:extLst xmlns:a="http://schemas.openxmlformats.org/drawingml/2006/main">
              <a:ext uri="{FF2B5EF4-FFF2-40B4-BE49-F238E27FC236}">
                <a16:creationId xmlns:a16="http://schemas.microsoft.com/office/drawing/2014/main" id="{B6F2A082-6F10-443D-90BD-7991741B66CD}"/>
              </a:ext>
            </a:extLst>
          </p:cNvPr>
          <p:cNvSpPr>
            <a:spLocks xmlns:a="http://schemas.openxmlformats.org/drawingml/2006/main" noGrp="1"/>
          </p:cNvSpPr>
          <p:nvPr/>
        </p:nvSpPr>
        <p:spPr>
          <a:xfrm xmlns:a="http://schemas.openxmlformats.org/drawingml/2006/main">
            <a:off x="6781800" y="4257675"/>
            <a:ext cx="1695450" cy="647700"/>
          </a:xfrm>
          <a:prstGeom xmlns:a="http://schemas.openxmlformats.org/drawingml/2006/main" prst="roundRect">
            <a:avLst>
              <a:gd name="adj" fmla="val 14706"/>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ctr">
            <a:normAutofit fontScale="83662"/>
          </a:bodyPr>
          <a:lstStyle xmlns:a="http://schemas.openxmlformats.org/drawingml/2006/main"/>
          <a:p xmlns:a="http://schemas.openxmlformats.org/drawingml/2006/main">
            <a:pPr algn="l">
              <a:defRPr sz="1350" b="1" i="0">
                <a:solidFill>
                  <a:srgbClr val="000000"/>
                </a:solidFill>
                <a:latin typeface="Helvetica Neue"/>
                <a:ea typeface="Helvetica Neue"/>
                <a:cs typeface="Helvetica Neue"/>
              </a:defRPr>
            </a:pPr>
            <a:r>
              <a:rPr sz="1350" b="1" i="0">
                <a:solidFill>
                  <a:srgbClr val="000000"/>
                </a:solidFill>
                <a:latin typeface="Helvetica Neue"/>
                <a:ea typeface="Helvetica Neue"/>
                <a:cs typeface="Helvetica Neue"/>
              </a:rPr>
              <a:t>Client</a:t>
            </a:r>
          </a:p>
          <a:p xmlns:a="http://schemas.openxmlformats.org/drawingml/2006/main">
            <a:pPr algn="l">
              <a:defRPr sz="1350" b="1" i="0">
                <a:solidFill>
                  <a:srgbClr val="000000"/>
                </a:solidFill>
                <a:latin typeface="Helvetica Neue"/>
                <a:ea typeface="Helvetica Neue"/>
                <a:cs typeface="Helvetica Neue"/>
              </a:defRPr>
            </a:pPr>
            <a:r>
              <a:rPr sz="1350" b="1" i="0">
                <a:solidFill>
                  <a:srgbClr val="000000"/>
                </a:solidFill>
                <a:latin typeface="Helvetica Neue"/>
                <a:ea typeface="Helvetica Neue"/>
                <a:cs typeface="Helvetica Neue"/>
              </a:rPr>
              <a:t>portal</a:t>
            </a:r>
          </a:p>
        </p:txBody>
      </p:sp>
      <p:sp>
        <p:nvSpPr>
          <p:cNvPr id="28" name="roundRect-51">
            <a:extLst xmlns:a="http://schemas.openxmlformats.org/drawingml/2006/main">
              <a:ext uri="{FF2B5EF4-FFF2-40B4-BE49-F238E27FC236}">
                <a16:creationId xmlns:a16="http://schemas.microsoft.com/office/drawing/2014/main" id="{C0011F80-A0B6-4E2A-8892-AE033A8376EC}"/>
              </a:ext>
            </a:extLst>
          </p:cNvPr>
          <p:cNvSpPr>
            <a:spLocks xmlns:a="http://schemas.openxmlformats.org/drawingml/2006/main" noGrp="1"/>
          </p:cNvSpPr>
          <p:nvPr/>
        </p:nvSpPr>
        <p:spPr>
          <a:xfrm xmlns:a="http://schemas.openxmlformats.org/drawingml/2006/main">
            <a:off x="8905875" y="4257675"/>
            <a:ext cx="1695450" cy="647700"/>
          </a:xfrm>
          <a:prstGeom xmlns:a="http://schemas.openxmlformats.org/drawingml/2006/main" prst="roundRect">
            <a:avLst>
              <a:gd name="adj" fmla="val 14706"/>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ctr">
            <a:normAutofit fontScale="83662"/>
          </a:bodyPr>
          <a:lstStyle xmlns:a="http://schemas.openxmlformats.org/drawingml/2006/main"/>
          <a:p xmlns:a="http://schemas.openxmlformats.org/drawingml/2006/main">
            <a:pPr algn="l">
              <a:defRPr sz="1350" b="1" i="0">
                <a:solidFill>
                  <a:srgbClr val="000000"/>
                </a:solidFill>
                <a:latin typeface="Helvetica Neue"/>
                <a:ea typeface="Helvetica Neue"/>
                <a:cs typeface="Helvetica Neue"/>
              </a:defRPr>
            </a:pPr>
            <a:r>
              <a:rPr sz="1350" b="1" i="0">
                <a:solidFill>
                  <a:srgbClr val="000000"/>
                </a:solidFill>
                <a:latin typeface="Helvetica Neue"/>
                <a:ea typeface="Helvetica Neue"/>
                <a:cs typeface="Helvetica Neue"/>
              </a:rPr>
              <a:t>Goals · roles ·</a:t>
            </a:r>
          </a:p>
          <a:p xmlns:a="http://schemas.openxmlformats.org/drawingml/2006/main">
            <a:pPr algn="l">
              <a:defRPr sz="1350" b="1" i="0">
                <a:solidFill>
                  <a:srgbClr val="000000"/>
                </a:solidFill>
                <a:latin typeface="Helvetica Neue"/>
                <a:ea typeface="Helvetica Neue"/>
                <a:cs typeface="Helvetica Neue"/>
              </a:defRPr>
            </a:pPr>
            <a:r>
              <a:rPr sz="1350" b="1" i="0">
                <a:solidFill>
                  <a:srgbClr val="000000"/>
                </a:solidFill>
                <a:latin typeface="Helvetica Neue"/>
                <a:ea typeface="Helvetica Neue"/>
                <a:cs typeface="Helvetica Neue"/>
              </a:rPr>
              <a:t>annotations</a:t>
            </a:r>
          </a:p>
        </p:txBody>
      </p:sp>
      <p:sp>
        <p:nvSpPr>
          <p:cNvPr id="29" name="roundRect-52">
            <a:extLst xmlns:a="http://schemas.openxmlformats.org/drawingml/2006/main">
              <a:ext uri="{FF2B5EF4-FFF2-40B4-BE49-F238E27FC236}">
                <a16:creationId xmlns:a16="http://schemas.microsoft.com/office/drawing/2014/main" id="{80BB4C37-89FA-4A88-9104-1D31DC9E030F}"/>
              </a:ext>
            </a:extLst>
          </p:cNvPr>
          <p:cNvSpPr>
            <a:spLocks xmlns:a="http://schemas.openxmlformats.org/drawingml/2006/main" noGrp="1"/>
          </p:cNvSpPr>
          <p:nvPr/>
        </p:nvSpPr>
        <p:spPr>
          <a:xfrm xmlns:a="http://schemas.openxmlformats.org/drawingml/2006/main">
            <a:off x="393668" y="5467350"/>
            <a:ext cx="5381625" cy="552450"/>
          </a:xfrm>
          <a:prstGeom xmlns:a="http://schemas.openxmlformats.org/drawingml/2006/main" prst="roundRect">
            <a:avLst>
              <a:gd name="adj" fmla="val 17241"/>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ctr">
            <a:normAutofit fontScale="68079"/>
          </a:bodyPr>
          <a:lstStyle xmlns:a="http://schemas.openxmlformats.org/drawingml/2006/main"/>
          <a:p xmlns:a="http://schemas.openxmlformats.org/drawingml/2006/main">
            <a:pPr algn="l">
              <a:defRPr sz="1200" b="0" i="0">
                <a:solidFill>
                  <a:srgbClr val="656B73"/>
                </a:solidFill>
                <a:latin typeface="Helvetica Neue"/>
                <a:ea typeface="Helvetica Neue"/>
                <a:cs typeface="Helvetica Neue"/>
              </a:defRPr>
            </a:pPr>
            <a:r>
              <a:rPr sz="1200" b="0" i="0">
                <a:solidFill>
                  <a:srgbClr val="656B73"/>
                </a:solidFill>
                <a:latin typeface="Helvetica Neue"/>
                <a:ea typeface="Helvetica Neue"/>
                <a:cs typeface="Helvetica Neue"/>
              </a:rPr>
              <a:t>Optional raw-event tier</a:t>
            </a:r>
          </a:p>
          <a:p xmlns:a="http://schemas.openxmlformats.org/drawingml/2006/main">
            <a:pPr algn="l">
              <a:defRPr sz="1200" b="0" i="0">
                <a:solidFill>
                  <a:srgbClr val="656B73"/>
                </a:solidFill>
                <a:latin typeface="Helvetica Neue"/>
                <a:ea typeface="Helvetica Neue"/>
                <a:cs typeface="Helvetica Neue"/>
              </a:defRPr>
            </a:pPr>
            <a:r>
              <a:rPr sz="1200" b="0" i="0">
                <a:solidFill>
                  <a:srgbClr val="656B73"/>
                </a:solidFill>
                <a:latin typeface="Helvetica Neue"/>
                <a:ea typeface="Helvetica Neue"/>
                <a:cs typeface="Helvetica Neue"/>
              </a:rPr>
              <a:t>BigQuery stays outside the normal dashboard request path.</a:t>
            </a:r>
          </a:p>
        </p:txBody>
      </p:sp>
      <p:sp>
        <p:nvSpPr>
          <p:cNvPr id="30" name="textbox-53">
            <a:extLst xmlns:a="http://schemas.openxmlformats.org/drawingml/2006/main">
              <a:ext uri="{FF2B5EF4-FFF2-40B4-BE49-F238E27FC236}">
                <a16:creationId xmlns:a16="http://schemas.microsoft.com/office/drawing/2014/main" id="{7ED38F76-D692-434C-B098-2E5EFF0B9177}"/>
              </a:ext>
            </a:extLst>
          </p:cNvPr>
          <p:cNvSpPr>
            <a:spLocks xmlns:a="http://schemas.openxmlformats.org/drawingml/2006/main" noGrp="1"/>
          </p:cNvSpPr>
          <p:nvPr/>
        </p:nvSpPr>
        <p:spPr>
          <a:xfrm xmlns:a="http://schemas.openxmlformats.org/drawingml/2006/main">
            <a:off x="6172200" y="5610225"/>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0" i="0">
                <a:solidFill>
                  <a:srgbClr val="656B73"/>
                </a:solidFill>
                <a:latin typeface="Helvetica Neue"/>
                <a:ea typeface="Helvetica Neue"/>
                <a:cs typeface="Helvetica Neue"/>
              </a:defRPr>
            </a:pPr>
            <a:r>
              <a:rPr sz="1200" b="0" i="0">
                <a:solidFill>
                  <a:srgbClr val="656B73"/>
                </a:solidFill>
                <a:latin typeface="Helvetica Neue"/>
                <a:ea typeface="Helvetica Neue"/>
                <a:cs typeface="Helvetica Neue"/>
              </a:rPr>
              <a:t>GA4 reporting API and BigQuery raw events remain distinct source families.</a:t>
            </a:r>
          </a:p>
        </p:txBody>
      </p:sp>
    </p:spTree>
    <p:extLst>
      <p:ext uri="{BB962C8B-B14F-4D97-AF65-F5344CB8AC3E}">
        <p14:creationId xmlns:p14="http://schemas.microsoft.com/office/powerpoint/2010/main" val="86366023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textbox-54">
            <a:extLst xmlns:a="http://schemas.openxmlformats.org/drawingml/2006/main">
              <a:ext uri="{FF2B5EF4-FFF2-40B4-BE49-F238E27FC236}">
                <a16:creationId xmlns:a16="http://schemas.microsoft.com/office/drawing/2014/main" id="{640E82CA-E802-4334-BC1E-B400EEF598D0}"/>
              </a:ext>
            </a:extLst>
          </p:cNvPr>
          <p:cNvSpPr>
            <a:spLocks xmlns:a="http://schemas.openxmlformats.org/drawingml/2006/main" noGrp="1"/>
          </p:cNvSpPr>
          <p:nvPr/>
        </p:nvSpPr>
        <p:spPr>
          <a:xfrm xmlns:a="http://schemas.openxmlformats.org/drawingml/2006/main">
            <a:off x="393668" y="344043"/>
            <a:ext cx="11404568"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0" bIns="0" anchor="t">
            <a:normAutofit fontScale="100000"/>
          </a:bodyPr>
          <a:lstStyle xmlns:a="http://schemas.openxmlformats.org/drawingml/2006/main"/>
          <a:p xmlns:a="http://schemas.openxmlformats.org/drawingml/2006/main">
            <a:pPr algn="l">
              <a:defRPr sz="2850" b="0" i="0">
                <a:solidFill>
                  <a:srgbClr val="000000"/>
                </a:solidFill>
                <a:latin typeface="Helvetica Neue"/>
                <a:ea typeface="Helvetica Neue"/>
                <a:cs typeface="Helvetica Neue"/>
              </a:defRPr>
            </a:pPr>
            <a:r>
              <a:rPr sz="2850" b="0" i="0">
                <a:solidFill>
                  <a:srgbClr val="000000"/>
                </a:solidFill>
                <a:latin typeface="Helvetica Neue"/>
                <a:ea typeface="Helvetica Neue"/>
                <a:cs typeface="Helvetica Neue"/>
              </a:rPr>
              <a:t>Define business meaning before collecting events</a:t>
            </a:r>
          </a:p>
        </p:txBody>
      </p:sp>
      <p:sp>
        <p:nvSpPr>
          <p:cNvPr id="2" name="line-55">
            <a:extLst xmlns:a="http://schemas.openxmlformats.org/drawingml/2006/main">
              <a:ext uri="{FF2B5EF4-FFF2-40B4-BE49-F238E27FC236}">
                <a16:creationId xmlns:a16="http://schemas.microsoft.com/office/drawing/2014/main" id="{51663738-CD93-454F-A7F0-980E2D4371AF}"/>
              </a:ext>
            </a:extLst>
          </p:cNvPr>
          <p:cNvSpPr>
            <a:spLocks xmlns:a="http://schemas.openxmlformats.org/drawingml/2006/main" noGrp="1"/>
          </p:cNvSpPr>
          <p:nvPr/>
        </p:nvSpPr>
        <p:spPr>
          <a:xfrm xmlns:a="http://schemas.openxmlformats.org/drawingml/2006/main">
            <a:off x="393668" y="1181100"/>
            <a:ext cx="11404568"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3" name="textbox-56">
            <a:extLst xmlns:a="http://schemas.openxmlformats.org/drawingml/2006/main">
              <a:ext uri="{FF2B5EF4-FFF2-40B4-BE49-F238E27FC236}">
                <a16:creationId xmlns:a16="http://schemas.microsoft.com/office/drawing/2014/main" id="{D7D60855-46FF-42CD-88E7-AE07BD6D957D}"/>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975" b="0" i="0">
                <a:solidFill>
                  <a:srgbClr val="000000"/>
                </a:solidFill>
                <a:latin typeface="Helvetica Neue"/>
                <a:ea typeface="Helvetica Neue"/>
                <a:cs typeface="Helvetica Neue"/>
              </a:defRPr>
            </a:pPr>
            <a:r>
              <a:rPr sz="975" b="0" i="0">
                <a:solidFill>
                  <a:srgbClr val="000000"/>
                </a:solidFill>
                <a:latin typeface="Helvetica Neue"/>
                <a:ea typeface="Helvetica Neue"/>
                <a:cs typeface="Helvetica Neue"/>
              </a:rPr>
              <a:t>04</a:t>
            </a:r>
          </a:p>
        </p:txBody>
      </p:sp>
      <p:sp>
        <p:nvSpPr>
          <p:cNvPr id="4" name="textbox-57">
            <a:extLst xmlns:a="http://schemas.openxmlformats.org/drawingml/2006/main">
              <a:ext uri="{FF2B5EF4-FFF2-40B4-BE49-F238E27FC236}">
                <a16:creationId xmlns:a16="http://schemas.microsoft.com/office/drawing/2014/main" id="{8D35EAD1-7896-4718-8EFC-7161D25DF101}"/>
              </a:ext>
            </a:extLst>
          </p:cNvPr>
          <p:cNvSpPr>
            <a:spLocks xmlns:a="http://schemas.openxmlformats.org/drawingml/2006/main" noGrp="1"/>
          </p:cNvSpPr>
          <p:nvPr/>
        </p:nvSpPr>
        <p:spPr>
          <a:xfrm xmlns:a="http://schemas.openxmlformats.org/drawingml/2006/main">
            <a:off x="393668" y="1333500"/>
            <a:ext cx="114014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132"/>
          </a:bodyPr>
          <a:lstStyle xmlns:a="http://schemas.openxmlformats.org/drawingml/2006/main"/>
          <a:p xmlns:a="http://schemas.openxmlformats.org/drawingml/2006/main">
            <a:pPr algn="l">
              <a:defRPr sz="1500" b="0" i="0">
                <a:solidFill>
                  <a:srgbClr val="656B73"/>
                </a:solidFill>
                <a:latin typeface="Helvetica Neue"/>
                <a:ea typeface="Helvetica Neue"/>
                <a:cs typeface="Helvetica Neue"/>
              </a:defRPr>
            </a:pPr>
            <a:r>
              <a:rPr sz="1500" b="0" i="0">
                <a:solidFill>
                  <a:srgbClr val="656B73"/>
                </a:solidFill>
                <a:latin typeface="Helvetica Neue"/>
                <a:ea typeface="Helvetica Neue"/>
                <a:cs typeface="Helvetica Neue"/>
              </a:rPr>
              <a:t>The measurement contract is documentation and executable configuration: names, firing conditions, consent, ownership, and mappings.</a:t>
            </a:r>
          </a:p>
        </p:txBody>
      </p:sp>
      <p:sp>
        <p:nvSpPr>
          <p:cNvPr id="5" name="roundRect-58">
            <a:extLst xmlns:a="http://schemas.openxmlformats.org/drawingml/2006/main">
              <a:ext uri="{FF2B5EF4-FFF2-40B4-BE49-F238E27FC236}">
                <a16:creationId xmlns:a16="http://schemas.microsoft.com/office/drawing/2014/main" id="{1B2750B3-24BA-49E2-B50D-575228E17789}"/>
              </a:ext>
            </a:extLst>
          </p:cNvPr>
          <p:cNvSpPr>
            <a:spLocks xmlns:a="http://schemas.openxmlformats.org/drawingml/2006/main" noGrp="1"/>
          </p:cNvSpPr>
          <p:nvPr/>
        </p:nvSpPr>
        <p:spPr>
          <a:xfrm xmlns:a="http://schemas.openxmlformats.org/drawingml/2006/main">
            <a:off x="393668" y="1866900"/>
            <a:ext cx="4610100" cy="3562350"/>
          </a:xfrm>
          <a:prstGeom xmlns:a="http://schemas.openxmlformats.org/drawingml/2006/main" prst="roundRect">
            <a:avLst>
              <a:gd name="adj" fmla="val 2139"/>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t">
            <a:noAutofit/>
          </a:bodyPr>
          <a:lstStyle xmlns:a="http://schemas.openxmlformats.org/drawingml/2006/main"/>
          <a:p xmlns:a="http://schemas.openxmlformats.org/drawingml/2006/main">
            <a:r>
              <a:t/>
            </a:r>
          </a:p>
        </p:txBody>
      </p:sp>
      <p:sp>
        <p:nvSpPr>
          <p:cNvPr id="6" name="textbox-59">
            <a:extLst xmlns:a="http://schemas.openxmlformats.org/drawingml/2006/main">
              <a:ext uri="{FF2B5EF4-FFF2-40B4-BE49-F238E27FC236}">
                <a16:creationId xmlns:a16="http://schemas.microsoft.com/office/drawing/2014/main" id="{EF49817C-637A-4F8B-A811-E6B20BC6D7A2}"/>
              </a:ext>
            </a:extLst>
          </p:cNvPr>
          <p:cNvSpPr>
            <a:spLocks xmlns:a="http://schemas.openxmlformats.org/drawingml/2006/main" noGrp="1"/>
          </p:cNvSpPr>
          <p:nvPr/>
        </p:nvSpPr>
        <p:spPr>
          <a:xfrm xmlns:a="http://schemas.openxmlformats.org/drawingml/2006/main">
            <a:off x="695325" y="211455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i="0">
                <a:solidFill>
                  <a:srgbClr val="3D8DFF"/>
                </a:solidFill>
                <a:latin typeface="Helvetica Neue"/>
                <a:ea typeface="Helvetica Neue"/>
                <a:cs typeface="Helvetica Neue"/>
              </a:defRPr>
            </a:pPr>
            <a:r>
              <a:rPr sz="2100" b="1" i="0">
                <a:solidFill>
                  <a:srgbClr val="3D8DFF"/>
                </a:solidFill>
                <a:latin typeface="Helvetica Neue"/>
                <a:ea typeface="Helvetica Neue"/>
                <a:cs typeface="Helvetica Neue"/>
              </a:rPr>
              <a:t>local_service_v1</a:t>
            </a:r>
          </a:p>
        </p:txBody>
      </p:sp>
      <p:sp>
        <p:nvSpPr>
          <p:cNvPr id="7" name="textbox-60">
            <a:extLst xmlns:a="http://schemas.openxmlformats.org/drawingml/2006/main">
              <a:ext uri="{FF2B5EF4-FFF2-40B4-BE49-F238E27FC236}">
                <a16:creationId xmlns:a16="http://schemas.microsoft.com/office/drawing/2014/main" id="{F6267C42-CFE6-4F53-9CC0-458CA5E6F18A}"/>
              </a:ext>
            </a:extLst>
          </p:cNvPr>
          <p:cNvSpPr>
            <a:spLocks xmlns:a="http://schemas.openxmlformats.org/drawingml/2006/main" noGrp="1"/>
          </p:cNvSpPr>
          <p:nvPr/>
        </p:nvSpPr>
        <p:spPr>
          <a:xfrm xmlns:a="http://schemas.openxmlformats.org/drawingml/2006/main">
            <a:off x="695325" y="263842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i="0">
                <a:solidFill>
                  <a:srgbClr val="000000"/>
                </a:solidFill>
                <a:latin typeface="Helvetica Neue"/>
                <a:ea typeface="Helvetica Neue"/>
                <a:cs typeface="Helvetica Neue"/>
              </a:defRPr>
            </a:pPr>
            <a:r>
              <a:rPr sz="1500" b="1" i="0">
                <a:solidFill>
                  <a:srgbClr val="000000"/>
                </a:solidFill>
                <a:latin typeface="Helvetica Neue"/>
                <a:ea typeface="Helvetica Neue"/>
                <a:cs typeface="Helvetica Neue"/>
              </a:rPr>
              <a:t>The contract defines:</a:t>
            </a:r>
          </a:p>
        </p:txBody>
      </p:sp>
      <p:sp>
        <p:nvSpPr>
          <p:cNvPr id="8" name="ellipse-61">
            <a:extLst xmlns:a="http://schemas.openxmlformats.org/drawingml/2006/main">
              <a:ext uri="{FF2B5EF4-FFF2-40B4-BE49-F238E27FC236}">
                <a16:creationId xmlns:a16="http://schemas.microsoft.com/office/drawing/2014/main" id="{7C783A1F-4101-44F6-BC71-2E8538FD84A7}"/>
              </a:ext>
            </a:extLst>
          </p:cNvPr>
          <p:cNvSpPr>
            <a:spLocks xmlns:a="http://schemas.openxmlformats.org/drawingml/2006/main" noGrp="1"/>
          </p:cNvSpPr>
          <p:nvPr/>
        </p:nvSpPr>
        <p:spPr>
          <a:xfrm xmlns:a="http://schemas.openxmlformats.org/drawingml/2006/main">
            <a:off x="695325" y="3114675"/>
            <a:ext cx="66675" cy="66675"/>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9" name="textbox-62">
            <a:extLst xmlns:a="http://schemas.openxmlformats.org/drawingml/2006/main">
              <a:ext uri="{FF2B5EF4-FFF2-40B4-BE49-F238E27FC236}">
                <a16:creationId xmlns:a16="http://schemas.microsoft.com/office/drawing/2014/main" id="{93AC204D-0649-4327-AD35-02576FAE6555}"/>
              </a:ext>
            </a:extLst>
          </p:cNvPr>
          <p:cNvSpPr>
            <a:spLocks xmlns:a="http://schemas.openxmlformats.org/drawingml/2006/main" noGrp="1"/>
          </p:cNvSpPr>
          <p:nvPr/>
        </p:nvSpPr>
        <p:spPr>
          <a:xfrm xmlns:a="http://schemas.openxmlformats.org/drawingml/2006/main">
            <a:off x="866775" y="3048000"/>
            <a:ext cx="36861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101010"/>
                </a:solidFill>
                <a:latin typeface="Helvetica Neue"/>
                <a:ea typeface="Helvetica Neue"/>
                <a:cs typeface="Helvetica Neue"/>
              </a:defRPr>
            </a:pPr>
            <a:r>
              <a:rPr sz="1275" b="0" i="0">
                <a:solidFill>
                  <a:srgbClr val="101010"/>
                </a:solidFill>
                <a:latin typeface="Helvetica Neue"/>
                <a:ea typeface="Helvetica Neue"/>
                <a:cs typeface="Helvetica Neue"/>
              </a:rPr>
              <a:t>Allowed events and exact firing conditions</a:t>
            </a:r>
          </a:p>
        </p:txBody>
      </p:sp>
      <p:sp>
        <p:nvSpPr>
          <p:cNvPr id="10" name="ellipse-63">
            <a:extLst xmlns:a="http://schemas.openxmlformats.org/drawingml/2006/main">
              <a:ext uri="{FF2B5EF4-FFF2-40B4-BE49-F238E27FC236}">
                <a16:creationId xmlns:a16="http://schemas.microsoft.com/office/drawing/2014/main" id="{8CCB3803-037E-4B91-AC39-0ED833CC5286}"/>
              </a:ext>
            </a:extLst>
          </p:cNvPr>
          <p:cNvSpPr>
            <a:spLocks xmlns:a="http://schemas.openxmlformats.org/drawingml/2006/main" noGrp="1"/>
          </p:cNvSpPr>
          <p:nvPr/>
        </p:nvSpPr>
        <p:spPr>
          <a:xfrm xmlns:a="http://schemas.openxmlformats.org/drawingml/2006/main">
            <a:off x="695325" y="3486150"/>
            <a:ext cx="66675" cy="66675"/>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1" name="textbox-64">
            <a:extLst xmlns:a="http://schemas.openxmlformats.org/drawingml/2006/main">
              <a:ext uri="{FF2B5EF4-FFF2-40B4-BE49-F238E27FC236}">
                <a16:creationId xmlns:a16="http://schemas.microsoft.com/office/drawing/2014/main" id="{79B552DA-AC24-4954-8E5A-1C0124709136}"/>
              </a:ext>
            </a:extLst>
          </p:cNvPr>
          <p:cNvSpPr>
            <a:spLocks xmlns:a="http://schemas.openxmlformats.org/drawingml/2006/main" noGrp="1"/>
          </p:cNvSpPr>
          <p:nvPr/>
        </p:nvSpPr>
        <p:spPr>
          <a:xfrm xmlns:a="http://schemas.openxmlformats.org/drawingml/2006/main">
            <a:off x="866775" y="3419475"/>
            <a:ext cx="36861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101010"/>
                </a:solidFill>
                <a:latin typeface="Helvetica Neue"/>
                <a:ea typeface="Helvetica Neue"/>
                <a:cs typeface="Helvetica Neue"/>
              </a:defRPr>
            </a:pPr>
            <a:r>
              <a:rPr sz="1275" b="0" i="0">
                <a:solidFill>
                  <a:srgbClr val="101010"/>
                </a:solidFill>
                <a:latin typeface="Helvetica Neue"/>
                <a:ea typeface="Helvetica Neue"/>
                <a:cs typeface="Helvetica Neue"/>
              </a:rPr>
              <a:t>Parameter types, values, and denylist patterns</a:t>
            </a:r>
          </a:p>
        </p:txBody>
      </p:sp>
      <p:sp>
        <p:nvSpPr>
          <p:cNvPr id="12" name="ellipse-65">
            <a:extLst xmlns:a="http://schemas.openxmlformats.org/drawingml/2006/main">
              <a:ext uri="{FF2B5EF4-FFF2-40B4-BE49-F238E27FC236}">
                <a16:creationId xmlns:a16="http://schemas.microsoft.com/office/drawing/2014/main" id="{3E464CDD-EF9A-41FD-9276-C2B23B173096}"/>
              </a:ext>
            </a:extLst>
          </p:cNvPr>
          <p:cNvSpPr>
            <a:spLocks xmlns:a="http://schemas.openxmlformats.org/drawingml/2006/main" noGrp="1"/>
          </p:cNvSpPr>
          <p:nvPr/>
        </p:nvSpPr>
        <p:spPr>
          <a:xfrm xmlns:a="http://schemas.openxmlformats.org/drawingml/2006/main">
            <a:off x="695325" y="3857625"/>
            <a:ext cx="66675" cy="66675"/>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3" name="textbox-66">
            <a:extLst xmlns:a="http://schemas.openxmlformats.org/drawingml/2006/main">
              <a:ext uri="{FF2B5EF4-FFF2-40B4-BE49-F238E27FC236}">
                <a16:creationId xmlns:a16="http://schemas.microsoft.com/office/drawing/2014/main" id="{1B76E1C3-4DE4-4FCF-B5F4-53E1E2F6E52A}"/>
              </a:ext>
            </a:extLst>
          </p:cNvPr>
          <p:cNvSpPr>
            <a:spLocks xmlns:a="http://schemas.openxmlformats.org/drawingml/2006/main" noGrp="1"/>
          </p:cNvSpPr>
          <p:nvPr/>
        </p:nvSpPr>
        <p:spPr>
          <a:xfrm xmlns:a="http://schemas.openxmlformats.org/drawingml/2006/main">
            <a:off x="866775" y="3790950"/>
            <a:ext cx="36861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101010"/>
                </a:solidFill>
                <a:latin typeface="Helvetica Neue"/>
                <a:ea typeface="Helvetica Neue"/>
                <a:cs typeface="Helvetica Neue"/>
              </a:defRPr>
            </a:pPr>
            <a:r>
              <a:rPr sz="1275" b="0" i="0">
                <a:solidFill>
                  <a:srgbClr val="101010"/>
                </a:solidFill>
                <a:latin typeface="Helvetica Neue"/>
                <a:ea typeface="Helvetica Neue"/>
                <a:cs typeface="Helvetica Neue"/>
              </a:rPr>
              <a:t>Collection owner: website, GTM, or Enhanced Measurement</a:t>
            </a:r>
          </a:p>
        </p:txBody>
      </p:sp>
      <p:sp>
        <p:nvSpPr>
          <p:cNvPr id="14" name="ellipse-67">
            <a:extLst xmlns:a="http://schemas.openxmlformats.org/drawingml/2006/main">
              <a:ext uri="{FF2B5EF4-FFF2-40B4-BE49-F238E27FC236}">
                <a16:creationId xmlns:a16="http://schemas.microsoft.com/office/drawing/2014/main" id="{73443D6A-F98E-4C3A-9800-0D5CAE66AC78}"/>
              </a:ext>
            </a:extLst>
          </p:cNvPr>
          <p:cNvSpPr>
            <a:spLocks xmlns:a="http://schemas.openxmlformats.org/drawingml/2006/main" noGrp="1"/>
          </p:cNvSpPr>
          <p:nvPr/>
        </p:nvSpPr>
        <p:spPr>
          <a:xfrm xmlns:a="http://schemas.openxmlformats.org/drawingml/2006/main">
            <a:off x="695325" y="4229100"/>
            <a:ext cx="66675" cy="66675"/>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5" name="textbox-68">
            <a:extLst xmlns:a="http://schemas.openxmlformats.org/drawingml/2006/main">
              <a:ext uri="{FF2B5EF4-FFF2-40B4-BE49-F238E27FC236}">
                <a16:creationId xmlns:a16="http://schemas.microsoft.com/office/drawing/2014/main" id="{C57C2A21-B5D5-493B-8BD7-495293382EEC}"/>
              </a:ext>
            </a:extLst>
          </p:cNvPr>
          <p:cNvSpPr>
            <a:spLocks xmlns:a="http://schemas.openxmlformats.org/drawingml/2006/main" noGrp="1"/>
          </p:cNvSpPr>
          <p:nvPr/>
        </p:nvSpPr>
        <p:spPr>
          <a:xfrm xmlns:a="http://schemas.openxmlformats.org/drawingml/2006/main">
            <a:off x="866775" y="4162425"/>
            <a:ext cx="36861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101010"/>
                </a:solidFill>
                <a:latin typeface="Helvetica Neue"/>
                <a:ea typeface="Helvetica Neue"/>
                <a:cs typeface="Helvetica Neue"/>
              </a:defRPr>
            </a:pPr>
            <a:r>
              <a:rPr sz="1275" b="0" i="0">
                <a:solidFill>
                  <a:srgbClr val="101010"/>
                </a:solidFill>
                <a:latin typeface="Helvetica Neue"/>
                <a:ea typeface="Helvetica Neue"/>
                <a:cs typeface="Helvetica Neue"/>
              </a:rPr>
              <a:t>Consent requirements and industry restrictions</a:t>
            </a:r>
          </a:p>
        </p:txBody>
      </p:sp>
      <p:sp>
        <p:nvSpPr>
          <p:cNvPr id="16" name="ellipse-69">
            <a:extLst xmlns:a="http://schemas.openxmlformats.org/drawingml/2006/main">
              <a:ext uri="{FF2B5EF4-FFF2-40B4-BE49-F238E27FC236}">
                <a16:creationId xmlns:a16="http://schemas.microsoft.com/office/drawing/2014/main" id="{3B1C0FBD-E28F-4DA4-A01A-4B758D0F11C8}"/>
              </a:ext>
            </a:extLst>
          </p:cNvPr>
          <p:cNvSpPr>
            <a:spLocks xmlns:a="http://schemas.openxmlformats.org/drawingml/2006/main" noGrp="1"/>
          </p:cNvSpPr>
          <p:nvPr/>
        </p:nvSpPr>
        <p:spPr>
          <a:xfrm xmlns:a="http://schemas.openxmlformats.org/drawingml/2006/main">
            <a:off x="695325" y="4600575"/>
            <a:ext cx="66675" cy="66675"/>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7" name="textbox-70">
            <a:extLst xmlns:a="http://schemas.openxmlformats.org/drawingml/2006/main">
              <a:ext uri="{FF2B5EF4-FFF2-40B4-BE49-F238E27FC236}">
                <a16:creationId xmlns:a16="http://schemas.microsoft.com/office/drawing/2014/main" id="{A2725285-34C5-42D2-AEA4-1C61DB790EC0}"/>
              </a:ext>
            </a:extLst>
          </p:cNvPr>
          <p:cNvSpPr>
            <a:spLocks xmlns:a="http://schemas.openxmlformats.org/drawingml/2006/main" noGrp="1"/>
          </p:cNvSpPr>
          <p:nvPr/>
        </p:nvSpPr>
        <p:spPr>
          <a:xfrm xmlns:a="http://schemas.openxmlformats.org/drawingml/2006/main">
            <a:off x="866775" y="4533900"/>
            <a:ext cx="36861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101010"/>
                </a:solidFill>
                <a:latin typeface="Helvetica Neue"/>
                <a:ea typeface="Helvetica Neue"/>
                <a:cs typeface="Helvetica Neue"/>
              </a:defRPr>
            </a:pPr>
            <a:r>
              <a:rPr sz="1275" b="0" i="0">
                <a:solidFill>
                  <a:srgbClr val="101010"/>
                </a:solidFill>
                <a:latin typeface="Helvetica Neue"/>
                <a:ea typeface="Helvetica Neue"/>
                <a:cs typeface="Helvetica Neue"/>
              </a:rPr>
              <a:t>Source event → canonical metric mapping</a:t>
            </a:r>
          </a:p>
        </p:txBody>
      </p:sp>
      <p:sp>
        <p:nvSpPr>
          <p:cNvPr id="18" name="textbox-71">
            <a:extLst xmlns:a="http://schemas.openxmlformats.org/drawingml/2006/main">
              <a:ext uri="{FF2B5EF4-FFF2-40B4-BE49-F238E27FC236}">
                <a16:creationId xmlns:a16="http://schemas.microsoft.com/office/drawing/2014/main" id="{76E71403-CBD5-4053-9D6F-7A0E26F52809}"/>
              </a:ext>
            </a:extLst>
          </p:cNvPr>
          <p:cNvSpPr>
            <a:spLocks xmlns:a="http://schemas.openxmlformats.org/drawingml/2006/main" noGrp="1"/>
          </p:cNvSpPr>
          <p:nvPr/>
        </p:nvSpPr>
        <p:spPr>
          <a:xfrm xmlns:a="http://schemas.openxmlformats.org/drawingml/2006/main">
            <a:off x="695325" y="4953000"/>
            <a:ext cx="3829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542"/>
          </a:bodyPr>
          <a:lstStyle xmlns:a="http://schemas.openxmlformats.org/drawingml/2006/main"/>
          <a:p xmlns:a="http://schemas.openxmlformats.org/drawingml/2006/main">
            <a:pPr algn="l">
              <a:defRPr sz="1200" b="0" i="0">
                <a:solidFill>
                  <a:srgbClr val="656B73"/>
                </a:solidFill>
                <a:latin typeface="Helvetica Neue"/>
                <a:ea typeface="Helvetica Neue"/>
                <a:cs typeface="Helvetica Neue"/>
              </a:defRPr>
            </a:pPr>
            <a:r>
              <a:rPr sz="1200" b="0" i="0">
                <a:solidFill>
                  <a:srgbClr val="656B73"/>
                </a:solidFill>
                <a:latin typeface="Helvetica Neue"/>
                <a:ea typeface="Helvetica Neue"/>
                <a:cs typeface="Helvetica Neue"/>
              </a:rPr>
              <a:t>Source facts stay immutable; mappings are effective-dated and versioned.</a:t>
            </a:r>
          </a:p>
        </p:txBody>
      </p:sp>
      <p:sp>
        <p:nvSpPr>
          <p:cNvPr id="19" name="textbox-72">
            <a:extLst xmlns:a="http://schemas.openxmlformats.org/drawingml/2006/main">
              <a:ext uri="{FF2B5EF4-FFF2-40B4-BE49-F238E27FC236}">
                <a16:creationId xmlns:a16="http://schemas.microsoft.com/office/drawing/2014/main" id="{68B7EA50-FD10-41C8-B403-CD466C6F527D}"/>
              </a:ext>
            </a:extLst>
          </p:cNvPr>
          <p:cNvSpPr>
            <a:spLocks xmlns:a="http://schemas.openxmlformats.org/drawingml/2006/main" noGrp="1"/>
          </p:cNvSpPr>
          <p:nvPr/>
        </p:nvSpPr>
        <p:spPr>
          <a:xfrm xmlns:a="http://schemas.openxmlformats.org/drawingml/2006/main">
            <a:off x="5695950" y="1924050"/>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000000"/>
                </a:solidFill>
                <a:latin typeface="Helvetica Neue"/>
                <a:ea typeface="Helvetica Neue"/>
                <a:cs typeface="Helvetica Neue"/>
              </a:defRPr>
            </a:pPr>
            <a:r>
              <a:rPr sz="1800" b="1" i="0">
                <a:solidFill>
                  <a:srgbClr val="000000"/>
                </a:solidFill>
                <a:latin typeface="Helvetica Neue"/>
                <a:ea typeface="Helvetica Neue"/>
                <a:cs typeface="Helvetica Neue"/>
              </a:rPr>
              <a:t>Canonical funnel stages</a:t>
            </a:r>
          </a:p>
        </p:txBody>
      </p:sp>
      <p:sp>
        <p:nvSpPr>
          <p:cNvPr id="20" name="line-73">
            <a:extLst xmlns:a="http://schemas.openxmlformats.org/drawingml/2006/main">
              <a:ext uri="{FF2B5EF4-FFF2-40B4-BE49-F238E27FC236}">
                <a16:creationId xmlns:a16="http://schemas.microsoft.com/office/drawing/2014/main" id="{45DC9546-BE85-4E4D-83FF-50B82D42C40C}"/>
              </a:ext>
            </a:extLst>
          </p:cNvPr>
          <p:cNvSpPr>
            <a:spLocks xmlns:a="http://schemas.openxmlformats.org/drawingml/2006/main" noGrp="1"/>
          </p:cNvSpPr>
          <p:nvPr/>
        </p:nvSpPr>
        <p:spPr>
          <a:xfrm xmlns:a="http://schemas.openxmlformats.org/drawingml/2006/main">
            <a:off x="6019800" y="2476500"/>
            <a:ext cx="0" cy="2590800"/>
          </a:xfrm>
          <a:prstGeom xmlns:a="http://schemas.openxmlformats.org/drawingml/2006/main" prst="line">
            <a:avLst/>
          </a:prstGeom>
          <a:noFill xmlns:a="http://schemas.openxmlformats.org/drawingml/2006/main"/>
          <a:ln xmlns:a="http://schemas.openxmlformats.org/drawingml/2006/main" w="19050">
            <a:solidFill>
              <a:srgbClr val="B8BCC4"/>
            </a:solidFill>
            <a:prstDash val="solid"/>
          </a:ln>
        </p:spPr>
      </p:sp>
      <p:sp>
        <p:nvSpPr>
          <p:cNvPr id="21" name="ellipse-74">
            <a:extLst xmlns:a="http://schemas.openxmlformats.org/drawingml/2006/main">
              <a:ext uri="{FF2B5EF4-FFF2-40B4-BE49-F238E27FC236}">
                <a16:creationId xmlns:a16="http://schemas.microsoft.com/office/drawing/2014/main" id="{8B04BDF8-A424-47F1-88BD-643101BEBA33}"/>
              </a:ext>
            </a:extLst>
          </p:cNvPr>
          <p:cNvSpPr>
            <a:spLocks xmlns:a="http://schemas.openxmlformats.org/drawingml/2006/main" noGrp="1"/>
          </p:cNvSpPr>
          <p:nvPr/>
        </p:nvSpPr>
        <p:spPr>
          <a:xfrm xmlns:a="http://schemas.openxmlformats.org/drawingml/2006/main">
            <a:off x="5905500" y="2457450"/>
            <a:ext cx="123825" cy="123825"/>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22" name="textbox-75">
            <a:extLst xmlns:a="http://schemas.openxmlformats.org/drawingml/2006/main">
              <a:ext uri="{FF2B5EF4-FFF2-40B4-BE49-F238E27FC236}">
                <a16:creationId xmlns:a16="http://schemas.microsoft.com/office/drawing/2014/main" id="{A4F944CD-FA9E-4326-836E-55277B6B9080}"/>
              </a:ext>
            </a:extLst>
          </p:cNvPr>
          <p:cNvSpPr>
            <a:spLocks xmlns:a="http://schemas.openxmlformats.org/drawingml/2006/main" noGrp="1"/>
          </p:cNvSpPr>
          <p:nvPr/>
        </p:nvSpPr>
        <p:spPr>
          <a:xfrm xmlns:a="http://schemas.openxmlformats.org/drawingml/2006/main">
            <a:off x="6191250" y="2381250"/>
            <a:ext cx="1885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i="0">
                <a:solidFill>
                  <a:srgbClr val="656B73"/>
                </a:solidFill>
                <a:latin typeface="Helvetica Neue"/>
                <a:ea typeface="Helvetica Neue"/>
                <a:cs typeface="Helvetica Neue"/>
              </a:defRPr>
            </a:pPr>
            <a:r>
              <a:rPr sz="1200" b="1" i="0">
                <a:solidFill>
                  <a:srgbClr val="656B73"/>
                </a:solidFill>
                <a:latin typeface="Helvetica Neue"/>
                <a:ea typeface="Helvetica Neue"/>
                <a:cs typeface="Helvetica Neue"/>
              </a:rPr>
              <a:t>Form intent</a:t>
            </a:r>
          </a:p>
        </p:txBody>
      </p:sp>
      <p:sp>
        <p:nvSpPr>
          <p:cNvPr id="23" name="textbox-76">
            <a:extLst xmlns:a="http://schemas.openxmlformats.org/drawingml/2006/main">
              <a:ext uri="{FF2B5EF4-FFF2-40B4-BE49-F238E27FC236}">
                <a16:creationId xmlns:a16="http://schemas.microsoft.com/office/drawing/2014/main" id="{83BC7D27-7B32-469F-B162-EA12DBEBF3EE}"/>
              </a:ext>
            </a:extLst>
          </p:cNvPr>
          <p:cNvSpPr>
            <a:spLocks xmlns:a="http://schemas.openxmlformats.org/drawingml/2006/main" noGrp="1"/>
          </p:cNvSpPr>
          <p:nvPr/>
        </p:nvSpPr>
        <p:spPr>
          <a:xfrm xmlns:a="http://schemas.openxmlformats.org/drawingml/2006/main">
            <a:off x="7848600" y="2381250"/>
            <a:ext cx="1600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i="0">
                <a:solidFill>
                  <a:srgbClr val="000000"/>
                </a:solidFill>
                <a:latin typeface="Helvetica Neue"/>
                <a:ea typeface="Helvetica Neue"/>
                <a:cs typeface="Helvetica Neue"/>
              </a:defRPr>
            </a:pPr>
            <a:r>
              <a:rPr sz="1575" b="1" i="0">
                <a:solidFill>
                  <a:srgbClr val="000000"/>
                </a:solidFill>
                <a:latin typeface="Helvetica Neue"/>
                <a:ea typeface="Helvetica Neue"/>
                <a:cs typeface="Helvetica Neue"/>
              </a:rPr>
              <a:t>form_start</a:t>
            </a:r>
          </a:p>
        </p:txBody>
      </p:sp>
      <p:sp>
        <p:nvSpPr>
          <p:cNvPr id="24" name="textbox-77">
            <a:extLst xmlns:a="http://schemas.openxmlformats.org/drawingml/2006/main">
              <a:ext uri="{FF2B5EF4-FFF2-40B4-BE49-F238E27FC236}">
                <a16:creationId xmlns:a16="http://schemas.microsoft.com/office/drawing/2014/main" id="{89BEA3D0-7B2E-469F-B3C3-792705E42DDE}"/>
              </a:ext>
            </a:extLst>
          </p:cNvPr>
          <p:cNvSpPr>
            <a:spLocks xmlns:a="http://schemas.openxmlformats.org/drawingml/2006/main" noGrp="1"/>
          </p:cNvSpPr>
          <p:nvPr/>
        </p:nvSpPr>
        <p:spPr>
          <a:xfrm xmlns:a="http://schemas.openxmlformats.org/drawingml/2006/main">
            <a:off x="9563100" y="2381250"/>
            <a:ext cx="1943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i="0">
                <a:solidFill>
                  <a:srgbClr val="656B73"/>
                </a:solidFill>
                <a:latin typeface="Helvetica Neue"/>
                <a:ea typeface="Helvetica Neue"/>
                <a:cs typeface="Helvetica Neue"/>
              </a:defRPr>
            </a:pPr>
            <a:r>
              <a:rPr sz="1200" b="0" i="0">
                <a:solidFill>
                  <a:srgbClr val="656B73"/>
                </a:solidFill>
                <a:latin typeface="Helvetica Neue"/>
                <a:ea typeface="Helvetica Neue"/>
                <a:cs typeface="Helvetica Neue"/>
              </a:rPr>
              <a:t>engagement signal</a:t>
            </a:r>
          </a:p>
        </p:txBody>
      </p:sp>
      <p:sp>
        <p:nvSpPr>
          <p:cNvPr id="25" name="ellipse-78">
            <a:extLst xmlns:a="http://schemas.openxmlformats.org/drawingml/2006/main">
              <a:ext uri="{FF2B5EF4-FFF2-40B4-BE49-F238E27FC236}">
                <a16:creationId xmlns:a16="http://schemas.microsoft.com/office/drawing/2014/main" id="{62C74810-B4E1-4D12-9130-60701ED68AAC}"/>
              </a:ext>
            </a:extLst>
          </p:cNvPr>
          <p:cNvSpPr>
            <a:spLocks xmlns:a="http://schemas.openxmlformats.org/drawingml/2006/main" noGrp="1"/>
          </p:cNvSpPr>
          <p:nvPr/>
        </p:nvSpPr>
        <p:spPr>
          <a:xfrm xmlns:a="http://schemas.openxmlformats.org/drawingml/2006/main">
            <a:off x="5905500" y="2971800"/>
            <a:ext cx="123825" cy="123825"/>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26" name="textbox-79">
            <a:extLst xmlns:a="http://schemas.openxmlformats.org/drawingml/2006/main">
              <a:ext uri="{FF2B5EF4-FFF2-40B4-BE49-F238E27FC236}">
                <a16:creationId xmlns:a16="http://schemas.microsoft.com/office/drawing/2014/main" id="{1D01C816-5436-4752-91C1-67F5FD1755CD}"/>
              </a:ext>
            </a:extLst>
          </p:cNvPr>
          <p:cNvSpPr>
            <a:spLocks xmlns:a="http://schemas.openxmlformats.org/drawingml/2006/main" noGrp="1"/>
          </p:cNvSpPr>
          <p:nvPr/>
        </p:nvSpPr>
        <p:spPr>
          <a:xfrm xmlns:a="http://schemas.openxmlformats.org/drawingml/2006/main">
            <a:off x="6191250" y="2895600"/>
            <a:ext cx="1885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i="0">
                <a:solidFill>
                  <a:srgbClr val="656B73"/>
                </a:solidFill>
                <a:latin typeface="Helvetica Neue"/>
                <a:ea typeface="Helvetica Neue"/>
                <a:cs typeface="Helvetica Neue"/>
              </a:defRPr>
            </a:pPr>
            <a:r>
              <a:rPr sz="1200" b="1" i="0">
                <a:solidFill>
                  <a:srgbClr val="656B73"/>
                </a:solidFill>
                <a:latin typeface="Helvetica Neue"/>
                <a:ea typeface="Helvetica Neue"/>
                <a:cs typeface="Helvetica Neue"/>
              </a:rPr>
              <a:t>Technical submission</a:t>
            </a:r>
          </a:p>
        </p:txBody>
      </p:sp>
      <p:sp>
        <p:nvSpPr>
          <p:cNvPr id="27" name="textbox-80">
            <a:extLst xmlns:a="http://schemas.openxmlformats.org/drawingml/2006/main">
              <a:ext uri="{FF2B5EF4-FFF2-40B4-BE49-F238E27FC236}">
                <a16:creationId xmlns:a16="http://schemas.microsoft.com/office/drawing/2014/main" id="{161B0476-625C-4D38-992D-B8A08EA6046E}"/>
              </a:ext>
            </a:extLst>
          </p:cNvPr>
          <p:cNvSpPr>
            <a:spLocks xmlns:a="http://schemas.openxmlformats.org/drawingml/2006/main" noGrp="1"/>
          </p:cNvSpPr>
          <p:nvPr/>
        </p:nvSpPr>
        <p:spPr>
          <a:xfrm xmlns:a="http://schemas.openxmlformats.org/drawingml/2006/main">
            <a:off x="7848600" y="2895600"/>
            <a:ext cx="1600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i="0">
                <a:solidFill>
                  <a:srgbClr val="000000"/>
                </a:solidFill>
                <a:latin typeface="Helvetica Neue"/>
                <a:ea typeface="Helvetica Neue"/>
                <a:cs typeface="Helvetica Neue"/>
              </a:defRPr>
            </a:pPr>
            <a:r>
              <a:rPr sz="1575" b="1" i="0">
                <a:solidFill>
                  <a:srgbClr val="000000"/>
                </a:solidFill>
                <a:latin typeface="Helvetica Neue"/>
                <a:ea typeface="Helvetica Neue"/>
                <a:cs typeface="Helvetica Neue"/>
              </a:rPr>
              <a:t>form_submit</a:t>
            </a:r>
          </a:p>
        </p:txBody>
      </p:sp>
      <p:sp>
        <p:nvSpPr>
          <p:cNvPr id="28" name="textbox-81">
            <a:extLst xmlns:a="http://schemas.openxmlformats.org/drawingml/2006/main">
              <a:ext uri="{FF2B5EF4-FFF2-40B4-BE49-F238E27FC236}">
                <a16:creationId xmlns:a16="http://schemas.microsoft.com/office/drawing/2014/main" id="{5F84BC6D-25C0-4C71-B434-4EB83E036BCD}"/>
              </a:ext>
            </a:extLst>
          </p:cNvPr>
          <p:cNvSpPr>
            <a:spLocks xmlns:a="http://schemas.openxmlformats.org/drawingml/2006/main" noGrp="1"/>
          </p:cNvSpPr>
          <p:nvPr/>
        </p:nvSpPr>
        <p:spPr>
          <a:xfrm xmlns:a="http://schemas.openxmlformats.org/drawingml/2006/main">
            <a:off x="9563100" y="2895600"/>
            <a:ext cx="1943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3333"/>
          </a:bodyPr>
          <a:lstStyle xmlns:a="http://schemas.openxmlformats.org/drawingml/2006/main"/>
          <a:p xmlns:a="http://schemas.openxmlformats.org/drawingml/2006/main">
            <a:pPr algn="l">
              <a:defRPr sz="1200" b="0" i="0">
                <a:solidFill>
                  <a:srgbClr val="656B73"/>
                </a:solidFill>
                <a:latin typeface="Helvetica Neue"/>
                <a:ea typeface="Helvetica Neue"/>
                <a:cs typeface="Helvetica Neue"/>
              </a:defRPr>
            </a:pPr>
            <a:r>
              <a:rPr sz="1200" b="0" i="0">
                <a:solidFill>
                  <a:srgbClr val="656B73"/>
                </a:solidFill>
                <a:latin typeface="Helvetica Neue"/>
                <a:ea typeface="Helvetica Neue"/>
                <a:cs typeface="Helvetica Neue"/>
              </a:rPr>
              <a:t>submission, not automatically a lead</a:t>
            </a:r>
          </a:p>
        </p:txBody>
      </p:sp>
      <p:sp>
        <p:nvSpPr>
          <p:cNvPr id="29" name="ellipse-82">
            <a:extLst xmlns:a="http://schemas.openxmlformats.org/drawingml/2006/main">
              <a:ext uri="{FF2B5EF4-FFF2-40B4-BE49-F238E27FC236}">
                <a16:creationId xmlns:a16="http://schemas.microsoft.com/office/drawing/2014/main" id="{603F09BD-1A20-4C85-AC60-B5C2B52B050A}"/>
              </a:ext>
            </a:extLst>
          </p:cNvPr>
          <p:cNvSpPr>
            <a:spLocks xmlns:a="http://schemas.openxmlformats.org/drawingml/2006/main" noGrp="1"/>
          </p:cNvSpPr>
          <p:nvPr/>
        </p:nvSpPr>
        <p:spPr>
          <a:xfrm xmlns:a="http://schemas.openxmlformats.org/drawingml/2006/main">
            <a:off x="5905500" y="3486150"/>
            <a:ext cx="123825" cy="123825"/>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30" name="textbox-83">
            <a:extLst xmlns:a="http://schemas.openxmlformats.org/drawingml/2006/main">
              <a:ext uri="{FF2B5EF4-FFF2-40B4-BE49-F238E27FC236}">
                <a16:creationId xmlns:a16="http://schemas.microsoft.com/office/drawing/2014/main" id="{1AA368C4-087B-42F3-A758-524D9B3FE7BA}"/>
              </a:ext>
            </a:extLst>
          </p:cNvPr>
          <p:cNvSpPr>
            <a:spLocks xmlns:a="http://schemas.openxmlformats.org/drawingml/2006/main" noGrp="1"/>
          </p:cNvSpPr>
          <p:nvPr/>
        </p:nvSpPr>
        <p:spPr>
          <a:xfrm xmlns:a="http://schemas.openxmlformats.org/drawingml/2006/main">
            <a:off x="6191250" y="3409950"/>
            <a:ext cx="1885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i="0">
                <a:solidFill>
                  <a:srgbClr val="656B73"/>
                </a:solidFill>
                <a:latin typeface="Helvetica Neue"/>
                <a:ea typeface="Helvetica Neue"/>
                <a:cs typeface="Helvetica Neue"/>
              </a:defRPr>
            </a:pPr>
            <a:r>
              <a:rPr sz="1200" b="1" i="0">
                <a:solidFill>
                  <a:srgbClr val="656B73"/>
                </a:solidFill>
                <a:latin typeface="Helvetica Neue"/>
                <a:ea typeface="Helvetica Neue"/>
                <a:cs typeface="Helvetica Neue"/>
              </a:rPr>
              <a:t>Lead generated</a:t>
            </a:r>
          </a:p>
        </p:txBody>
      </p:sp>
      <p:sp>
        <p:nvSpPr>
          <p:cNvPr id="31" name="textbox-84">
            <a:extLst xmlns:a="http://schemas.openxmlformats.org/drawingml/2006/main">
              <a:ext uri="{FF2B5EF4-FFF2-40B4-BE49-F238E27FC236}">
                <a16:creationId xmlns:a16="http://schemas.microsoft.com/office/drawing/2014/main" id="{15400A6A-9904-4798-A777-082D853249E7}"/>
              </a:ext>
            </a:extLst>
          </p:cNvPr>
          <p:cNvSpPr>
            <a:spLocks xmlns:a="http://schemas.openxmlformats.org/drawingml/2006/main" noGrp="1"/>
          </p:cNvSpPr>
          <p:nvPr/>
        </p:nvSpPr>
        <p:spPr>
          <a:xfrm xmlns:a="http://schemas.openxmlformats.org/drawingml/2006/main">
            <a:off x="7848600" y="3409950"/>
            <a:ext cx="1600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i="0">
                <a:solidFill>
                  <a:srgbClr val="000000"/>
                </a:solidFill>
                <a:latin typeface="Helvetica Neue"/>
                <a:ea typeface="Helvetica Neue"/>
                <a:cs typeface="Helvetica Neue"/>
              </a:defRPr>
            </a:pPr>
            <a:r>
              <a:rPr sz="1575" b="1" i="0">
                <a:solidFill>
                  <a:srgbClr val="000000"/>
                </a:solidFill>
                <a:latin typeface="Helvetica Neue"/>
                <a:ea typeface="Helvetica Neue"/>
                <a:cs typeface="Helvetica Neue"/>
              </a:rPr>
              <a:t>generate_lead</a:t>
            </a:r>
          </a:p>
        </p:txBody>
      </p:sp>
      <p:sp>
        <p:nvSpPr>
          <p:cNvPr id="32" name="textbox-85">
            <a:extLst xmlns:a="http://schemas.openxmlformats.org/drawingml/2006/main">
              <a:ext uri="{FF2B5EF4-FFF2-40B4-BE49-F238E27FC236}">
                <a16:creationId xmlns:a16="http://schemas.microsoft.com/office/drawing/2014/main" id="{B283D010-CC24-4C0A-97A3-73AB6365D50F}"/>
              </a:ext>
            </a:extLst>
          </p:cNvPr>
          <p:cNvSpPr>
            <a:spLocks xmlns:a="http://schemas.openxmlformats.org/drawingml/2006/main" noGrp="1"/>
          </p:cNvSpPr>
          <p:nvPr/>
        </p:nvSpPr>
        <p:spPr>
          <a:xfrm xmlns:a="http://schemas.openxmlformats.org/drawingml/2006/main">
            <a:off x="9563100" y="3409950"/>
            <a:ext cx="1943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i="0">
                <a:solidFill>
                  <a:srgbClr val="656B73"/>
                </a:solidFill>
                <a:latin typeface="Helvetica Neue"/>
                <a:ea typeface="Helvetica Neue"/>
                <a:cs typeface="Helvetica Neue"/>
              </a:defRPr>
            </a:pPr>
            <a:r>
              <a:rPr sz="1200" b="0" i="0">
                <a:solidFill>
                  <a:srgbClr val="656B73"/>
                </a:solidFill>
                <a:latin typeface="Helvetica Neue"/>
                <a:ea typeface="Helvetica Neue"/>
                <a:cs typeface="Helvetica Neue"/>
              </a:rPr>
              <a:t>valid lead request received</a:t>
            </a:r>
          </a:p>
        </p:txBody>
      </p:sp>
      <p:sp>
        <p:nvSpPr>
          <p:cNvPr id="33" name="ellipse-86">
            <a:extLst xmlns:a="http://schemas.openxmlformats.org/drawingml/2006/main">
              <a:ext uri="{FF2B5EF4-FFF2-40B4-BE49-F238E27FC236}">
                <a16:creationId xmlns:a16="http://schemas.microsoft.com/office/drawing/2014/main" id="{FA8E7153-63DB-40E9-9353-9220E7D73098}"/>
              </a:ext>
            </a:extLst>
          </p:cNvPr>
          <p:cNvSpPr>
            <a:spLocks xmlns:a="http://schemas.openxmlformats.org/drawingml/2006/main" noGrp="1"/>
          </p:cNvSpPr>
          <p:nvPr/>
        </p:nvSpPr>
        <p:spPr>
          <a:xfrm xmlns:a="http://schemas.openxmlformats.org/drawingml/2006/main">
            <a:off x="5905500" y="4000500"/>
            <a:ext cx="123825" cy="123825"/>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34" name="textbox-87">
            <a:extLst xmlns:a="http://schemas.openxmlformats.org/drawingml/2006/main">
              <a:ext uri="{FF2B5EF4-FFF2-40B4-BE49-F238E27FC236}">
                <a16:creationId xmlns:a16="http://schemas.microsoft.com/office/drawing/2014/main" id="{55A2FD5F-9660-4CE5-9E73-6ECE0AB40949}"/>
              </a:ext>
            </a:extLst>
          </p:cNvPr>
          <p:cNvSpPr>
            <a:spLocks xmlns:a="http://schemas.openxmlformats.org/drawingml/2006/main" noGrp="1"/>
          </p:cNvSpPr>
          <p:nvPr/>
        </p:nvSpPr>
        <p:spPr>
          <a:xfrm xmlns:a="http://schemas.openxmlformats.org/drawingml/2006/main">
            <a:off x="6191250" y="3924300"/>
            <a:ext cx="1885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i="0">
                <a:solidFill>
                  <a:srgbClr val="656B73"/>
                </a:solidFill>
                <a:latin typeface="Helvetica Neue"/>
                <a:ea typeface="Helvetica Neue"/>
                <a:cs typeface="Helvetica Neue"/>
              </a:defRPr>
            </a:pPr>
            <a:r>
              <a:rPr sz="1200" b="1" i="0">
                <a:solidFill>
                  <a:srgbClr val="656B73"/>
                </a:solidFill>
                <a:latin typeface="Helvetica Neue"/>
                <a:ea typeface="Helvetica Neue"/>
                <a:cs typeface="Helvetica Neue"/>
              </a:rPr>
              <a:t>Qualified lead</a:t>
            </a:r>
          </a:p>
        </p:txBody>
      </p:sp>
      <p:sp>
        <p:nvSpPr>
          <p:cNvPr id="35" name="textbox-88">
            <a:extLst xmlns:a="http://schemas.openxmlformats.org/drawingml/2006/main">
              <a:ext uri="{FF2B5EF4-FFF2-40B4-BE49-F238E27FC236}">
                <a16:creationId xmlns:a16="http://schemas.microsoft.com/office/drawing/2014/main" id="{6577E506-FC5A-4C4A-AE20-5C4B56F2927B}"/>
              </a:ext>
            </a:extLst>
          </p:cNvPr>
          <p:cNvSpPr>
            <a:spLocks xmlns:a="http://schemas.openxmlformats.org/drawingml/2006/main" noGrp="1"/>
          </p:cNvSpPr>
          <p:nvPr/>
        </p:nvSpPr>
        <p:spPr>
          <a:xfrm xmlns:a="http://schemas.openxmlformats.org/drawingml/2006/main">
            <a:off x="7848600" y="3924300"/>
            <a:ext cx="1600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i="0">
                <a:solidFill>
                  <a:srgbClr val="000000"/>
                </a:solidFill>
                <a:latin typeface="Helvetica Neue"/>
                <a:ea typeface="Helvetica Neue"/>
                <a:cs typeface="Helvetica Neue"/>
              </a:defRPr>
            </a:pPr>
            <a:r>
              <a:rPr sz="1575" b="1" i="0">
                <a:solidFill>
                  <a:srgbClr val="000000"/>
                </a:solidFill>
                <a:latin typeface="Helvetica Neue"/>
                <a:ea typeface="Helvetica Neue"/>
                <a:cs typeface="Helvetica Neue"/>
              </a:rPr>
              <a:t>CRM event</a:t>
            </a:r>
          </a:p>
        </p:txBody>
      </p:sp>
      <p:sp>
        <p:nvSpPr>
          <p:cNvPr id="36" name="textbox-89">
            <a:extLst xmlns:a="http://schemas.openxmlformats.org/drawingml/2006/main">
              <a:ext uri="{FF2B5EF4-FFF2-40B4-BE49-F238E27FC236}">
                <a16:creationId xmlns:a16="http://schemas.microsoft.com/office/drawing/2014/main" id="{84269A50-F4A4-44CC-A785-2273A93E0D50}"/>
              </a:ext>
            </a:extLst>
          </p:cNvPr>
          <p:cNvSpPr>
            <a:spLocks xmlns:a="http://schemas.openxmlformats.org/drawingml/2006/main" noGrp="1"/>
          </p:cNvSpPr>
          <p:nvPr/>
        </p:nvSpPr>
        <p:spPr>
          <a:xfrm xmlns:a="http://schemas.openxmlformats.org/drawingml/2006/main">
            <a:off x="9563100" y="3924300"/>
            <a:ext cx="1943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i="0">
                <a:solidFill>
                  <a:srgbClr val="656B73"/>
                </a:solidFill>
                <a:latin typeface="Helvetica Neue"/>
                <a:ea typeface="Helvetica Neue"/>
                <a:cs typeface="Helvetica Neue"/>
              </a:defRPr>
            </a:pPr>
            <a:r>
              <a:rPr sz="1200" b="0" i="0">
                <a:solidFill>
                  <a:srgbClr val="656B73"/>
                </a:solidFill>
                <a:latin typeface="Helvetica Neue"/>
                <a:ea typeface="Helvetica Neue"/>
                <a:cs typeface="Helvetica Neue"/>
              </a:rPr>
              <a:t>approved business outcome</a:t>
            </a:r>
          </a:p>
        </p:txBody>
      </p:sp>
      <p:sp>
        <p:nvSpPr>
          <p:cNvPr id="37" name="ellipse-90">
            <a:extLst xmlns:a="http://schemas.openxmlformats.org/drawingml/2006/main">
              <a:ext uri="{FF2B5EF4-FFF2-40B4-BE49-F238E27FC236}">
                <a16:creationId xmlns:a16="http://schemas.microsoft.com/office/drawing/2014/main" id="{02CE19FE-FEA5-4AAB-9B77-B911EA638A89}"/>
              </a:ext>
            </a:extLst>
          </p:cNvPr>
          <p:cNvSpPr>
            <a:spLocks xmlns:a="http://schemas.openxmlformats.org/drawingml/2006/main" noGrp="1"/>
          </p:cNvSpPr>
          <p:nvPr/>
        </p:nvSpPr>
        <p:spPr>
          <a:xfrm xmlns:a="http://schemas.openxmlformats.org/drawingml/2006/main">
            <a:off x="5905500" y="4514850"/>
            <a:ext cx="123825" cy="123825"/>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38" name="textbox-91">
            <a:extLst xmlns:a="http://schemas.openxmlformats.org/drawingml/2006/main">
              <a:ext uri="{FF2B5EF4-FFF2-40B4-BE49-F238E27FC236}">
                <a16:creationId xmlns:a16="http://schemas.microsoft.com/office/drawing/2014/main" id="{7A8D0ED7-63B0-4730-A839-33B40DCD8274}"/>
              </a:ext>
            </a:extLst>
          </p:cNvPr>
          <p:cNvSpPr>
            <a:spLocks xmlns:a="http://schemas.openxmlformats.org/drawingml/2006/main" noGrp="1"/>
          </p:cNvSpPr>
          <p:nvPr/>
        </p:nvSpPr>
        <p:spPr>
          <a:xfrm xmlns:a="http://schemas.openxmlformats.org/drawingml/2006/main">
            <a:off x="6191250" y="4438650"/>
            <a:ext cx="1885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i="0">
                <a:solidFill>
                  <a:srgbClr val="656B73"/>
                </a:solidFill>
                <a:latin typeface="Helvetica Neue"/>
                <a:ea typeface="Helvetica Neue"/>
                <a:cs typeface="Helvetica Neue"/>
              </a:defRPr>
            </a:pPr>
            <a:r>
              <a:rPr sz="1200" b="1" i="0">
                <a:solidFill>
                  <a:srgbClr val="656B73"/>
                </a:solidFill>
                <a:latin typeface="Helvetica Neue"/>
                <a:ea typeface="Helvetica Neue"/>
                <a:cs typeface="Helvetica Neue"/>
              </a:rPr>
              <a:t>Customer / revenue</a:t>
            </a:r>
          </a:p>
        </p:txBody>
      </p:sp>
      <p:sp>
        <p:nvSpPr>
          <p:cNvPr id="39" name="textbox-92">
            <a:extLst xmlns:a="http://schemas.openxmlformats.org/drawingml/2006/main">
              <a:ext uri="{FF2B5EF4-FFF2-40B4-BE49-F238E27FC236}">
                <a16:creationId xmlns:a16="http://schemas.microsoft.com/office/drawing/2014/main" id="{414F8FEC-A77B-4D72-95FC-9026A4EA1943}"/>
              </a:ext>
            </a:extLst>
          </p:cNvPr>
          <p:cNvSpPr>
            <a:spLocks xmlns:a="http://schemas.openxmlformats.org/drawingml/2006/main" noGrp="1"/>
          </p:cNvSpPr>
          <p:nvPr/>
        </p:nvSpPr>
        <p:spPr>
          <a:xfrm xmlns:a="http://schemas.openxmlformats.org/drawingml/2006/main">
            <a:off x="7848600" y="4438650"/>
            <a:ext cx="1600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i="0">
                <a:solidFill>
                  <a:srgbClr val="000000"/>
                </a:solidFill>
                <a:latin typeface="Helvetica Neue"/>
                <a:ea typeface="Helvetica Neue"/>
                <a:cs typeface="Helvetica Neue"/>
              </a:defRPr>
            </a:pPr>
            <a:r>
              <a:rPr sz="1575" b="1" i="0">
                <a:solidFill>
                  <a:srgbClr val="000000"/>
                </a:solidFill>
                <a:latin typeface="Helvetica Neue"/>
                <a:ea typeface="Helvetica Neue"/>
                <a:cs typeface="Helvetica Neue"/>
              </a:rPr>
              <a:t>CRM + payment</a:t>
            </a:r>
          </a:p>
        </p:txBody>
      </p:sp>
      <p:sp>
        <p:nvSpPr>
          <p:cNvPr id="40" name="textbox-93">
            <a:extLst xmlns:a="http://schemas.openxmlformats.org/drawingml/2006/main">
              <a:ext uri="{FF2B5EF4-FFF2-40B4-BE49-F238E27FC236}">
                <a16:creationId xmlns:a16="http://schemas.microsoft.com/office/drawing/2014/main" id="{46293924-6225-41BA-81C4-CF0BB2F9844D}"/>
              </a:ext>
            </a:extLst>
          </p:cNvPr>
          <p:cNvSpPr>
            <a:spLocks xmlns:a="http://schemas.openxmlformats.org/drawingml/2006/main" noGrp="1"/>
          </p:cNvSpPr>
          <p:nvPr/>
        </p:nvSpPr>
        <p:spPr>
          <a:xfrm xmlns:a="http://schemas.openxmlformats.org/drawingml/2006/main">
            <a:off x="9563100" y="4438650"/>
            <a:ext cx="1943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i="0">
                <a:solidFill>
                  <a:srgbClr val="656B73"/>
                </a:solidFill>
                <a:latin typeface="Helvetica Neue"/>
                <a:ea typeface="Helvetica Neue"/>
                <a:cs typeface="Helvetica Neue"/>
              </a:defRPr>
            </a:pPr>
            <a:r>
              <a:rPr sz="1200" b="0" i="0">
                <a:solidFill>
                  <a:srgbClr val="656B73"/>
                </a:solidFill>
                <a:latin typeface="Helvetica Neue"/>
                <a:ea typeface="Helvetica Neue"/>
                <a:cs typeface="Helvetica Neue"/>
              </a:rPr>
              <a:t>confirmed outcome</a:t>
            </a:r>
          </a:p>
        </p:txBody>
      </p:sp>
      <p:sp>
        <p:nvSpPr>
          <p:cNvPr id="41" name="roundRect-94">
            <a:extLst xmlns:a="http://schemas.openxmlformats.org/drawingml/2006/main">
              <a:ext uri="{FF2B5EF4-FFF2-40B4-BE49-F238E27FC236}">
                <a16:creationId xmlns:a16="http://schemas.microsoft.com/office/drawing/2014/main" id="{E613E86A-4732-4EDF-BB75-6E1BC186177A}"/>
              </a:ext>
            </a:extLst>
          </p:cNvPr>
          <p:cNvSpPr>
            <a:spLocks xmlns:a="http://schemas.openxmlformats.org/drawingml/2006/main" noGrp="1"/>
          </p:cNvSpPr>
          <p:nvPr/>
        </p:nvSpPr>
        <p:spPr>
          <a:xfrm xmlns:a="http://schemas.openxmlformats.org/drawingml/2006/main">
            <a:off x="5695950" y="5162550"/>
            <a:ext cx="5715000" cy="552450"/>
          </a:xfrm>
          <a:prstGeom xmlns:a="http://schemas.openxmlformats.org/drawingml/2006/main" prst="roundRect">
            <a:avLst>
              <a:gd name="adj" fmla="val 17241"/>
            </a:avLst>
          </a:prstGeom>
          <a:solidFill xmlns:a="http://schemas.openxmlformats.org/drawingml/2006/main">
            <a:srgbClr val="EDF8FD"/>
          </a:solidFill>
          <a:ln xmlns:a="http://schemas.openxmlformats.org/drawingml/2006/main" w="9525">
            <a:solidFill>
              <a:srgbClr val="3D8DFF"/>
            </a:solidFill>
            <a:prstDash val="solid"/>
          </a:ln>
        </p:spPr>
        <p:txBody>
          <a:bodyPr xmlns:a="http://schemas.openxmlformats.org/drawingml/2006/main" wrap="square" lIns="152400" tIns="133350" rIns="152400" bIns="114300" anchor="ctr">
            <a:normAutofit fontScale="88231"/>
          </a:bodyPr>
          <a:lstStyle xmlns:a="http://schemas.openxmlformats.org/drawingml/2006/main"/>
          <a:p xmlns:a="http://schemas.openxmlformats.org/drawingml/2006/main">
            <a:pPr algn="l">
              <a:defRPr sz="1350" b="1" i="0">
                <a:solidFill>
                  <a:srgbClr val="000000"/>
                </a:solidFill>
                <a:latin typeface="Helvetica Neue"/>
                <a:ea typeface="Helvetica Neue"/>
                <a:cs typeface="Helvetica Neue"/>
              </a:defRPr>
            </a:pPr>
            <a:r>
              <a:rPr sz="1350" b="1" i="0">
                <a:solidFill>
                  <a:srgbClr val="000000"/>
                </a:solidFill>
                <a:latin typeface="Helvetica Neue"/>
                <a:ea typeface="Helvetica Neue"/>
                <a:cs typeface="Helvetica Neue"/>
              </a:rPr>
              <a:t>Clicks and submits are signals. Lead semantics are approved per website.</a:t>
            </a:r>
          </a:p>
        </p:txBody>
      </p:sp>
    </p:spTree>
    <p:extLst>
      <p:ext uri="{BB962C8B-B14F-4D97-AF65-F5344CB8AC3E}">
        <p14:creationId xmlns:p14="http://schemas.microsoft.com/office/powerpoint/2010/main" val="188330622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textbox-95">
            <a:extLst xmlns:a="http://schemas.openxmlformats.org/drawingml/2006/main">
              <a:ext uri="{FF2B5EF4-FFF2-40B4-BE49-F238E27FC236}">
                <a16:creationId xmlns:a16="http://schemas.microsoft.com/office/drawing/2014/main" id="{2D7DA9CD-C84C-4492-8C05-D370C016A2F1}"/>
              </a:ext>
            </a:extLst>
          </p:cNvPr>
          <p:cNvSpPr>
            <a:spLocks xmlns:a="http://schemas.openxmlformats.org/drawingml/2006/main" noGrp="1"/>
          </p:cNvSpPr>
          <p:nvPr/>
        </p:nvSpPr>
        <p:spPr>
          <a:xfrm xmlns:a="http://schemas.openxmlformats.org/drawingml/2006/main">
            <a:off x="393668" y="344043"/>
            <a:ext cx="11404568"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0" bIns="0" anchor="t">
            <a:normAutofit fontScale="100000"/>
          </a:bodyPr>
          <a:lstStyle xmlns:a="http://schemas.openxmlformats.org/drawingml/2006/main"/>
          <a:p xmlns:a="http://schemas.openxmlformats.org/drawingml/2006/main">
            <a:pPr algn="l">
              <a:defRPr sz="2850" b="0" i="0">
                <a:solidFill>
                  <a:srgbClr val="000000"/>
                </a:solidFill>
                <a:latin typeface="Helvetica Neue"/>
                <a:ea typeface="Helvetica Neue"/>
                <a:cs typeface="Helvetica Neue"/>
              </a:defRPr>
            </a:pPr>
            <a:r>
              <a:rPr sz="2850" b="0" i="0">
                <a:solidFill>
                  <a:srgbClr val="000000"/>
                </a:solidFill>
                <a:latin typeface="Helvetica Neue"/>
                <a:ea typeface="Helvetica Neue"/>
                <a:cs typeface="Helvetica Neue"/>
              </a:rPr>
              <a:t>Healthcare analytics is default-deny</a:t>
            </a:r>
          </a:p>
        </p:txBody>
      </p:sp>
      <p:sp>
        <p:nvSpPr>
          <p:cNvPr id="2" name="line-96">
            <a:extLst xmlns:a="http://schemas.openxmlformats.org/drawingml/2006/main">
              <a:ext uri="{FF2B5EF4-FFF2-40B4-BE49-F238E27FC236}">
                <a16:creationId xmlns:a16="http://schemas.microsoft.com/office/drawing/2014/main" id="{B7A4C5D7-AF37-4D88-A89B-3B4D6E4A5242}"/>
              </a:ext>
            </a:extLst>
          </p:cNvPr>
          <p:cNvSpPr>
            <a:spLocks xmlns:a="http://schemas.openxmlformats.org/drawingml/2006/main" noGrp="1"/>
          </p:cNvSpPr>
          <p:nvPr/>
        </p:nvSpPr>
        <p:spPr>
          <a:xfrm xmlns:a="http://schemas.openxmlformats.org/drawingml/2006/main">
            <a:off x="393668" y="1181100"/>
            <a:ext cx="11404568"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3" name="textbox-97">
            <a:extLst xmlns:a="http://schemas.openxmlformats.org/drawingml/2006/main">
              <a:ext uri="{FF2B5EF4-FFF2-40B4-BE49-F238E27FC236}">
                <a16:creationId xmlns:a16="http://schemas.microsoft.com/office/drawing/2014/main" id="{7DD55A25-6A21-49D2-8482-1F1469F82972}"/>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975" b="0" i="0">
                <a:solidFill>
                  <a:srgbClr val="000000"/>
                </a:solidFill>
                <a:latin typeface="Helvetica Neue"/>
                <a:ea typeface="Helvetica Neue"/>
                <a:cs typeface="Helvetica Neue"/>
              </a:defRPr>
            </a:pPr>
            <a:r>
              <a:rPr sz="975" b="0" i="0">
                <a:solidFill>
                  <a:srgbClr val="000000"/>
                </a:solidFill>
                <a:latin typeface="Helvetica Neue"/>
                <a:ea typeface="Helvetica Neue"/>
                <a:cs typeface="Helvetica Neue"/>
              </a:rPr>
              <a:t>05</a:t>
            </a:r>
          </a:p>
        </p:txBody>
      </p:sp>
      <p:sp>
        <p:nvSpPr>
          <p:cNvPr id="4" name="textbox-98">
            <a:extLst xmlns:a="http://schemas.openxmlformats.org/drawingml/2006/main">
              <a:ext uri="{FF2B5EF4-FFF2-40B4-BE49-F238E27FC236}">
                <a16:creationId xmlns:a16="http://schemas.microsoft.com/office/drawing/2014/main" id="{001CE721-B496-4309-B7DF-0EEB5FF43CAE}"/>
              </a:ext>
            </a:extLst>
          </p:cNvPr>
          <p:cNvSpPr>
            <a:spLocks xmlns:a="http://schemas.openxmlformats.org/drawingml/2006/main" noGrp="1"/>
          </p:cNvSpPr>
          <p:nvPr/>
        </p:nvSpPr>
        <p:spPr>
          <a:xfrm xmlns:a="http://schemas.openxmlformats.org/drawingml/2006/main">
            <a:off x="393668" y="1333500"/>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656B73"/>
                </a:solidFill>
                <a:latin typeface="Helvetica Neue"/>
                <a:ea typeface="Helvetica Neue"/>
                <a:cs typeface="Helvetica Neue"/>
              </a:defRPr>
            </a:pPr>
            <a:r>
              <a:rPr sz="1500" b="0" i="0">
                <a:solidFill>
                  <a:srgbClr val="656B73"/>
                </a:solidFill>
                <a:latin typeface="Helvetica Neue"/>
                <a:ea typeface="Helvetica Neue"/>
                <a:cs typeface="Helvetica Neue"/>
              </a:rPr>
              <a:t>Unknown, unclassified, or unapproved routes behave like prohibited routes until an authorized reviewer changes the state.</a:t>
            </a:r>
          </a:p>
        </p:txBody>
      </p:sp>
      <p:sp>
        <p:nvSpPr>
          <p:cNvPr id="5" name="roundRect-99">
            <a:extLst xmlns:a="http://schemas.openxmlformats.org/drawingml/2006/main">
              <a:ext uri="{FF2B5EF4-FFF2-40B4-BE49-F238E27FC236}">
                <a16:creationId xmlns:a16="http://schemas.microsoft.com/office/drawing/2014/main" id="{840D86C8-B7AA-4288-8E41-30E204627444}"/>
              </a:ext>
            </a:extLst>
          </p:cNvPr>
          <p:cNvSpPr>
            <a:spLocks xmlns:a="http://schemas.openxmlformats.org/drawingml/2006/main" noGrp="1"/>
          </p:cNvSpPr>
          <p:nvPr/>
        </p:nvSpPr>
        <p:spPr>
          <a:xfrm xmlns:a="http://schemas.openxmlformats.org/drawingml/2006/main">
            <a:off x="393668" y="1943100"/>
            <a:ext cx="4705350" cy="647700"/>
          </a:xfrm>
          <a:prstGeom xmlns:a="http://schemas.openxmlformats.org/drawingml/2006/main" prst="roundRect">
            <a:avLst>
              <a:gd name="adj" fmla="val 11765"/>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t">
            <a:noAutofit/>
          </a:bodyPr>
          <a:lstStyle xmlns:a="http://schemas.openxmlformats.org/drawingml/2006/main"/>
          <a:p xmlns:a="http://schemas.openxmlformats.org/drawingml/2006/main">
            <a:r>
              <a:t/>
            </a:r>
          </a:p>
        </p:txBody>
      </p:sp>
      <p:sp>
        <p:nvSpPr>
          <p:cNvPr id="6" name="textbox-100">
            <a:extLst xmlns:a="http://schemas.openxmlformats.org/drawingml/2006/main">
              <a:ext uri="{FF2B5EF4-FFF2-40B4-BE49-F238E27FC236}">
                <a16:creationId xmlns:a16="http://schemas.microsoft.com/office/drawing/2014/main" id="{58357A2E-30AA-4EA2-B799-50AD6AAE21E2}"/>
              </a:ext>
            </a:extLst>
          </p:cNvPr>
          <p:cNvSpPr>
            <a:spLocks xmlns:a="http://schemas.openxmlformats.org/drawingml/2006/main" noGrp="1"/>
          </p:cNvSpPr>
          <p:nvPr/>
        </p:nvSpPr>
        <p:spPr>
          <a:xfrm xmlns:a="http://schemas.openxmlformats.org/drawingml/2006/main">
            <a:off x="565118" y="20574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i="0">
                <a:solidFill>
                  <a:srgbClr val="656B73"/>
                </a:solidFill>
                <a:latin typeface="Helvetica Neue"/>
                <a:ea typeface="Helvetica Neue"/>
                <a:cs typeface="Helvetica Neue"/>
              </a:defRPr>
            </a:pPr>
            <a:r>
              <a:rPr sz="1200" b="1" i="0">
                <a:solidFill>
                  <a:srgbClr val="656B73"/>
                </a:solidFill>
                <a:latin typeface="Helvetica Neue"/>
                <a:ea typeface="Helvetica Neue"/>
                <a:cs typeface="Helvetica Neue"/>
              </a:rPr>
              <a:t>01</a:t>
            </a:r>
          </a:p>
        </p:txBody>
      </p:sp>
      <p:sp>
        <p:nvSpPr>
          <p:cNvPr id="7" name="textbox-101">
            <a:extLst xmlns:a="http://schemas.openxmlformats.org/drawingml/2006/main">
              <a:ext uri="{FF2B5EF4-FFF2-40B4-BE49-F238E27FC236}">
                <a16:creationId xmlns:a16="http://schemas.microsoft.com/office/drawing/2014/main" id="{89BF5C41-B389-4C90-95DE-CB2EF3F4B9A3}"/>
              </a:ext>
            </a:extLst>
          </p:cNvPr>
          <p:cNvSpPr>
            <a:spLocks xmlns:a="http://schemas.openxmlformats.org/drawingml/2006/main" noGrp="1"/>
          </p:cNvSpPr>
          <p:nvPr/>
        </p:nvSpPr>
        <p:spPr>
          <a:xfrm xmlns:a="http://schemas.openxmlformats.org/drawingml/2006/main">
            <a:off x="965168" y="20574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defRPr sz="1425" b="1" i="0">
                <a:solidFill>
                  <a:srgbClr val="000000"/>
                </a:solidFill>
                <a:latin typeface="Helvetica Neue"/>
                <a:ea typeface="Helvetica Neue"/>
                <a:cs typeface="Helvetica Neue"/>
              </a:defRPr>
            </a:pPr>
            <a:r>
              <a:rPr sz="1425" b="1" i="0">
                <a:solidFill>
                  <a:srgbClr val="000000"/>
                </a:solidFill>
                <a:latin typeface="Helvetica Neue"/>
                <a:ea typeface="Helvetica Neue"/>
                <a:cs typeface="Helvetica Neue"/>
              </a:rPr>
              <a:t>Route / template classification</a:t>
            </a:r>
          </a:p>
        </p:txBody>
      </p:sp>
      <p:sp>
        <p:nvSpPr>
          <p:cNvPr id="8" name="textbox-102">
            <a:extLst xmlns:a="http://schemas.openxmlformats.org/drawingml/2006/main">
              <a:ext uri="{FF2B5EF4-FFF2-40B4-BE49-F238E27FC236}">
                <a16:creationId xmlns:a16="http://schemas.microsoft.com/office/drawing/2014/main" id="{62B37C13-0C6E-4737-A939-F83556ADF438}"/>
              </a:ext>
            </a:extLst>
          </p:cNvPr>
          <p:cNvSpPr>
            <a:spLocks xmlns:a="http://schemas.openxmlformats.org/drawingml/2006/main" noGrp="1"/>
          </p:cNvSpPr>
          <p:nvPr/>
        </p:nvSpPr>
        <p:spPr>
          <a:xfrm xmlns:a="http://schemas.openxmlformats.org/drawingml/2006/main">
            <a:off x="965168" y="230505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656B73"/>
                </a:solidFill>
                <a:latin typeface="Helvetica Neue"/>
                <a:ea typeface="Helvetica Neue"/>
                <a:cs typeface="Helvetica Neue"/>
              </a:defRPr>
            </a:pPr>
            <a:r>
              <a:rPr sz="1050" b="0" i="0">
                <a:solidFill>
                  <a:srgbClr val="656B73"/>
                </a:solidFill>
                <a:latin typeface="Helvetica Neue"/>
                <a:ea typeface="Helvetica Neue"/>
                <a:cs typeface="Helvetica Neue"/>
              </a:rPr>
              <a:t>approved · requires_review · prohibited</a:t>
            </a:r>
          </a:p>
        </p:txBody>
      </p:sp>
      <p:sp>
        <p:nvSpPr>
          <p:cNvPr id="9" name="downArrow-103">
            <a:extLst xmlns:a="http://schemas.openxmlformats.org/drawingml/2006/main">
              <a:ext uri="{FF2B5EF4-FFF2-40B4-BE49-F238E27FC236}">
                <a16:creationId xmlns:a16="http://schemas.microsoft.com/office/drawing/2014/main" id="{A8C38E33-267E-4B7D-98EC-2FE650013706}"/>
              </a:ext>
            </a:extLst>
          </p:cNvPr>
          <p:cNvSpPr>
            <a:spLocks xmlns:a="http://schemas.openxmlformats.org/drawingml/2006/main" noGrp="1"/>
          </p:cNvSpPr>
          <p:nvPr/>
        </p:nvSpPr>
        <p:spPr>
          <a:xfrm xmlns:a="http://schemas.openxmlformats.org/drawingml/2006/main">
            <a:off x="2679668" y="2628900"/>
            <a:ext cx="133350" cy="171450"/>
          </a:xfrm>
          <a:prstGeom xmlns:a="http://schemas.openxmlformats.org/drawingml/2006/main" prst="downArrow">
            <a:avLst/>
          </a:prstGeom>
          <a:solidFill xmlns:a="http://schemas.openxmlformats.org/drawingml/2006/main">
            <a:srgbClr val="3D8DFF"/>
          </a:solidFill>
          <a:ln xmlns:a="http://schemas.openxmlformats.org/drawingml/2006/main" w="0">
            <a:solidFill>
              <a:srgbClr val="3D8DFF"/>
            </a:solidFill>
            <a:prstDash val="solid"/>
          </a:ln>
        </p:spPr>
      </p:sp>
      <p:sp>
        <p:nvSpPr>
          <p:cNvPr id="10" name="roundRect-104">
            <a:extLst xmlns:a="http://schemas.openxmlformats.org/drawingml/2006/main">
              <a:ext uri="{FF2B5EF4-FFF2-40B4-BE49-F238E27FC236}">
                <a16:creationId xmlns:a16="http://schemas.microsoft.com/office/drawing/2014/main" id="{E0734BB1-34A0-4F1B-BBFA-2E41CB430FA3}"/>
              </a:ext>
            </a:extLst>
          </p:cNvPr>
          <p:cNvSpPr>
            <a:spLocks xmlns:a="http://schemas.openxmlformats.org/drawingml/2006/main" noGrp="1"/>
          </p:cNvSpPr>
          <p:nvPr/>
        </p:nvSpPr>
        <p:spPr>
          <a:xfrm xmlns:a="http://schemas.openxmlformats.org/drawingml/2006/main">
            <a:off x="393668" y="2781300"/>
            <a:ext cx="4705350" cy="647700"/>
          </a:xfrm>
          <a:prstGeom xmlns:a="http://schemas.openxmlformats.org/drawingml/2006/main" prst="roundRect">
            <a:avLst>
              <a:gd name="adj" fmla="val 11765"/>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t">
            <a:noAutofit/>
          </a:bodyPr>
          <a:lstStyle xmlns:a="http://schemas.openxmlformats.org/drawingml/2006/main"/>
          <a:p xmlns:a="http://schemas.openxmlformats.org/drawingml/2006/main">
            <a:r>
              <a:t/>
            </a:r>
          </a:p>
        </p:txBody>
      </p:sp>
      <p:sp>
        <p:nvSpPr>
          <p:cNvPr id="11" name="textbox-105">
            <a:extLst xmlns:a="http://schemas.openxmlformats.org/drawingml/2006/main">
              <a:ext uri="{FF2B5EF4-FFF2-40B4-BE49-F238E27FC236}">
                <a16:creationId xmlns:a16="http://schemas.microsoft.com/office/drawing/2014/main" id="{84D176A3-55D8-4D0C-BA15-BA336AD8425F}"/>
              </a:ext>
            </a:extLst>
          </p:cNvPr>
          <p:cNvSpPr>
            <a:spLocks xmlns:a="http://schemas.openxmlformats.org/drawingml/2006/main" noGrp="1"/>
          </p:cNvSpPr>
          <p:nvPr/>
        </p:nvSpPr>
        <p:spPr>
          <a:xfrm xmlns:a="http://schemas.openxmlformats.org/drawingml/2006/main">
            <a:off x="565118" y="28956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i="0">
                <a:solidFill>
                  <a:srgbClr val="656B73"/>
                </a:solidFill>
                <a:latin typeface="Helvetica Neue"/>
                <a:ea typeface="Helvetica Neue"/>
                <a:cs typeface="Helvetica Neue"/>
              </a:defRPr>
            </a:pPr>
            <a:r>
              <a:rPr sz="1200" b="1" i="0">
                <a:solidFill>
                  <a:srgbClr val="656B73"/>
                </a:solidFill>
                <a:latin typeface="Helvetica Neue"/>
                <a:ea typeface="Helvetica Neue"/>
                <a:cs typeface="Helvetica Neue"/>
              </a:rPr>
              <a:t>02</a:t>
            </a:r>
          </a:p>
        </p:txBody>
      </p:sp>
      <p:sp>
        <p:nvSpPr>
          <p:cNvPr id="12" name="textbox-106">
            <a:extLst xmlns:a="http://schemas.openxmlformats.org/drawingml/2006/main">
              <a:ext uri="{FF2B5EF4-FFF2-40B4-BE49-F238E27FC236}">
                <a16:creationId xmlns:a16="http://schemas.microsoft.com/office/drawing/2014/main" id="{6941A098-4957-4F03-A4B5-9DECE36E48EE}"/>
              </a:ext>
            </a:extLst>
          </p:cNvPr>
          <p:cNvSpPr>
            <a:spLocks xmlns:a="http://schemas.openxmlformats.org/drawingml/2006/main" noGrp="1"/>
          </p:cNvSpPr>
          <p:nvPr/>
        </p:nvSpPr>
        <p:spPr>
          <a:xfrm xmlns:a="http://schemas.openxmlformats.org/drawingml/2006/main">
            <a:off x="965168" y="2895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defRPr sz="1425" b="1" i="0">
                <a:solidFill>
                  <a:srgbClr val="000000"/>
                </a:solidFill>
                <a:latin typeface="Helvetica Neue"/>
                <a:ea typeface="Helvetica Neue"/>
                <a:cs typeface="Helvetica Neue"/>
              </a:defRPr>
            </a:pPr>
            <a:r>
              <a:rPr sz="1425" b="1" i="0">
                <a:solidFill>
                  <a:srgbClr val="000000"/>
                </a:solidFill>
                <a:latin typeface="Helvetica Neue"/>
                <a:ea typeface="Helvetica Neue"/>
                <a:cs typeface="Helvetica Neue"/>
              </a:rPr>
              <a:t>Consent-state behavior</a:t>
            </a:r>
          </a:p>
        </p:txBody>
      </p:sp>
      <p:sp>
        <p:nvSpPr>
          <p:cNvPr id="13" name="textbox-107">
            <a:extLst xmlns:a="http://schemas.openxmlformats.org/drawingml/2006/main">
              <a:ext uri="{FF2B5EF4-FFF2-40B4-BE49-F238E27FC236}">
                <a16:creationId xmlns:a16="http://schemas.microsoft.com/office/drawing/2014/main" id="{F4FDB910-749D-42A8-A3EB-0A0A0D4A06F3}"/>
              </a:ext>
            </a:extLst>
          </p:cNvPr>
          <p:cNvSpPr>
            <a:spLocks xmlns:a="http://schemas.openxmlformats.org/drawingml/2006/main" noGrp="1"/>
          </p:cNvSpPr>
          <p:nvPr/>
        </p:nvSpPr>
        <p:spPr>
          <a:xfrm xmlns:a="http://schemas.openxmlformats.org/drawingml/2006/main">
            <a:off x="965168" y="314325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656B73"/>
                </a:solidFill>
                <a:latin typeface="Helvetica Neue"/>
                <a:ea typeface="Helvetica Neue"/>
                <a:cs typeface="Helvetica Neue"/>
              </a:defRPr>
            </a:pPr>
            <a:r>
              <a:rPr sz="1050" b="0" i="0">
                <a:solidFill>
                  <a:srgbClr val="656B73"/>
                </a:solidFill>
                <a:latin typeface="Helvetica Neue"/>
                <a:ea typeface="Helvetica Neue"/>
                <a:cs typeface="Helvetica Neue"/>
              </a:rPr>
              <a:t>loader and event behavior follows the approved state</a:t>
            </a:r>
          </a:p>
        </p:txBody>
      </p:sp>
      <p:sp>
        <p:nvSpPr>
          <p:cNvPr id="14" name="downArrow-108">
            <a:extLst xmlns:a="http://schemas.openxmlformats.org/drawingml/2006/main">
              <a:ext uri="{FF2B5EF4-FFF2-40B4-BE49-F238E27FC236}">
                <a16:creationId xmlns:a16="http://schemas.microsoft.com/office/drawing/2014/main" id="{279020D8-5A34-485F-B75A-8834A3884515}"/>
              </a:ext>
            </a:extLst>
          </p:cNvPr>
          <p:cNvSpPr>
            <a:spLocks xmlns:a="http://schemas.openxmlformats.org/drawingml/2006/main" noGrp="1"/>
          </p:cNvSpPr>
          <p:nvPr/>
        </p:nvSpPr>
        <p:spPr>
          <a:xfrm xmlns:a="http://schemas.openxmlformats.org/drawingml/2006/main">
            <a:off x="2679668" y="3467100"/>
            <a:ext cx="133350" cy="171450"/>
          </a:xfrm>
          <a:prstGeom xmlns:a="http://schemas.openxmlformats.org/drawingml/2006/main" prst="downArrow">
            <a:avLst/>
          </a:prstGeom>
          <a:solidFill xmlns:a="http://schemas.openxmlformats.org/drawingml/2006/main">
            <a:srgbClr val="3D8DFF"/>
          </a:solidFill>
          <a:ln xmlns:a="http://schemas.openxmlformats.org/drawingml/2006/main" w="0">
            <a:solidFill>
              <a:srgbClr val="3D8DFF"/>
            </a:solidFill>
            <a:prstDash val="solid"/>
          </a:ln>
        </p:spPr>
      </p:sp>
      <p:sp>
        <p:nvSpPr>
          <p:cNvPr id="15" name="roundRect-109">
            <a:extLst xmlns:a="http://schemas.openxmlformats.org/drawingml/2006/main">
              <a:ext uri="{FF2B5EF4-FFF2-40B4-BE49-F238E27FC236}">
                <a16:creationId xmlns:a16="http://schemas.microsoft.com/office/drawing/2014/main" id="{2B6D5769-2145-41C8-906E-FD8055E08663}"/>
              </a:ext>
            </a:extLst>
          </p:cNvPr>
          <p:cNvSpPr>
            <a:spLocks xmlns:a="http://schemas.openxmlformats.org/drawingml/2006/main" noGrp="1"/>
          </p:cNvSpPr>
          <p:nvPr/>
        </p:nvSpPr>
        <p:spPr>
          <a:xfrm xmlns:a="http://schemas.openxmlformats.org/drawingml/2006/main">
            <a:off x="393668" y="3619500"/>
            <a:ext cx="4705350" cy="647700"/>
          </a:xfrm>
          <a:prstGeom xmlns:a="http://schemas.openxmlformats.org/drawingml/2006/main" prst="roundRect">
            <a:avLst>
              <a:gd name="adj" fmla="val 11765"/>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t">
            <a:noAutofit/>
          </a:bodyPr>
          <a:lstStyle xmlns:a="http://schemas.openxmlformats.org/drawingml/2006/main"/>
          <a:p xmlns:a="http://schemas.openxmlformats.org/drawingml/2006/main">
            <a:r>
              <a:t/>
            </a:r>
          </a:p>
        </p:txBody>
      </p:sp>
      <p:sp>
        <p:nvSpPr>
          <p:cNvPr id="16" name="textbox-110">
            <a:extLst xmlns:a="http://schemas.openxmlformats.org/drawingml/2006/main">
              <a:ext uri="{FF2B5EF4-FFF2-40B4-BE49-F238E27FC236}">
                <a16:creationId xmlns:a16="http://schemas.microsoft.com/office/drawing/2014/main" id="{3E8666EC-4F8F-4982-9A6A-E368D797F086}"/>
              </a:ext>
            </a:extLst>
          </p:cNvPr>
          <p:cNvSpPr>
            <a:spLocks xmlns:a="http://schemas.openxmlformats.org/drawingml/2006/main" noGrp="1"/>
          </p:cNvSpPr>
          <p:nvPr/>
        </p:nvSpPr>
        <p:spPr>
          <a:xfrm xmlns:a="http://schemas.openxmlformats.org/drawingml/2006/main">
            <a:off x="565118" y="37338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i="0">
                <a:solidFill>
                  <a:srgbClr val="656B73"/>
                </a:solidFill>
                <a:latin typeface="Helvetica Neue"/>
                <a:ea typeface="Helvetica Neue"/>
                <a:cs typeface="Helvetica Neue"/>
              </a:defRPr>
            </a:pPr>
            <a:r>
              <a:rPr sz="1200" b="1" i="0">
                <a:solidFill>
                  <a:srgbClr val="656B73"/>
                </a:solidFill>
                <a:latin typeface="Helvetica Neue"/>
                <a:ea typeface="Helvetica Neue"/>
                <a:cs typeface="Helvetica Neue"/>
              </a:rPr>
              <a:t>03</a:t>
            </a:r>
          </a:p>
        </p:txBody>
      </p:sp>
      <p:sp>
        <p:nvSpPr>
          <p:cNvPr id="17" name="textbox-111">
            <a:extLst xmlns:a="http://schemas.openxmlformats.org/drawingml/2006/main">
              <a:ext uri="{FF2B5EF4-FFF2-40B4-BE49-F238E27FC236}">
                <a16:creationId xmlns:a16="http://schemas.microsoft.com/office/drawing/2014/main" id="{AB77B4BF-835F-404F-8F9B-F768812D0BB7}"/>
              </a:ext>
            </a:extLst>
          </p:cNvPr>
          <p:cNvSpPr>
            <a:spLocks xmlns:a="http://schemas.openxmlformats.org/drawingml/2006/main" noGrp="1"/>
          </p:cNvSpPr>
          <p:nvPr/>
        </p:nvSpPr>
        <p:spPr>
          <a:xfrm xmlns:a="http://schemas.openxmlformats.org/drawingml/2006/main">
            <a:off x="965168" y="37338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defRPr sz="1425" b="1" i="0">
                <a:solidFill>
                  <a:srgbClr val="000000"/>
                </a:solidFill>
                <a:latin typeface="Helvetica Neue"/>
                <a:ea typeface="Helvetica Neue"/>
                <a:cs typeface="Helvetica Neue"/>
              </a:defRPr>
            </a:pPr>
            <a:r>
              <a:rPr sz="1425" b="1" i="0">
                <a:solidFill>
                  <a:srgbClr val="000000"/>
                </a:solidFill>
                <a:latin typeface="Helvetica Neue"/>
                <a:ea typeface="Helvetica Neue"/>
                <a:cs typeface="Helvetica Neue"/>
              </a:rPr>
              <a:t>URL + payload tests</a:t>
            </a:r>
          </a:p>
        </p:txBody>
      </p:sp>
      <p:sp>
        <p:nvSpPr>
          <p:cNvPr id="18" name="textbox-112">
            <a:extLst xmlns:a="http://schemas.openxmlformats.org/drawingml/2006/main">
              <a:ext uri="{FF2B5EF4-FFF2-40B4-BE49-F238E27FC236}">
                <a16:creationId xmlns:a16="http://schemas.microsoft.com/office/drawing/2014/main" id="{B0E77771-B686-4B56-97CC-2CFD1B51CC16}"/>
              </a:ext>
            </a:extLst>
          </p:cNvPr>
          <p:cNvSpPr>
            <a:spLocks xmlns:a="http://schemas.openxmlformats.org/drawingml/2006/main" noGrp="1"/>
          </p:cNvSpPr>
          <p:nvPr/>
        </p:nvSpPr>
        <p:spPr>
          <a:xfrm xmlns:a="http://schemas.openxmlformats.org/drawingml/2006/main">
            <a:off x="965168" y="398145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656B73"/>
                </a:solidFill>
                <a:latin typeface="Helvetica Neue"/>
                <a:ea typeface="Helvetica Neue"/>
                <a:cs typeface="Helvetica Neue"/>
              </a:defRPr>
            </a:pPr>
            <a:r>
              <a:rPr sz="1050" b="0" i="0">
                <a:solidFill>
                  <a:srgbClr val="656B73"/>
                </a:solidFill>
                <a:latin typeface="Helvetica Neue"/>
                <a:ea typeface="Helvetica Neue"/>
                <a:cs typeface="Helvetica Neue"/>
              </a:rPr>
              <a:t>denylist PII / PHI and inspect query strings</a:t>
            </a:r>
          </a:p>
        </p:txBody>
      </p:sp>
      <p:sp>
        <p:nvSpPr>
          <p:cNvPr id="19" name="downArrow-113">
            <a:extLst xmlns:a="http://schemas.openxmlformats.org/drawingml/2006/main">
              <a:ext uri="{FF2B5EF4-FFF2-40B4-BE49-F238E27FC236}">
                <a16:creationId xmlns:a16="http://schemas.microsoft.com/office/drawing/2014/main" id="{6B526266-4117-46CE-B429-34665CD58C4D}"/>
              </a:ext>
            </a:extLst>
          </p:cNvPr>
          <p:cNvSpPr>
            <a:spLocks xmlns:a="http://schemas.openxmlformats.org/drawingml/2006/main" noGrp="1"/>
          </p:cNvSpPr>
          <p:nvPr/>
        </p:nvSpPr>
        <p:spPr>
          <a:xfrm xmlns:a="http://schemas.openxmlformats.org/drawingml/2006/main">
            <a:off x="2679668" y="4305300"/>
            <a:ext cx="133350" cy="171450"/>
          </a:xfrm>
          <a:prstGeom xmlns:a="http://schemas.openxmlformats.org/drawingml/2006/main" prst="downArrow">
            <a:avLst/>
          </a:prstGeom>
          <a:solidFill xmlns:a="http://schemas.openxmlformats.org/drawingml/2006/main">
            <a:srgbClr val="3D8DFF"/>
          </a:solidFill>
          <a:ln xmlns:a="http://schemas.openxmlformats.org/drawingml/2006/main" w="0">
            <a:solidFill>
              <a:srgbClr val="3D8DFF"/>
            </a:solidFill>
            <a:prstDash val="solid"/>
          </a:ln>
        </p:spPr>
      </p:sp>
      <p:sp>
        <p:nvSpPr>
          <p:cNvPr id="20" name="roundRect-114">
            <a:extLst xmlns:a="http://schemas.openxmlformats.org/drawingml/2006/main">
              <a:ext uri="{FF2B5EF4-FFF2-40B4-BE49-F238E27FC236}">
                <a16:creationId xmlns:a16="http://schemas.microsoft.com/office/drawing/2014/main" id="{26AF1675-D6EC-4D33-BBD8-9B91C41925DE}"/>
              </a:ext>
            </a:extLst>
          </p:cNvPr>
          <p:cNvSpPr>
            <a:spLocks xmlns:a="http://schemas.openxmlformats.org/drawingml/2006/main" noGrp="1"/>
          </p:cNvSpPr>
          <p:nvPr/>
        </p:nvSpPr>
        <p:spPr>
          <a:xfrm xmlns:a="http://schemas.openxmlformats.org/drawingml/2006/main">
            <a:off x="393668" y="4457700"/>
            <a:ext cx="4705350" cy="647700"/>
          </a:xfrm>
          <a:prstGeom xmlns:a="http://schemas.openxmlformats.org/drawingml/2006/main" prst="roundRect">
            <a:avLst>
              <a:gd name="adj" fmla="val 11765"/>
            </a:avLst>
          </a:prstGeom>
          <a:solidFill xmlns:a="http://schemas.openxmlformats.org/drawingml/2006/main">
            <a:srgbClr val="EDF8FD"/>
          </a:solidFill>
          <a:ln xmlns:a="http://schemas.openxmlformats.org/drawingml/2006/main" w="19050">
            <a:solidFill>
              <a:srgbClr val="3D8DFF"/>
            </a:solidFill>
            <a:prstDash val="solid"/>
          </a:ln>
        </p:spPr>
        <p:txBody>
          <a:bodyPr xmlns:a="http://schemas.openxmlformats.org/drawingml/2006/main" wrap="square" lIns="152400" tIns="133350" rIns="152400" bIns="114300" anchor="t">
            <a:noAutofit/>
          </a:bodyPr>
          <a:lstStyle xmlns:a="http://schemas.openxmlformats.org/drawingml/2006/main"/>
          <a:p xmlns:a="http://schemas.openxmlformats.org/drawingml/2006/main">
            <a:r>
              <a:t/>
            </a:r>
          </a:p>
        </p:txBody>
      </p:sp>
      <p:sp>
        <p:nvSpPr>
          <p:cNvPr id="21" name="textbox-115">
            <a:extLst xmlns:a="http://schemas.openxmlformats.org/drawingml/2006/main">
              <a:ext uri="{FF2B5EF4-FFF2-40B4-BE49-F238E27FC236}">
                <a16:creationId xmlns:a16="http://schemas.microsoft.com/office/drawing/2014/main" id="{E72A3A08-3A2D-42C4-BF90-1DE0421DC1CD}"/>
              </a:ext>
            </a:extLst>
          </p:cNvPr>
          <p:cNvSpPr>
            <a:spLocks xmlns:a="http://schemas.openxmlformats.org/drawingml/2006/main" noGrp="1"/>
          </p:cNvSpPr>
          <p:nvPr/>
        </p:nvSpPr>
        <p:spPr>
          <a:xfrm xmlns:a="http://schemas.openxmlformats.org/drawingml/2006/main">
            <a:off x="565118" y="45720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04</a:t>
            </a:r>
          </a:p>
        </p:txBody>
      </p:sp>
      <p:sp>
        <p:nvSpPr>
          <p:cNvPr id="22" name="textbox-116">
            <a:extLst xmlns:a="http://schemas.openxmlformats.org/drawingml/2006/main">
              <a:ext uri="{FF2B5EF4-FFF2-40B4-BE49-F238E27FC236}">
                <a16:creationId xmlns:a16="http://schemas.microsoft.com/office/drawing/2014/main" id="{6F7B94B7-DFCB-413E-85A5-5C423876C7D4}"/>
              </a:ext>
            </a:extLst>
          </p:cNvPr>
          <p:cNvSpPr>
            <a:spLocks xmlns:a="http://schemas.openxmlformats.org/drawingml/2006/main" noGrp="1"/>
          </p:cNvSpPr>
          <p:nvPr/>
        </p:nvSpPr>
        <p:spPr>
          <a:xfrm xmlns:a="http://schemas.openxmlformats.org/drawingml/2006/main">
            <a:off x="965168" y="4572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defRPr sz="1425" b="1" i="0">
                <a:solidFill>
                  <a:srgbClr val="000000"/>
                </a:solidFill>
                <a:latin typeface="Helvetica Neue"/>
                <a:ea typeface="Helvetica Neue"/>
                <a:cs typeface="Helvetica Neue"/>
              </a:defRPr>
            </a:pPr>
            <a:r>
              <a:rPr sz="1425" b="1" i="0">
                <a:solidFill>
                  <a:srgbClr val="000000"/>
                </a:solidFill>
                <a:latin typeface="Helvetica Neue"/>
                <a:ea typeface="Helvetica Neue"/>
                <a:cs typeface="Helvetica Neue"/>
              </a:rPr>
              <a:t>Client / legal approval</a:t>
            </a:r>
          </a:p>
        </p:txBody>
      </p:sp>
      <p:sp>
        <p:nvSpPr>
          <p:cNvPr id="23" name="textbox-117">
            <a:extLst xmlns:a="http://schemas.openxmlformats.org/drawingml/2006/main">
              <a:ext uri="{FF2B5EF4-FFF2-40B4-BE49-F238E27FC236}">
                <a16:creationId xmlns:a16="http://schemas.microsoft.com/office/drawing/2014/main" id="{1DE22464-7D22-42C6-ADD0-FF0C42FAC8C3}"/>
              </a:ext>
            </a:extLst>
          </p:cNvPr>
          <p:cNvSpPr>
            <a:spLocks xmlns:a="http://schemas.openxmlformats.org/drawingml/2006/main" noGrp="1"/>
          </p:cNvSpPr>
          <p:nvPr/>
        </p:nvSpPr>
        <p:spPr>
          <a:xfrm xmlns:a="http://schemas.openxmlformats.org/drawingml/2006/main">
            <a:off x="965168" y="481965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656B73"/>
                </a:solidFill>
                <a:latin typeface="Helvetica Neue"/>
                <a:ea typeface="Helvetica Neue"/>
                <a:cs typeface="Helvetica Neue"/>
              </a:defRPr>
            </a:pPr>
            <a:r>
              <a:rPr sz="1050" b="0" i="0">
                <a:solidFill>
                  <a:srgbClr val="656B73"/>
                </a:solidFill>
                <a:latin typeface="Helvetica Neue"/>
                <a:ea typeface="Helvetica Neue"/>
                <a:cs typeface="Helvetica Neue"/>
              </a:rPr>
              <a:t>approval version travels with the manifest</a:t>
            </a:r>
          </a:p>
        </p:txBody>
      </p:sp>
      <p:sp>
        <p:nvSpPr>
          <p:cNvPr id="24" name="textbox-118">
            <a:extLst xmlns:a="http://schemas.openxmlformats.org/drawingml/2006/main">
              <a:ext uri="{FF2B5EF4-FFF2-40B4-BE49-F238E27FC236}">
                <a16:creationId xmlns:a16="http://schemas.microsoft.com/office/drawing/2014/main" id="{63F61D1C-7D73-427F-92CF-49C68F949611}"/>
              </a:ext>
            </a:extLst>
          </p:cNvPr>
          <p:cNvSpPr>
            <a:spLocks xmlns:a="http://schemas.openxmlformats.org/drawingml/2006/main" noGrp="1"/>
          </p:cNvSpPr>
          <p:nvPr/>
        </p:nvSpPr>
        <p:spPr>
          <a:xfrm xmlns:a="http://schemas.openxmlformats.org/drawingml/2006/main">
            <a:off x="6496050" y="19431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000000"/>
                </a:solidFill>
                <a:latin typeface="Helvetica Neue"/>
                <a:ea typeface="Helvetica Neue"/>
                <a:cs typeface="Helvetica Neue"/>
              </a:defRPr>
            </a:pPr>
            <a:r>
              <a:rPr sz="1800" b="1" i="0">
                <a:solidFill>
                  <a:srgbClr val="000000"/>
                </a:solidFill>
                <a:latin typeface="Helvetica Neue"/>
                <a:ea typeface="Helvetica Neue"/>
                <a:cs typeface="Helvetica Neue"/>
              </a:rPr>
              <a:t>Release outcome</a:t>
            </a:r>
          </a:p>
        </p:txBody>
      </p:sp>
      <p:sp>
        <p:nvSpPr>
          <p:cNvPr id="25" name="roundRect-119">
            <a:extLst xmlns:a="http://schemas.openxmlformats.org/drawingml/2006/main">
              <a:ext uri="{FF2B5EF4-FFF2-40B4-BE49-F238E27FC236}">
                <a16:creationId xmlns:a16="http://schemas.microsoft.com/office/drawing/2014/main" id="{5D8BEFE5-7D97-489A-BBF1-B8D472E538FD}"/>
              </a:ext>
            </a:extLst>
          </p:cNvPr>
          <p:cNvSpPr>
            <a:spLocks xmlns:a="http://schemas.openxmlformats.org/drawingml/2006/main" noGrp="1"/>
          </p:cNvSpPr>
          <p:nvPr/>
        </p:nvSpPr>
        <p:spPr>
          <a:xfrm xmlns:a="http://schemas.openxmlformats.org/drawingml/2006/main">
            <a:off x="6496050" y="2476500"/>
            <a:ext cx="4895850" cy="1200150"/>
          </a:xfrm>
          <a:prstGeom xmlns:a="http://schemas.openxmlformats.org/drawingml/2006/main" prst="roundRect">
            <a:avLst>
              <a:gd name="adj" fmla="val 7937"/>
            </a:avLst>
          </a:prstGeom>
          <a:solidFill xmlns:a="http://schemas.openxmlformats.org/drawingml/2006/main">
            <a:srgbClr val="EDF8FD"/>
          </a:solidFill>
          <a:ln xmlns:a="http://schemas.openxmlformats.org/drawingml/2006/main" w="19050">
            <a:solidFill>
              <a:srgbClr val="3D8DFF"/>
            </a:solidFill>
            <a:prstDash val="solid"/>
          </a:ln>
        </p:spPr>
        <p:txBody>
          <a:bodyPr xmlns:a="http://schemas.openxmlformats.org/drawingml/2006/main" wrap="square" lIns="152400" tIns="133350" rIns="152400" bIns="114300" anchor="ctr">
            <a:normAutofit fontScale="100000"/>
          </a:bodyPr>
          <a:lstStyle xmlns:a="http://schemas.openxmlformats.org/drawingml/2006/main"/>
          <a:p xmlns:a="http://schemas.openxmlformats.org/drawingml/2006/main">
            <a:pPr algn="l">
              <a:defRPr sz="1650" b="1" i="0">
                <a:solidFill>
                  <a:srgbClr val="000000"/>
                </a:solidFill>
                <a:latin typeface="Helvetica Neue"/>
                <a:ea typeface="Helvetica Neue"/>
                <a:cs typeface="Helvetica Neue"/>
              </a:defRPr>
            </a:pPr>
            <a:r>
              <a:rPr sz="1650" b="1" i="0">
                <a:solidFill>
                  <a:srgbClr val="000000"/>
                </a:solidFill>
                <a:latin typeface="Helvetica Neue"/>
                <a:ea typeface="Helvetica Neue"/>
                <a:cs typeface="Helvetica Neue"/>
              </a:rPr>
              <a:t>approved</a:t>
            </a:r>
          </a:p>
          <a:p xmlns:a="http://schemas.openxmlformats.org/drawingml/2006/main">
            <a:pPr algn="l">
              <a:defRPr sz="1650" b="1" i="0">
                <a:solidFill>
                  <a:srgbClr val="000000"/>
                </a:solidFill>
                <a:latin typeface="Helvetica Neue"/>
                <a:ea typeface="Helvetica Neue"/>
                <a:cs typeface="Helvetica Neue"/>
              </a:defRPr>
            </a:pPr>
            <a:r>
              <a:rPr sz="1650" b="1" i="0">
                <a:solidFill>
                  <a:srgbClr val="000000"/>
                </a:solidFill>
                <a:latin typeface="Helvetica Neue"/>
                <a:ea typeface="Helvetica Neue"/>
                <a:cs typeface="Helvetica Neue"/>
              </a:rPr>
              <a:t>GA4 may load after route, payload, consent, and approval checks pass.</a:t>
            </a:r>
          </a:p>
        </p:txBody>
      </p:sp>
      <p:sp>
        <p:nvSpPr>
          <p:cNvPr id="26" name="textbox-120">
            <a:extLst xmlns:a="http://schemas.openxmlformats.org/drawingml/2006/main">
              <a:ext uri="{FF2B5EF4-FFF2-40B4-BE49-F238E27FC236}">
                <a16:creationId xmlns:a16="http://schemas.microsoft.com/office/drawing/2014/main" id="{800FEB16-81C0-4192-B49F-6CB9359CAAAA}"/>
              </a:ext>
            </a:extLst>
          </p:cNvPr>
          <p:cNvSpPr>
            <a:spLocks xmlns:a="http://schemas.openxmlformats.org/drawingml/2006/main" noGrp="1"/>
          </p:cNvSpPr>
          <p:nvPr/>
        </p:nvSpPr>
        <p:spPr>
          <a:xfrm xmlns:a="http://schemas.openxmlformats.org/drawingml/2006/main">
            <a:off x="8477250" y="3790950"/>
            <a:ext cx="990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00" b="0" i="0">
                <a:solidFill>
                  <a:srgbClr val="656B73"/>
                </a:solidFill>
                <a:latin typeface="Helvetica Neue"/>
                <a:ea typeface="Helvetica Neue"/>
                <a:cs typeface="Helvetica Neue"/>
              </a:defRPr>
            </a:pPr>
            <a:r>
              <a:rPr sz="1200" b="0" i="0">
                <a:solidFill>
                  <a:srgbClr val="656B73"/>
                </a:solidFill>
                <a:latin typeface="Helvetica Neue"/>
                <a:ea typeface="Helvetica Neue"/>
                <a:cs typeface="Helvetica Neue"/>
              </a:rPr>
              <a:t>otherwise</a:t>
            </a:r>
          </a:p>
        </p:txBody>
      </p:sp>
      <p:sp>
        <p:nvSpPr>
          <p:cNvPr id="27" name="roundRect-121">
            <a:extLst xmlns:a="http://schemas.openxmlformats.org/drawingml/2006/main">
              <a:ext uri="{FF2B5EF4-FFF2-40B4-BE49-F238E27FC236}">
                <a16:creationId xmlns:a16="http://schemas.microsoft.com/office/drawing/2014/main" id="{F5DDC603-FC9A-41A0-A0B1-89AD7562547A}"/>
              </a:ext>
            </a:extLst>
          </p:cNvPr>
          <p:cNvSpPr>
            <a:spLocks xmlns:a="http://schemas.openxmlformats.org/drawingml/2006/main" noGrp="1"/>
          </p:cNvSpPr>
          <p:nvPr/>
        </p:nvSpPr>
        <p:spPr>
          <a:xfrm xmlns:a="http://schemas.openxmlformats.org/drawingml/2006/main">
            <a:off x="6496050" y="4171950"/>
            <a:ext cx="4895850" cy="1200150"/>
          </a:xfrm>
          <a:prstGeom xmlns:a="http://schemas.openxmlformats.org/drawingml/2006/main" prst="roundRect">
            <a:avLst>
              <a:gd name="adj" fmla="val 7937"/>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ctr">
            <a:normAutofit fontScale="100000"/>
          </a:bodyPr>
          <a:lstStyle xmlns:a="http://schemas.openxmlformats.org/drawingml/2006/main"/>
          <a:p xmlns:a="http://schemas.openxmlformats.org/drawingml/2006/main">
            <a:pPr algn="l">
              <a:defRPr sz="1650" b="1" i="0">
                <a:solidFill>
                  <a:srgbClr val="000000"/>
                </a:solidFill>
                <a:latin typeface="Helvetica Neue"/>
                <a:ea typeface="Helvetica Neue"/>
                <a:cs typeface="Helvetica Neue"/>
              </a:defRPr>
            </a:pPr>
            <a:r>
              <a:rPr sz="1650" b="1" i="0">
                <a:solidFill>
                  <a:srgbClr val="000000"/>
                </a:solidFill>
                <a:latin typeface="Helvetica Neue"/>
                <a:ea typeface="Helvetica Neue"/>
                <a:cs typeface="Helvetica Neue"/>
              </a:rPr>
              <a:t>requires_review · prohibited · unknown</a:t>
            </a:r>
          </a:p>
          <a:p xmlns:a="http://schemas.openxmlformats.org/drawingml/2006/main">
            <a:pPr algn="l">
              <a:defRPr sz="1650" b="1" i="0">
                <a:solidFill>
                  <a:srgbClr val="000000"/>
                </a:solidFill>
                <a:latin typeface="Helvetica Neue"/>
                <a:ea typeface="Helvetica Neue"/>
                <a:cs typeface="Helvetica Neue"/>
              </a:defRPr>
            </a:pPr>
            <a:r>
              <a:rPr sz="1650" b="1" i="0">
                <a:solidFill>
                  <a:srgbClr val="000000"/>
                </a:solidFill>
                <a:latin typeface="Helvetica Neue"/>
                <a:ea typeface="Helvetica Neue"/>
                <a:cs typeface="Helvetica Neue"/>
              </a:rPr>
              <a:t>GA4 and related marketing tags stay off.</a:t>
            </a:r>
          </a:p>
        </p:txBody>
      </p:sp>
      <p:sp>
        <p:nvSpPr>
          <p:cNvPr id="28" name="roundRect-122">
            <a:extLst xmlns:a="http://schemas.openxmlformats.org/drawingml/2006/main">
              <a:ext uri="{FF2B5EF4-FFF2-40B4-BE49-F238E27FC236}">
                <a16:creationId xmlns:a16="http://schemas.microsoft.com/office/drawing/2014/main" id="{BF852A33-927D-453E-9329-98DD7F98A59A}"/>
              </a:ext>
            </a:extLst>
          </p:cNvPr>
          <p:cNvSpPr>
            <a:spLocks xmlns:a="http://schemas.openxmlformats.org/drawingml/2006/main" noGrp="1"/>
          </p:cNvSpPr>
          <p:nvPr/>
        </p:nvSpPr>
        <p:spPr>
          <a:xfrm xmlns:a="http://schemas.openxmlformats.org/drawingml/2006/main">
            <a:off x="393668" y="5772150"/>
            <a:ext cx="11001375" cy="438150"/>
          </a:xfrm>
          <a:prstGeom xmlns:a="http://schemas.openxmlformats.org/drawingml/2006/main" prst="roundRect">
            <a:avLst>
              <a:gd name="adj" fmla="val 21739"/>
            </a:avLst>
          </a:prstGeom>
          <a:solidFill xmlns:a="http://schemas.openxmlformats.org/drawingml/2006/main">
            <a:srgbClr val="000000"/>
          </a:solidFill>
          <a:ln xmlns:a="http://schemas.openxmlformats.org/drawingml/2006/main" w="0">
            <a:solidFill>
              <a:srgbClr val="000000"/>
            </a:solidFill>
            <a:prstDash val="solid"/>
          </a:ln>
        </p:spPr>
        <p:txBody>
          <a:bodyPr xmlns:a="http://schemas.openxmlformats.org/drawingml/2006/main" wrap="square" lIns="152400" tIns="133350" rIns="152400" bIns="114300" anchor="ctr">
            <a:normAutofit fontScale="69325"/>
          </a:bodyPr>
          <a:lstStyle xmlns:a="http://schemas.openxmlformats.org/drawingml/2006/main"/>
          <a:p xmlns:a="http://schemas.openxmlformats.org/drawingml/2006/main">
            <a:pPr algn="l">
              <a:defRPr sz="1275" b="1" i="0">
                <a:solidFill>
                  <a:srgbClr val="FFFFFF"/>
                </a:solidFill>
                <a:latin typeface="Helvetica Neue"/>
                <a:ea typeface="Helvetica Neue"/>
                <a:cs typeface="Helvetica Neue"/>
              </a:defRPr>
            </a:pPr>
            <a:r>
              <a:rPr sz="1275" b="1" i="0">
                <a:solidFill>
                  <a:srgbClr val="FFFFFF"/>
                </a:solidFill>
                <a:latin typeface="Helvetica Neue"/>
                <a:ea typeface="Helvetica Neue"/>
                <a:cs typeface="Helvetica Neue"/>
              </a:rPr>
              <a:t>No names · emails · phone numbers · form contents · patient identifiers · treatment details in GA4.</a:t>
            </a:r>
          </a:p>
        </p:txBody>
      </p:sp>
    </p:spTree>
    <p:extLst>
      <p:ext uri="{BB962C8B-B14F-4D97-AF65-F5344CB8AC3E}">
        <p14:creationId xmlns:p14="http://schemas.microsoft.com/office/powerpoint/2010/main" val="121825666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textbox-123">
            <a:extLst xmlns:a="http://schemas.openxmlformats.org/drawingml/2006/main">
              <a:ext uri="{FF2B5EF4-FFF2-40B4-BE49-F238E27FC236}">
                <a16:creationId xmlns:a16="http://schemas.microsoft.com/office/drawing/2014/main" id="{5C4F04F0-3823-497E-9318-8172E9D5C2F2}"/>
              </a:ext>
            </a:extLst>
          </p:cNvPr>
          <p:cNvSpPr>
            <a:spLocks xmlns:a="http://schemas.openxmlformats.org/drawingml/2006/main" noGrp="1"/>
          </p:cNvSpPr>
          <p:nvPr/>
        </p:nvSpPr>
        <p:spPr>
          <a:xfrm xmlns:a="http://schemas.openxmlformats.org/drawingml/2006/main">
            <a:off x="393668" y="344043"/>
            <a:ext cx="11404568"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0" bIns="0" anchor="t">
            <a:normAutofit fontScale="100000"/>
          </a:bodyPr>
          <a:lstStyle xmlns:a="http://schemas.openxmlformats.org/drawingml/2006/main"/>
          <a:p xmlns:a="http://schemas.openxmlformats.org/drawingml/2006/main">
            <a:pPr algn="l">
              <a:defRPr sz="2850" b="0" i="0">
                <a:solidFill>
                  <a:srgbClr val="000000"/>
                </a:solidFill>
                <a:latin typeface="Helvetica Neue"/>
                <a:ea typeface="Helvetica Neue"/>
                <a:cs typeface="Helvetica Neue"/>
              </a:defRPr>
            </a:pPr>
            <a:r>
              <a:rPr sz="2850" b="0" i="0">
                <a:solidFill>
                  <a:srgbClr val="000000"/>
                </a:solidFill>
                <a:latin typeface="Helvetica Neue"/>
                <a:ea typeface="Helvetica Neue"/>
                <a:cs typeface="Helvetica Neue"/>
              </a:rPr>
              <a:t>The dashboard only shows what the system can explain</a:t>
            </a:r>
          </a:p>
        </p:txBody>
      </p:sp>
      <p:sp>
        <p:nvSpPr>
          <p:cNvPr id="2" name="line-124">
            <a:extLst xmlns:a="http://schemas.openxmlformats.org/drawingml/2006/main">
              <a:ext uri="{FF2B5EF4-FFF2-40B4-BE49-F238E27FC236}">
                <a16:creationId xmlns:a16="http://schemas.microsoft.com/office/drawing/2014/main" id="{AD4F033E-E596-48F2-8A30-98B6CF010A5E}"/>
              </a:ext>
            </a:extLst>
          </p:cNvPr>
          <p:cNvSpPr>
            <a:spLocks xmlns:a="http://schemas.openxmlformats.org/drawingml/2006/main" noGrp="1"/>
          </p:cNvSpPr>
          <p:nvPr/>
        </p:nvSpPr>
        <p:spPr>
          <a:xfrm xmlns:a="http://schemas.openxmlformats.org/drawingml/2006/main">
            <a:off x="393668" y="1181100"/>
            <a:ext cx="11404568"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3" name="textbox-125">
            <a:extLst xmlns:a="http://schemas.openxmlformats.org/drawingml/2006/main">
              <a:ext uri="{FF2B5EF4-FFF2-40B4-BE49-F238E27FC236}">
                <a16:creationId xmlns:a16="http://schemas.microsoft.com/office/drawing/2014/main" id="{36BCD038-6069-4B08-9DA8-978CF4480D6C}"/>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975" b="0" i="0">
                <a:solidFill>
                  <a:srgbClr val="000000"/>
                </a:solidFill>
                <a:latin typeface="Helvetica Neue"/>
                <a:ea typeface="Helvetica Neue"/>
                <a:cs typeface="Helvetica Neue"/>
              </a:defRPr>
            </a:pPr>
            <a:r>
              <a:rPr sz="975" b="0" i="0">
                <a:solidFill>
                  <a:srgbClr val="000000"/>
                </a:solidFill>
                <a:latin typeface="Helvetica Neue"/>
                <a:ea typeface="Helvetica Neue"/>
                <a:cs typeface="Helvetica Neue"/>
              </a:rPr>
              <a:t>06</a:t>
            </a:r>
          </a:p>
        </p:txBody>
      </p:sp>
      <p:sp>
        <p:nvSpPr>
          <p:cNvPr id="4" name="textbox-126">
            <a:extLst xmlns:a="http://schemas.openxmlformats.org/drawingml/2006/main">
              <a:ext uri="{FF2B5EF4-FFF2-40B4-BE49-F238E27FC236}">
                <a16:creationId xmlns:a16="http://schemas.microsoft.com/office/drawing/2014/main" id="{70D3ABAE-DA48-4F7D-9C09-CEC73DAAEF13}"/>
              </a:ext>
            </a:extLst>
          </p:cNvPr>
          <p:cNvSpPr>
            <a:spLocks xmlns:a="http://schemas.openxmlformats.org/drawingml/2006/main" noGrp="1"/>
          </p:cNvSpPr>
          <p:nvPr/>
        </p:nvSpPr>
        <p:spPr>
          <a:xfrm xmlns:a="http://schemas.openxmlformats.org/drawingml/2006/main">
            <a:off x="393668" y="1333500"/>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656B73"/>
                </a:solidFill>
                <a:latin typeface="Helvetica Neue"/>
                <a:ea typeface="Helvetica Neue"/>
                <a:cs typeface="Helvetica Neue"/>
              </a:defRPr>
            </a:pPr>
            <a:r>
              <a:rPr sz="1500" b="0" i="0">
                <a:solidFill>
                  <a:srgbClr val="656B73"/>
                </a:solidFill>
                <a:latin typeface="Helvetica Neue"/>
                <a:ea typeface="Helvetica Neue"/>
                <a:cs typeface="Helvetica Neue"/>
              </a:rPr>
              <a:t>Sync jobs are isolated per property, idempotent on retry, and explicit about provisional or incomplete data.</a:t>
            </a:r>
          </a:p>
        </p:txBody>
      </p:sp>
      <p:sp>
        <p:nvSpPr>
          <p:cNvPr id="5" name="rightArrow-127">
            <a:extLst xmlns:a="http://schemas.openxmlformats.org/drawingml/2006/main">
              <a:ext uri="{FF2B5EF4-FFF2-40B4-BE49-F238E27FC236}">
                <a16:creationId xmlns:a16="http://schemas.microsoft.com/office/drawing/2014/main" id="{7A219DC7-F3A8-4621-93D5-D1DFC484272D}"/>
              </a:ext>
            </a:extLst>
          </p:cNvPr>
          <p:cNvSpPr>
            <a:spLocks xmlns:a="http://schemas.openxmlformats.org/drawingml/2006/main" noGrp="1"/>
          </p:cNvSpPr>
          <p:nvPr/>
        </p:nvSpPr>
        <p:spPr>
          <a:xfrm xmlns:a="http://schemas.openxmlformats.org/drawingml/2006/main">
            <a:off x="2393918" y="1990725"/>
            <a:ext cx="552450" cy="133350"/>
          </a:xfrm>
          <a:prstGeom xmlns:a="http://schemas.openxmlformats.org/drawingml/2006/main" prst="rightArrow">
            <a:avLst/>
          </a:prstGeom>
          <a:solidFill xmlns:a="http://schemas.openxmlformats.org/drawingml/2006/main">
            <a:srgbClr val="D0EDFA"/>
          </a:solidFill>
          <a:ln xmlns:a="http://schemas.openxmlformats.org/drawingml/2006/main" w="0">
            <a:solidFill>
              <a:srgbClr val="D0EDFA"/>
            </a:solidFill>
            <a:prstDash val="solid"/>
          </a:ln>
        </p:spPr>
      </p:sp>
      <p:sp>
        <p:nvSpPr>
          <p:cNvPr id="6" name="rightArrow-128">
            <a:extLst xmlns:a="http://schemas.openxmlformats.org/drawingml/2006/main">
              <a:ext uri="{FF2B5EF4-FFF2-40B4-BE49-F238E27FC236}">
                <a16:creationId xmlns:a16="http://schemas.microsoft.com/office/drawing/2014/main" id="{89BBF827-B3B4-45DD-B2A4-A46104604EC7}"/>
              </a:ext>
            </a:extLst>
          </p:cNvPr>
          <p:cNvSpPr>
            <a:spLocks xmlns:a="http://schemas.openxmlformats.org/drawingml/2006/main" noGrp="1"/>
          </p:cNvSpPr>
          <p:nvPr/>
        </p:nvSpPr>
        <p:spPr>
          <a:xfrm xmlns:a="http://schemas.openxmlformats.org/drawingml/2006/main">
            <a:off x="5019675" y="1990725"/>
            <a:ext cx="552450" cy="133350"/>
          </a:xfrm>
          <a:prstGeom xmlns:a="http://schemas.openxmlformats.org/drawingml/2006/main" prst="rightArrow">
            <a:avLst/>
          </a:prstGeom>
          <a:solidFill xmlns:a="http://schemas.openxmlformats.org/drawingml/2006/main">
            <a:srgbClr val="D0EDFA"/>
          </a:solidFill>
          <a:ln xmlns:a="http://schemas.openxmlformats.org/drawingml/2006/main" w="0">
            <a:solidFill>
              <a:srgbClr val="D0EDFA"/>
            </a:solidFill>
            <a:prstDash val="solid"/>
          </a:ln>
        </p:spPr>
      </p:sp>
      <p:sp>
        <p:nvSpPr>
          <p:cNvPr id="7" name="rightArrow-129">
            <a:extLst xmlns:a="http://schemas.openxmlformats.org/drawingml/2006/main">
              <a:ext uri="{FF2B5EF4-FFF2-40B4-BE49-F238E27FC236}">
                <a16:creationId xmlns:a16="http://schemas.microsoft.com/office/drawing/2014/main" id="{171361F9-2BD4-4885-8536-C431AFD1870F}"/>
              </a:ext>
            </a:extLst>
          </p:cNvPr>
          <p:cNvSpPr>
            <a:spLocks xmlns:a="http://schemas.openxmlformats.org/drawingml/2006/main" noGrp="1"/>
          </p:cNvSpPr>
          <p:nvPr/>
        </p:nvSpPr>
        <p:spPr>
          <a:xfrm xmlns:a="http://schemas.openxmlformats.org/drawingml/2006/main">
            <a:off x="7645432" y="1990725"/>
            <a:ext cx="552450" cy="133350"/>
          </a:xfrm>
          <a:prstGeom xmlns:a="http://schemas.openxmlformats.org/drawingml/2006/main" prst="rightArrow">
            <a:avLst/>
          </a:prstGeom>
          <a:solidFill xmlns:a="http://schemas.openxmlformats.org/drawingml/2006/main">
            <a:srgbClr val="D0EDFA"/>
          </a:solidFill>
          <a:ln xmlns:a="http://schemas.openxmlformats.org/drawingml/2006/main" w="0">
            <a:solidFill>
              <a:srgbClr val="D0EDFA"/>
            </a:solidFill>
            <a:prstDash val="solid"/>
          </a:ln>
        </p:spPr>
      </p:sp>
      <p:sp>
        <p:nvSpPr>
          <p:cNvPr id="8" name="roundRect-130">
            <a:extLst xmlns:a="http://schemas.openxmlformats.org/drawingml/2006/main">
              <a:ext uri="{FF2B5EF4-FFF2-40B4-BE49-F238E27FC236}">
                <a16:creationId xmlns:a16="http://schemas.microsoft.com/office/drawing/2014/main" id="{5BFFD194-7F8A-4D70-8A1A-F4DEC327B6E7}"/>
              </a:ext>
            </a:extLst>
          </p:cNvPr>
          <p:cNvSpPr>
            <a:spLocks xmlns:a="http://schemas.openxmlformats.org/drawingml/2006/main" noGrp="1"/>
          </p:cNvSpPr>
          <p:nvPr/>
        </p:nvSpPr>
        <p:spPr>
          <a:xfrm xmlns:a="http://schemas.openxmlformats.org/drawingml/2006/main">
            <a:off x="393668" y="1743075"/>
            <a:ext cx="2000250" cy="723900"/>
          </a:xfrm>
          <a:prstGeom xmlns:a="http://schemas.openxmlformats.org/drawingml/2006/main" prst="roundRect">
            <a:avLst>
              <a:gd name="adj" fmla="val 10526"/>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t">
            <a:noAutofit/>
          </a:bodyPr>
          <a:lstStyle xmlns:a="http://schemas.openxmlformats.org/drawingml/2006/main"/>
          <a:p xmlns:a="http://schemas.openxmlformats.org/drawingml/2006/main">
            <a:r>
              <a:t/>
            </a:r>
          </a:p>
        </p:txBody>
      </p:sp>
      <p:sp>
        <p:nvSpPr>
          <p:cNvPr id="9" name="textbox-131">
            <a:extLst xmlns:a="http://schemas.openxmlformats.org/drawingml/2006/main">
              <a:ext uri="{FF2B5EF4-FFF2-40B4-BE49-F238E27FC236}">
                <a16:creationId xmlns:a16="http://schemas.microsoft.com/office/drawing/2014/main" id="{DB397F33-550E-4E1A-9D38-0BBD3FB17F3C}"/>
              </a:ext>
            </a:extLst>
          </p:cNvPr>
          <p:cNvSpPr>
            <a:spLocks xmlns:a="http://schemas.openxmlformats.org/drawingml/2006/main" noGrp="1"/>
          </p:cNvSpPr>
          <p:nvPr/>
        </p:nvSpPr>
        <p:spPr>
          <a:xfrm xmlns:a="http://schemas.openxmlformats.org/drawingml/2006/main">
            <a:off x="546068" y="1876425"/>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i="0">
                <a:solidFill>
                  <a:srgbClr val="000000"/>
                </a:solidFill>
                <a:latin typeface="Helvetica Neue"/>
                <a:ea typeface="Helvetica Neue"/>
                <a:cs typeface="Helvetica Neue"/>
              </a:defRPr>
            </a:pPr>
            <a:r>
              <a:rPr sz="1500" b="1" i="0">
                <a:solidFill>
                  <a:srgbClr val="000000"/>
                </a:solidFill>
                <a:latin typeface="Helvetica Neue"/>
                <a:ea typeface="Helvetica Neue"/>
                <a:cs typeface="Helvetica Neue"/>
              </a:rPr>
              <a:t>Scheduler</a:t>
            </a:r>
          </a:p>
        </p:txBody>
      </p:sp>
      <p:sp>
        <p:nvSpPr>
          <p:cNvPr id="10" name="textbox-132">
            <a:extLst xmlns:a="http://schemas.openxmlformats.org/drawingml/2006/main">
              <a:ext uri="{FF2B5EF4-FFF2-40B4-BE49-F238E27FC236}">
                <a16:creationId xmlns:a16="http://schemas.microsoft.com/office/drawing/2014/main" id="{A9D95306-2DA9-448D-9DBC-3B69DB949DC2}"/>
              </a:ext>
            </a:extLst>
          </p:cNvPr>
          <p:cNvSpPr>
            <a:spLocks xmlns:a="http://schemas.openxmlformats.org/drawingml/2006/main" noGrp="1"/>
          </p:cNvSpPr>
          <p:nvPr/>
        </p:nvSpPr>
        <p:spPr>
          <a:xfrm xmlns:a="http://schemas.openxmlformats.org/drawingml/2006/main">
            <a:off x="546068" y="215265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3582"/>
          </a:bodyPr>
          <a:lstStyle xmlns:a="http://schemas.openxmlformats.org/drawingml/2006/main"/>
          <a:p xmlns:a="http://schemas.openxmlformats.org/drawingml/2006/main">
            <a:pPr algn="l">
              <a:defRPr sz="1050" b="0" i="0">
                <a:solidFill>
                  <a:srgbClr val="656B73"/>
                </a:solidFill>
                <a:latin typeface="Helvetica Neue"/>
                <a:ea typeface="Helvetica Neue"/>
                <a:cs typeface="Helvetica Neue"/>
              </a:defRPr>
            </a:pPr>
            <a:r>
              <a:rPr sz="1050" b="0" i="0">
                <a:solidFill>
                  <a:srgbClr val="656B73"/>
                </a:solidFill>
                <a:latin typeface="Helvetica Neue"/>
                <a:ea typeface="Helvetica Neue"/>
                <a:cs typeface="Helvetica Neue"/>
              </a:rPr>
              <a:t>creates assignment / report / date jobs</a:t>
            </a:r>
          </a:p>
        </p:txBody>
      </p:sp>
      <p:sp>
        <p:nvSpPr>
          <p:cNvPr id="11" name="roundRect-133">
            <a:extLst xmlns:a="http://schemas.openxmlformats.org/drawingml/2006/main">
              <a:ext uri="{FF2B5EF4-FFF2-40B4-BE49-F238E27FC236}">
                <a16:creationId xmlns:a16="http://schemas.microsoft.com/office/drawing/2014/main" id="{CD3CD8AE-ED49-4AFE-83A0-79EBBA297A4A}"/>
              </a:ext>
            </a:extLst>
          </p:cNvPr>
          <p:cNvSpPr>
            <a:spLocks xmlns:a="http://schemas.openxmlformats.org/drawingml/2006/main" noGrp="1"/>
          </p:cNvSpPr>
          <p:nvPr/>
        </p:nvSpPr>
        <p:spPr>
          <a:xfrm xmlns:a="http://schemas.openxmlformats.org/drawingml/2006/main">
            <a:off x="3019425" y="1743075"/>
            <a:ext cx="2000250" cy="723900"/>
          </a:xfrm>
          <a:prstGeom xmlns:a="http://schemas.openxmlformats.org/drawingml/2006/main" prst="roundRect">
            <a:avLst>
              <a:gd name="adj" fmla="val 10526"/>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t">
            <a:noAutofit/>
          </a:bodyPr>
          <a:lstStyle xmlns:a="http://schemas.openxmlformats.org/drawingml/2006/main"/>
          <a:p xmlns:a="http://schemas.openxmlformats.org/drawingml/2006/main">
            <a:r>
              <a:t/>
            </a:r>
          </a:p>
        </p:txBody>
      </p:sp>
      <p:sp>
        <p:nvSpPr>
          <p:cNvPr id="12" name="textbox-134">
            <a:extLst xmlns:a="http://schemas.openxmlformats.org/drawingml/2006/main">
              <a:ext uri="{FF2B5EF4-FFF2-40B4-BE49-F238E27FC236}">
                <a16:creationId xmlns:a16="http://schemas.microsoft.com/office/drawing/2014/main" id="{9AC2C80E-B27A-44C4-BABD-0B03502796E7}"/>
              </a:ext>
            </a:extLst>
          </p:cNvPr>
          <p:cNvSpPr>
            <a:spLocks xmlns:a="http://schemas.openxmlformats.org/drawingml/2006/main" noGrp="1"/>
          </p:cNvSpPr>
          <p:nvPr/>
        </p:nvSpPr>
        <p:spPr>
          <a:xfrm xmlns:a="http://schemas.openxmlformats.org/drawingml/2006/main">
            <a:off x="3171825" y="1876425"/>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i="0">
                <a:solidFill>
                  <a:srgbClr val="000000"/>
                </a:solidFill>
                <a:latin typeface="Helvetica Neue"/>
                <a:ea typeface="Helvetica Neue"/>
                <a:cs typeface="Helvetica Neue"/>
              </a:defRPr>
            </a:pPr>
            <a:r>
              <a:rPr sz="1500" b="1" i="0">
                <a:solidFill>
                  <a:srgbClr val="000000"/>
                </a:solidFill>
                <a:latin typeface="Helvetica Neue"/>
                <a:ea typeface="Helvetica Neue"/>
                <a:cs typeface="Helvetica Neue"/>
              </a:rPr>
              <a:t>Queue</a:t>
            </a:r>
          </a:p>
        </p:txBody>
      </p:sp>
      <p:sp>
        <p:nvSpPr>
          <p:cNvPr id="13" name="textbox-135">
            <a:extLst xmlns:a="http://schemas.openxmlformats.org/drawingml/2006/main">
              <a:ext uri="{FF2B5EF4-FFF2-40B4-BE49-F238E27FC236}">
                <a16:creationId xmlns:a16="http://schemas.microsoft.com/office/drawing/2014/main" id="{8FA398D1-71E1-40BB-A6A3-AEBD10E1434A}"/>
              </a:ext>
            </a:extLst>
          </p:cNvPr>
          <p:cNvSpPr>
            <a:spLocks xmlns:a="http://schemas.openxmlformats.org/drawingml/2006/main" noGrp="1"/>
          </p:cNvSpPr>
          <p:nvPr/>
        </p:nvSpPr>
        <p:spPr>
          <a:xfrm xmlns:a="http://schemas.openxmlformats.org/drawingml/2006/main">
            <a:off x="3171825" y="215265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304"/>
          </a:bodyPr>
          <a:lstStyle xmlns:a="http://schemas.openxmlformats.org/drawingml/2006/main"/>
          <a:p xmlns:a="http://schemas.openxmlformats.org/drawingml/2006/main">
            <a:pPr algn="l">
              <a:defRPr sz="1050" b="0" i="0">
                <a:solidFill>
                  <a:srgbClr val="656B73"/>
                </a:solidFill>
                <a:latin typeface="Helvetica Neue"/>
                <a:ea typeface="Helvetica Neue"/>
                <a:cs typeface="Helvetica Neue"/>
              </a:defRPr>
            </a:pPr>
            <a:r>
              <a:rPr sz="1050" b="0" i="0">
                <a:solidFill>
                  <a:srgbClr val="656B73"/>
                </a:solidFill>
                <a:latin typeface="Helvetica Neue"/>
                <a:ea typeface="Helvetica Neue"/>
                <a:cs typeface="Helvetica Neue"/>
              </a:rPr>
              <a:t>rate-limits and isolates properties</a:t>
            </a:r>
          </a:p>
        </p:txBody>
      </p:sp>
      <p:sp>
        <p:nvSpPr>
          <p:cNvPr id="14" name="roundRect-136">
            <a:extLst xmlns:a="http://schemas.openxmlformats.org/drawingml/2006/main">
              <a:ext uri="{FF2B5EF4-FFF2-40B4-BE49-F238E27FC236}">
                <a16:creationId xmlns:a16="http://schemas.microsoft.com/office/drawing/2014/main" id="{28FCE144-F5B5-40B9-811C-9BE244C7AB59}"/>
              </a:ext>
            </a:extLst>
          </p:cNvPr>
          <p:cNvSpPr>
            <a:spLocks xmlns:a="http://schemas.openxmlformats.org/drawingml/2006/main" noGrp="1"/>
          </p:cNvSpPr>
          <p:nvPr/>
        </p:nvSpPr>
        <p:spPr>
          <a:xfrm xmlns:a="http://schemas.openxmlformats.org/drawingml/2006/main">
            <a:off x="5645182" y="1743075"/>
            <a:ext cx="2000250" cy="723900"/>
          </a:xfrm>
          <a:prstGeom xmlns:a="http://schemas.openxmlformats.org/drawingml/2006/main" prst="roundRect">
            <a:avLst>
              <a:gd name="adj" fmla="val 10526"/>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t">
            <a:noAutofit/>
          </a:bodyPr>
          <a:lstStyle xmlns:a="http://schemas.openxmlformats.org/drawingml/2006/main"/>
          <a:p xmlns:a="http://schemas.openxmlformats.org/drawingml/2006/main">
            <a:r>
              <a:t/>
            </a:r>
          </a:p>
        </p:txBody>
      </p:sp>
      <p:sp>
        <p:nvSpPr>
          <p:cNvPr id="15" name="textbox-137">
            <a:extLst xmlns:a="http://schemas.openxmlformats.org/drawingml/2006/main">
              <a:ext uri="{FF2B5EF4-FFF2-40B4-BE49-F238E27FC236}">
                <a16:creationId xmlns:a16="http://schemas.microsoft.com/office/drawing/2014/main" id="{F8C1A6B1-4DC4-4948-9E1A-19244EFDF8EA}"/>
              </a:ext>
            </a:extLst>
          </p:cNvPr>
          <p:cNvSpPr>
            <a:spLocks xmlns:a="http://schemas.openxmlformats.org/drawingml/2006/main" noGrp="1"/>
          </p:cNvSpPr>
          <p:nvPr/>
        </p:nvSpPr>
        <p:spPr>
          <a:xfrm xmlns:a="http://schemas.openxmlformats.org/drawingml/2006/main">
            <a:off x="5797582" y="1876425"/>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i="0">
                <a:solidFill>
                  <a:srgbClr val="000000"/>
                </a:solidFill>
                <a:latin typeface="Helvetica Neue"/>
                <a:ea typeface="Helvetica Neue"/>
                <a:cs typeface="Helvetica Neue"/>
              </a:defRPr>
            </a:pPr>
            <a:r>
              <a:rPr sz="1500" b="1" i="0">
                <a:solidFill>
                  <a:srgbClr val="000000"/>
                </a:solidFill>
                <a:latin typeface="Helvetica Neue"/>
                <a:ea typeface="Helvetica Neue"/>
                <a:cs typeface="Helvetica Neue"/>
              </a:rPr>
              <a:t>Worker</a:t>
            </a:r>
          </a:p>
        </p:txBody>
      </p:sp>
      <p:sp>
        <p:nvSpPr>
          <p:cNvPr id="16" name="textbox-138">
            <a:extLst xmlns:a="http://schemas.openxmlformats.org/drawingml/2006/main">
              <a:ext uri="{FF2B5EF4-FFF2-40B4-BE49-F238E27FC236}">
                <a16:creationId xmlns:a16="http://schemas.microsoft.com/office/drawing/2014/main" id="{47CE164A-0187-42AE-A937-3849F335E935}"/>
              </a:ext>
            </a:extLst>
          </p:cNvPr>
          <p:cNvSpPr>
            <a:spLocks xmlns:a="http://schemas.openxmlformats.org/drawingml/2006/main" noGrp="1"/>
          </p:cNvSpPr>
          <p:nvPr/>
        </p:nvSpPr>
        <p:spPr>
          <a:xfrm xmlns:a="http://schemas.openxmlformats.org/drawingml/2006/main">
            <a:off x="5797582" y="215265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7968"/>
          </a:bodyPr>
          <a:lstStyle xmlns:a="http://schemas.openxmlformats.org/drawingml/2006/main"/>
          <a:p xmlns:a="http://schemas.openxmlformats.org/drawingml/2006/main">
            <a:pPr algn="l">
              <a:defRPr sz="1050" b="0" i="0">
                <a:solidFill>
                  <a:srgbClr val="656B73"/>
                </a:solidFill>
                <a:latin typeface="Helvetica Neue"/>
                <a:ea typeface="Helvetica Neue"/>
                <a:cs typeface="Helvetica Neue"/>
              </a:defRPr>
            </a:pPr>
            <a:r>
              <a:rPr sz="1050" b="0" i="0">
                <a:solidFill>
                  <a:srgbClr val="656B73"/>
                </a:solidFill>
                <a:latin typeface="Helvetica Neue"/>
                <a:ea typeface="Helvetica Neue"/>
                <a:cs typeface="Helvetica Neue"/>
              </a:rPr>
              <a:t>auth → validate → request → upsert</a:t>
            </a:r>
          </a:p>
        </p:txBody>
      </p:sp>
      <p:sp>
        <p:nvSpPr>
          <p:cNvPr id="17" name="roundRect-139">
            <a:extLst xmlns:a="http://schemas.openxmlformats.org/drawingml/2006/main">
              <a:ext uri="{FF2B5EF4-FFF2-40B4-BE49-F238E27FC236}">
                <a16:creationId xmlns:a16="http://schemas.microsoft.com/office/drawing/2014/main" id="{84CD2D48-6D97-4216-82AD-0FACB52474F6}"/>
              </a:ext>
            </a:extLst>
          </p:cNvPr>
          <p:cNvSpPr>
            <a:spLocks xmlns:a="http://schemas.openxmlformats.org/drawingml/2006/main" noGrp="1"/>
          </p:cNvSpPr>
          <p:nvPr/>
        </p:nvSpPr>
        <p:spPr>
          <a:xfrm xmlns:a="http://schemas.openxmlformats.org/drawingml/2006/main">
            <a:off x="8270843" y="1743075"/>
            <a:ext cx="2000250" cy="723900"/>
          </a:xfrm>
          <a:prstGeom xmlns:a="http://schemas.openxmlformats.org/drawingml/2006/main" prst="roundRect">
            <a:avLst>
              <a:gd name="adj" fmla="val 10526"/>
            </a:avLst>
          </a:prstGeom>
          <a:solidFill xmlns:a="http://schemas.openxmlformats.org/drawingml/2006/main">
            <a:srgbClr val="EDF8FD"/>
          </a:solidFill>
          <a:ln xmlns:a="http://schemas.openxmlformats.org/drawingml/2006/main" w="19050">
            <a:solidFill>
              <a:srgbClr val="3D8DFF"/>
            </a:solidFill>
            <a:prstDash val="solid"/>
          </a:ln>
        </p:spPr>
        <p:txBody>
          <a:bodyPr xmlns:a="http://schemas.openxmlformats.org/drawingml/2006/main" wrap="square" lIns="152400" tIns="133350" rIns="152400" bIns="114300" anchor="t">
            <a:noAutofit/>
          </a:bodyPr>
          <a:lstStyle xmlns:a="http://schemas.openxmlformats.org/drawingml/2006/main"/>
          <a:p xmlns:a="http://schemas.openxmlformats.org/drawingml/2006/main">
            <a:r>
              <a:t/>
            </a:r>
          </a:p>
        </p:txBody>
      </p:sp>
      <p:sp>
        <p:nvSpPr>
          <p:cNvPr id="18" name="textbox-140">
            <a:extLst xmlns:a="http://schemas.openxmlformats.org/drawingml/2006/main">
              <a:ext uri="{FF2B5EF4-FFF2-40B4-BE49-F238E27FC236}">
                <a16:creationId xmlns:a16="http://schemas.microsoft.com/office/drawing/2014/main" id="{7A88243C-5CC8-4336-B1E5-DCCD4D1FA319}"/>
              </a:ext>
            </a:extLst>
          </p:cNvPr>
          <p:cNvSpPr>
            <a:spLocks xmlns:a="http://schemas.openxmlformats.org/drawingml/2006/main" noGrp="1"/>
          </p:cNvSpPr>
          <p:nvPr/>
        </p:nvSpPr>
        <p:spPr>
          <a:xfrm xmlns:a="http://schemas.openxmlformats.org/drawingml/2006/main">
            <a:off x="8423243" y="1876425"/>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i="0">
                <a:solidFill>
                  <a:srgbClr val="000000"/>
                </a:solidFill>
                <a:latin typeface="Helvetica Neue"/>
                <a:ea typeface="Helvetica Neue"/>
                <a:cs typeface="Helvetica Neue"/>
              </a:defRPr>
            </a:pPr>
            <a:r>
              <a:rPr sz="1500" b="1" i="0">
                <a:solidFill>
                  <a:srgbClr val="000000"/>
                </a:solidFill>
                <a:latin typeface="Helvetica Neue"/>
                <a:ea typeface="Helvetica Neue"/>
                <a:cs typeface="Helvetica Neue"/>
              </a:rPr>
              <a:t>Postgres</a:t>
            </a:r>
          </a:p>
        </p:txBody>
      </p:sp>
      <p:sp>
        <p:nvSpPr>
          <p:cNvPr id="19" name="textbox-141">
            <a:extLst xmlns:a="http://schemas.openxmlformats.org/drawingml/2006/main">
              <a:ext uri="{FF2B5EF4-FFF2-40B4-BE49-F238E27FC236}">
                <a16:creationId xmlns:a16="http://schemas.microsoft.com/office/drawing/2014/main" id="{BBF9BE8E-7FB6-45DC-8A2E-9B18744333EC}"/>
              </a:ext>
            </a:extLst>
          </p:cNvPr>
          <p:cNvSpPr>
            <a:spLocks xmlns:a="http://schemas.openxmlformats.org/drawingml/2006/main" noGrp="1"/>
          </p:cNvSpPr>
          <p:nvPr/>
        </p:nvSpPr>
        <p:spPr>
          <a:xfrm xmlns:a="http://schemas.openxmlformats.org/drawingml/2006/main">
            <a:off x="8423243" y="215265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656B73"/>
                </a:solidFill>
                <a:latin typeface="Helvetica Neue"/>
                <a:ea typeface="Helvetica Neue"/>
                <a:cs typeface="Helvetica Neue"/>
              </a:defRPr>
            </a:pPr>
            <a:r>
              <a:rPr sz="1050" b="0" i="0">
                <a:solidFill>
                  <a:srgbClr val="656B73"/>
                </a:solidFill>
                <a:latin typeface="Helvetica Neue"/>
                <a:ea typeface="Helvetica Neue"/>
                <a:cs typeface="Helvetica Neue"/>
              </a:rPr>
              <a:t>facts, health, provenance</a:t>
            </a:r>
          </a:p>
        </p:txBody>
      </p:sp>
      <p:sp>
        <p:nvSpPr>
          <p:cNvPr id="20" name="roundRect-142">
            <a:extLst xmlns:a="http://schemas.openxmlformats.org/drawingml/2006/main">
              <a:ext uri="{FF2B5EF4-FFF2-40B4-BE49-F238E27FC236}">
                <a16:creationId xmlns:a16="http://schemas.microsoft.com/office/drawing/2014/main" id="{C531830B-4A6B-4A46-ADAA-4DBA2A8919BD}"/>
              </a:ext>
            </a:extLst>
          </p:cNvPr>
          <p:cNvSpPr>
            <a:spLocks xmlns:a="http://schemas.openxmlformats.org/drawingml/2006/main" noGrp="1"/>
          </p:cNvSpPr>
          <p:nvPr/>
        </p:nvSpPr>
        <p:spPr>
          <a:xfrm xmlns:a="http://schemas.openxmlformats.org/drawingml/2006/main">
            <a:off x="8270843" y="2571750"/>
            <a:ext cx="3149632" cy="323850"/>
          </a:xfrm>
          <a:prstGeom xmlns:a="http://schemas.openxmlformats.org/drawingml/2006/main" prst="roundRect">
            <a:avLst>
              <a:gd name="adj" fmla="val 29412"/>
            </a:avLst>
          </a:prstGeom>
          <a:solidFill xmlns:a="http://schemas.openxmlformats.org/drawingml/2006/main">
            <a:srgbClr val="000000"/>
          </a:solidFill>
          <a:ln xmlns:a="http://schemas.openxmlformats.org/drawingml/2006/main" w="0">
            <a:solidFill>
              <a:srgbClr val="000000"/>
            </a:solidFill>
            <a:prstDash val="solid"/>
          </a:ln>
        </p:spPr>
        <p:txBody>
          <a:bodyPr xmlns:a="http://schemas.openxmlformats.org/drawingml/2006/main" wrap="square" lIns="95250" tIns="57150" rIns="95250" bIns="57150" anchor="ctr">
            <a:normAutofit fontScale="56049"/>
          </a:bodyPr>
          <a:lstStyle xmlns:a="http://schemas.openxmlformats.org/drawingml/2006/main"/>
          <a:p xmlns:a="http://schemas.openxmlformats.org/drawingml/2006/main">
            <a:pPr algn="l">
              <a:defRPr sz="900" b="0" i="0">
                <a:solidFill>
                  <a:srgbClr val="FFFFFF"/>
                </a:solidFill>
                <a:latin typeface="Helvetica Neue"/>
                <a:ea typeface="Helvetica Neue"/>
                <a:cs typeface="Helvetica Neue"/>
              </a:defRPr>
            </a:pPr>
            <a:r>
              <a:rPr sz="900" b="0" i="0">
                <a:solidFill>
                  <a:srgbClr val="FFFFFF"/>
                </a:solidFill>
                <a:latin typeface="Helvetica Neue"/>
                <a:ea typeface="Helvetica Neue"/>
                <a:cs typeface="Helvetica Neue"/>
              </a:rPr>
              <a:t>One property failure does not block the portfolio. Retries are bounded; dead-letter states and operator-visible error codes are explicit.</a:t>
            </a:r>
          </a:p>
        </p:txBody>
      </p:sp>
      <p:sp>
        <p:nvSpPr>
          <p:cNvPr id="21" name="textbox-143">
            <a:extLst xmlns:a="http://schemas.openxmlformats.org/drawingml/2006/main">
              <a:ext uri="{FF2B5EF4-FFF2-40B4-BE49-F238E27FC236}">
                <a16:creationId xmlns:a16="http://schemas.microsoft.com/office/drawing/2014/main" id="{D9FB7A90-4399-403E-A2AA-3DDB63F1EB6B}"/>
              </a:ext>
            </a:extLst>
          </p:cNvPr>
          <p:cNvSpPr>
            <a:spLocks xmlns:a="http://schemas.openxmlformats.org/drawingml/2006/main" noGrp="1"/>
          </p:cNvSpPr>
          <p:nvPr/>
        </p:nvSpPr>
        <p:spPr>
          <a:xfrm xmlns:a="http://schemas.openxmlformats.org/drawingml/2006/main">
            <a:off x="393668" y="30289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000000"/>
                </a:solidFill>
                <a:latin typeface="Helvetica Neue"/>
                <a:ea typeface="Helvetica Neue"/>
                <a:cs typeface="Helvetica Neue"/>
              </a:defRPr>
            </a:pPr>
            <a:r>
              <a:rPr sz="1800" b="1" i="0">
                <a:solidFill>
                  <a:srgbClr val="000000"/>
                </a:solidFill>
                <a:latin typeface="Helvetica Neue"/>
                <a:ea typeface="Helvetica Neue"/>
                <a:cs typeface="Helvetica Neue"/>
              </a:rPr>
              <a:t>Default reconciliation windows</a:t>
            </a:r>
          </a:p>
        </p:txBody>
      </p:sp>
      <p:sp>
        <p:nvSpPr>
          <p:cNvPr id="22" name="roundRect-144">
            <a:extLst xmlns:a="http://schemas.openxmlformats.org/drawingml/2006/main">
              <a:ext uri="{FF2B5EF4-FFF2-40B4-BE49-F238E27FC236}">
                <a16:creationId xmlns:a16="http://schemas.microsoft.com/office/drawing/2014/main" id="{EC861E3C-6A82-42C0-AF48-C691A5C9EF5F}"/>
              </a:ext>
            </a:extLst>
          </p:cNvPr>
          <p:cNvSpPr>
            <a:spLocks xmlns:a="http://schemas.openxmlformats.org/drawingml/2006/main" noGrp="1"/>
          </p:cNvSpPr>
          <p:nvPr/>
        </p:nvSpPr>
        <p:spPr>
          <a:xfrm xmlns:a="http://schemas.openxmlformats.org/drawingml/2006/main">
            <a:off x="393668" y="3524250"/>
            <a:ext cx="2038350" cy="1504950"/>
          </a:xfrm>
          <a:prstGeom xmlns:a="http://schemas.openxmlformats.org/drawingml/2006/main" prst="roundRect">
            <a:avLst>
              <a:gd name="adj" fmla="val 5063"/>
            </a:avLst>
          </a:prstGeom>
          <a:solidFill xmlns:a="http://schemas.openxmlformats.org/drawingml/2006/main">
            <a:srgbClr val="EDF8FD"/>
          </a:solidFill>
          <a:ln xmlns:a="http://schemas.openxmlformats.org/drawingml/2006/main" w="19050">
            <a:solidFill>
              <a:srgbClr val="3D8DFF"/>
            </a:solidFill>
            <a:prstDash val="solid"/>
          </a:ln>
        </p:spPr>
        <p:txBody>
          <a:bodyPr xmlns:a="http://schemas.openxmlformats.org/drawingml/2006/main" wrap="square" lIns="152400" tIns="133350" rIns="152400" bIns="114300" anchor="t">
            <a:noAutofit/>
          </a:bodyPr>
          <a:lstStyle xmlns:a="http://schemas.openxmlformats.org/drawingml/2006/main"/>
          <a:p xmlns:a="http://schemas.openxmlformats.org/drawingml/2006/main">
            <a:r>
              <a:t/>
            </a:r>
          </a:p>
        </p:txBody>
      </p:sp>
      <p:sp>
        <p:nvSpPr>
          <p:cNvPr id="23" name="textbox-145">
            <a:extLst xmlns:a="http://schemas.openxmlformats.org/drawingml/2006/main">
              <a:ext uri="{FF2B5EF4-FFF2-40B4-BE49-F238E27FC236}">
                <a16:creationId xmlns:a16="http://schemas.microsoft.com/office/drawing/2014/main" id="{F6A1A99D-1B73-4703-AAFF-8CD2BC6D401E}"/>
              </a:ext>
            </a:extLst>
          </p:cNvPr>
          <p:cNvSpPr>
            <a:spLocks xmlns:a="http://schemas.openxmlformats.org/drawingml/2006/main" noGrp="1"/>
          </p:cNvSpPr>
          <p:nvPr/>
        </p:nvSpPr>
        <p:spPr>
          <a:xfrm xmlns:a="http://schemas.openxmlformats.org/drawingml/2006/main">
            <a:off x="546068" y="3695700"/>
            <a:ext cx="173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i="0">
                <a:solidFill>
                  <a:srgbClr val="000000"/>
                </a:solidFill>
                <a:latin typeface="Helvetica Neue"/>
                <a:ea typeface="Helvetica Neue"/>
                <a:cs typeface="Helvetica Neue"/>
              </a:defRPr>
            </a:pPr>
            <a:r>
              <a:rPr sz="1500" b="1" i="0">
                <a:solidFill>
                  <a:srgbClr val="000000"/>
                </a:solidFill>
                <a:latin typeface="Helvetica Neue"/>
                <a:ea typeface="Helvetica Neue"/>
                <a:cs typeface="Helvetica Neue"/>
              </a:rPr>
              <a:t>Today</a:t>
            </a:r>
          </a:p>
        </p:txBody>
      </p:sp>
      <p:sp>
        <p:nvSpPr>
          <p:cNvPr id="24" name="textbox-146">
            <a:extLst xmlns:a="http://schemas.openxmlformats.org/drawingml/2006/main">
              <a:ext uri="{FF2B5EF4-FFF2-40B4-BE49-F238E27FC236}">
                <a16:creationId xmlns:a16="http://schemas.microsoft.com/office/drawing/2014/main" id="{F731CA95-7285-4BF6-BD7B-D2578410DAFB}"/>
              </a:ext>
            </a:extLst>
          </p:cNvPr>
          <p:cNvSpPr>
            <a:spLocks xmlns:a="http://schemas.openxmlformats.org/drawingml/2006/main" noGrp="1"/>
          </p:cNvSpPr>
          <p:nvPr/>
        </p:nvSpPr>
        <p:spPr>
          <a:xfrm xmlns:a="http://schemas.openxmlformats.org/drawingml/2006/main">
            <a:off x="546068" y="4019550"/>
            <a:ext cx="1733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333"/>
          </a:bodyPr>
          <a:lstStyle xmlns:a="http://schemas.openxmlformats.org/drawingml/2006/main"/>
          <a:p xmlns:a="http://schemas.openxmlformats.org/drawingml/2006/main">
            <a:pPr algn="l">
              <a:defRPr sz="1425" b="1" i="0">
                <a:solidFill>
                  <a:srgbClr val="3D8DFF"/>
                </a:solidFill>
                <a:latin typeface="Helvetica Neue"/>
                <a:ea typeface="Helvetica Neue"/>
                <a:cs typeface="Helvetica Neue"/>
              </a:defRPr>
            </a:pPr>
            <a:r>
              <a:rPr sz="1425" b="1" i="0">
                <a:solidFill>
                  <a:srgbClr val="3D8DFF"/>
                </a:solidFill>
                <a:latin typeface="Helvetica Neue"/>
                <a:ea typeface="Helvetica Neue"/>
                <a:cs typeface="Helvetica Neue"/>
              </a:rPr>
              <a:t>Realtime /</a:t>
            </a:r>
          </a:p>
          <a:p xmlns:a="http://schemas.openxmlformats.org/drawingml/2006/main">
            <a:pPr algn="l">
              <a:defRPr sz="1425" b="1" i="0">
                <a:solidFill>
                  <a:srgbClr val="3D8DFF"/>
                </a:solidFill>
                <a:latin typeface="Helvetica Neue"/>
                <a:ea typeface="Helvetica Neue"/>
                <a:cs typeface="Helvetica Neue"/>
              </a:defRPr>
            </a:pPr>
            <a:r>
              <a:rPr sz="1425" b="1" i="0">
                <a:solidFill>
                  <a:srgbClr val="3D8DFF"/>
                </a:solidFill>
                <a:latin typeface="Helvetica Neue"/>
                <a:ea typeface="Helvetica Neue"/>
                <a:cs typeface="Helvetica Neue"/>
              </a:rPr>
              <a:t>provisional</a:t>
            </a:r>
          </a:p>
        </p:txBody>
      </p:sp>
      <p:sp>
        <p:nvSpPr>
          <p:cNvPr id="25" name="textbox-147">
            <a:extLst xmlns:a="http://schemas.openxmlformats.org/drawingml/2006/main">
              <a:ext uri="{FF2B5EF4-FFF2-40B4-BE49-F238E27FC236}">
                <a16:creationId xmlns:a16="http://schemas.microsoft.com/office/drawing/2014/main" id="{1953A9E7-537A-4E0A-9270-4BF2238D158B}"/>
              </a:ext>
            </a:extLst>
          </p:cNvPr>
          <p:cNvSpPr>
            <a:spLocks xmlns:a="http://schemas.openxmlformats.org/drawingml/2006/main" noGrp="1"/>
          </p:cNvSpPr>
          <p:nvPr/>
        </p:nvSpPr>
        <p:spPr>
          <a:xfrm xmlns:a="http://schemas.openxmlformats.org/drawingml/2006/main">
            <a:off x="546068" y="4514850"/>
            <a:ext cx="1733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656B73"/>
                </a:solidFill>
                <a:latin typeface="Helvetica Neue"/>
                <a:ea typeface="Helvetica Neue"/>
                <a:cs typeface="Helvetica Neue"/>
              </a:defRPr>
            </a:pPr>
            <a:r>
              <a:rPr sz="1050" b="0" i="0">
                <a:solidFill>
                  <a:srgbClr val="656B73"/>
                </a:solidFill>
                <a:latin typeface="Helvetica Neue"/>
                <a:ea typeface="Helvetica Neue"/>
                <a:cs typeface="Helvetica Neue"/>
              </a:rPr>
              <a:t>optional realtime query; never complete</a:t>
            </a:r>
          </a:p>
        </p:txBody>
      </p:sp>
      <p:sp>
        <p:nvSpPr>
          <p:cNvPr id="26" name="roundRect-148">
            <a:extLst xmlns:a="http://schemas.openxmlformats.org/drawingml/2006/main">
              <a:ext uri="{FF2B5EF4-FFF2-40B4-BE49-F238E27FC236}">
                <a16:creationId xmlns:a16="http://schemas.microsoft.com/office/drawing/2014/main" id="{49B80ACB-0A3A-421E-9FDB-77BB31222597}"/>
              </a:ext>
            </a:extLst>
          </p:cNvPr>
          <p:cNvSpPr>
            <a:spLocks xmlns:a="http://schemas.openxmlformats.org/drawingml/2006/main" noGrp="1"/>
          </p:cNvSpPr>
          <p:nvPr/>
        </p:nvSpPr>
        <p:spPr>
          <a:xfrm xmlns:a="http://schemas.openxmlformats.org/drawingml/2006/main">
            <a:off x="2660618" y="3524250"/>
            <a:ext cx="2038350" cy="1504950"/>
          </a:xfrm>
          <a:prstGeom xmlns:a="http://schemas.openxmlformats.org/drawingml/2006/main" prst="roundRect">
            <a:avLst>
              <a:gd name="adj" fmla="val 5063"/>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t">
            <a:noAutofit/>
          </a:bodyPr>
          <a:lstStyle xmlns:a="http://schemas.openxmlformats.org/drawingml/2006/main"/>
          <a:p xmlns:a="http://schemas.openxmlformats.org/drawingml/2006/main">
            <a:r>
              <a:t/>
            </a:r>
          </a:p>
        </p:txBody>
      </p:sp>
      <p:sp>
        <p:nvSpPr>
          <p:cNvPr id="27" name="textbox-149">
            <a:extLst xmlns:a="http://schemas.openxmlformats.org/drawingml/2006/main">
              <a:ext uri="{FF2B5EF4-FFF2-40B4-BE49-F238E27FC236}">
                <a16:creationId xmlns:a16="http://schemas.microsoft.com/office/drawing/2014/main" id="{6B8DFAAC-409F-48BE-A339-5F9664EABEC3}"/>
              </a:ext>
            </a:extLst>
          </p:cNvPr>
          <p:cNvSpPr>
            <a:spLocks xmlns:a="http://schemas.openxmlformats.org/drawingml/2006/main" noGrp="1"/>
          </p:cNvSpPr>
          <p:nvPr/>
        </p:nvSpPr>
        <p:spPr>
          <a:xfrm xmlns:a="http://schemas.openxmlformats.org/drawingml/2006/main">
            <a:off x="2813018" y="3695700"/>
            <a:ext cx="173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i="0">
                <a:solidFill>
                  <a:srgbClr val="000000"/>
                </a:solidFill>
                <a:latin typeface="Helvetica Neue"/>
                <a:ea typeface="Helvetica Neue"/>
                <a:cs typeface="Helvetica Neue"/>
              </a:defRPr>
            </a:pPr>
            <a:r>
              <a:rPr sz="1500" b="1" i="0">
                <a:solidFill>
                  <a:srgbClr val="000000"/>
                </a:solidFill>
                <a:latin typeface="Helvetica Neue"/>
                <a:ea typeface="Helvetica Neue"/>
                <a:cs typeface="Helvetica Neue"/>
              </a:rPr>
              <a:t>Yesterday</a:t>
            </a:r>
          </a:p>
        </p:txBody>
      </p:sp>
      <p:sp>
        <p:nvSpPr>
          <p:cNvPr id="28" name="textbox-150">
            <a:extLst xmlns:a="http://schemas.openxmlformats.org/drawingml/2006/main">
              <a:ext uri="{FF2B5EF4-FFF2-40B4-BE49-F238E27FC236}">
                <a16:creationId xmlns:a16="http://schemas.microsoft.com/office/drawing/2014/main" id="{D4E5429C-FB31-4F6E-A658-06FBDE539066}"/>
              </a:ext>
            </a:extLst>
          </p:cNvPr>
          <p:cNvSpPr>
            <a:spLocks xmlns:a="http://schemas.openxmlformats.org/drawingml/2006/main" noGrp="1"/>
          </p:cNvSpPr>
          <p:nvPr/>
        </p:nvSpPr>
        <p:spPr>
          <a:xfrm xmlns:a="http://schemas.openxmlformats.org/drawingml/2006/main">
            <a:off x="2813018" y="4019550"/>
            <a:ext cx="1733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000000"/>
                </a:solidFill>
                <a:latin typeface="Helvetica Neue"/>
                <a:ea typeface="Helvetica Neue"/>
                <a:cs typeface="Helvetica Neue"/>
              </a:defRPr>
            </a:pPr>
            <a:r>
              <a:rPr sz="1425" b="1" i="0">
                <a:solidFill>
                  <a:srgbClr val="000000"/>
                </a:solidFill>
                <a:latin typeface="Helvetica Neue"/>
                <a:ea typeface="Helvetica Neue"/>
                <a:cs typeface="Helvetica Neue"/>
              </a:rPr>
              <a:t>Provisional</a:t>
            </a:r>
          </a:p>
        </p:txBody>
      </p:sp>
      <p:sp>
        <p:nvSpPr>
          <p:cNvPr id="29" name="textbox-151">
            <a:extLst xmlns:a="http://schemas.openxmlformats.org/drawingml/2006/main">
              <a:ext uri="{FF2B5EF4-FFF2-40B4-BE49-F238E27FC236}">
                <a16:creationId xmlns:a16="http://schemas.microsoft.com/office/drawing/2014/main" id="{0B76FA4C-1A03-47D9-840D-00E6F74F5CCA}"/>
              </a:ext>
            </a:extLst>
          </p:cNvPr>
          <p:cNvSpPr>
            <a:spLocks xmlns:a="http://schemas.openxmlformats.org/drawingml/2006/main" noGrp="1"/>
          </p:cNvSpPr>
          <p:nvPr/>
        </p:nvSpPr>
        <p:spPr>
          <a:xfrm xmlns:a="http://schemas.openxmlformats.org/drawingml/2006/main">
            <a:off x="2813018" y="4514850"/>
            <a:ext cx="1733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656B73"/>
                </a:solidFill>
                <a:latin typeface="Helvetica Neue"/>
                <a:ea typeface="Helvetica Neue"/>
                <a:cs typeface="Helvetica Neue"/>
              </a:defRPr>
            </a:pPr>
            <a:r>
              <a:rPr sz="1050" b="0" i="0">
                <a:solidFill>
                  <a:srgbClr val="656B73"/>
                </a:solidFill>
                <a:latin typeface="Helvetica Neue"/>
                <a:ea typeface="Helvetica Neue"/>
                <a:cs typeface="Helvetica Neue"/>
              </a:rPr>
              <a:t>sync after day close; re-sync daily</a:t>
            </a:r>
          </a:p>
        </p:txBody>
      </p:sp>
      <p:sp>
        <p:nvSpPr>
          <p:cNvPr id="30" name="roundRect-152">
            <a:extLst xmlns:a="http://schemas.openxmlformats.org/drawingml/2006/main">
              <a:ext uri="{FF2B5EF4-FFF2-40B4-BE49-F238E27FC236}">
                <a16:creationId xmlns:a16="http://schemas.microsoft.com/office/drawing/2014/main" id="{1AF5FEB5-DAC7-4E9B-AB0A-BE02052D3D35}"/>
              </a:ext>
            </a:extLst>
          </p:cNvPr>
          <p:cNvSpPr>
            <a:spLocks xmlns:a="http://schemas.openxmlformats.org/drawingml/2006/main" noGrp="1"/>
          </p:cNvSpPr>
          <p:nvPr/>
        </p:nvSpPr>
        <p:spPr>
          <a:xfrm xmlns:a="http://schemas.openxmlformats.org/drawingml/2006/main">
            <a:off x="4927568" y="3524250"/>
            <a:ext cx="2038350" cy="1504950"/>
          </a:xfrm>
          <a:prstGeom xmlns:a="http://schemas.openxmlformats.org/drawingml/2006/main" prst="roundRect">
            <a:avLst>
              <a:gd name="adj" fmla="val 5063"/>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t">
            <a:noAutofit/>
          </a:bodyPr>
          <a:lstStyle xmlns:a="http://schemas.openxmlformats.org/drawingml/2006/main"/>
          <a:p xmlns:a="http://schemas.openxmlformats.org/drawingml/2006/main">
            <a:r>
              <a:t/>
            </a:r>
          </a:p>
        </p:txBody>
      </p:sp>
      <p:sp>
        <p:nvSpPr>
          <p:cNvPr id="31" name="textbox-153">
            <a:extLst xmlns:a="http://schemas.openxmlformats.org/drawingml/2006/main">
              <a:ext uri="{FF2B5EF4-FFF2-40B4-BE49-F238E27FC236}">
                <a16:creationId xmlns:a16="http://schemas.microsoft.com/office/drawing/2014/main" id="{7B832204-3759-4B41-A4E0-5B16D643DE79}"/>
              </a:ext>
            </a:extLst>
          </p:cNvPr>
          <p:cNvSpPr>
            <a:spLocks xmlns:a="http://schemas.openxmlformats.org/drawingml/2006/main" noGrp="1"/>
          </p:cNvSpPr>
          <p:nvPr/>
        </p:nvSpPr>
        <p:spPr>
          <a:xfrm xmlns:a="http://schemas.openxmlformats.org/drawingml/2006/main">
            <a:off x="5079968" y="3695700"/>
            <a:ext cx="173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i="0">
                <a:solidFill>
                  <a:srgbClr val="000000"/>
                </a:solidFill>
                <a:latin typeface="Helvetica Neue"/>
                <a:ea typeface="Helvetica Neue"/>
                <a:cs typeface="Helvetica Neue"/>
              </a:defRPr>
            </a:pPr>
            <a:r>
              <a:rPr sz="1500" b="1" i="0">
                <a:solidFill>
                  <a:srgbClr val="000000"/>
                </a:solidFill>
                <a:latin typeface="Helvetica Neue"/>
                <a:ea typeface="Helvetica Neue"/>
                <a:cs typeface="Helvetica Neue"/>
              </a:rPr>
              <a:t>2–14 days</a:t>
            </a:r>
          </a:p>
        </p:txBody>
      </p:sp>
      <p:sp>
        <p:nvSpPr>
          <p:cNvPr id="32" name="textbox-154">
            <a:extLst xmlns:a="http://schemas.openxmlformats.org/drawingml/2006/main">
              <a:ext uri="{FF2B5EF4-FFF2-40B4-BE49-F238E27FC236}">
                <a16:creationId xmlns:a16="http://schemas.microsoft.com/office/drawing/2014/main" id="{F69ACAEE-8A59-42FA-A976-0394DAA10220}"/>
              </a:ext>
            </a:extLst>
          </p:cNvPr>
          <p:cNvSpPr>
            <a:spLocks xmlns:a="http://schemas.openxmlformats.org/drawingml/2006/main" noGrp="1"/>
          </p:cNvSpPr>
          <p:nvPr/>
        </p:nvSpPr>
        <p:spPr>
          <a:xfrm xmlns:a="http://schemas.openxmlformats.org/drawingml/2006/main">
            <a:off x="5079968" y="4019550"/>
            <a:ext cx="1733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000000"/>
                </a:solidFill>
                <a:latin typeface="Helvetica Neue"/>
                <a:ea typeface="Helvetica Neue"/>
                <a:cs typeface="Helvetica Neue"/>
              </a:defRPr>
            </a:pPr>
            <a:r>
              <a:rPr sz="1425" b="1" i="0">
                <a:solidFill>
                  <a:srgbClr val="000000"/>
                </a:solidFill>
                <a:latin typeface="Helvetica Neue"/>
                <a:ea typeface="Helvetica Neue"/>
                <a:cs typeface="Helvetica Neue"/>
              </a:rPr>
              <a:t>Reconciling</a:t>
            </a:r>
          </a:p>
        </p:txBody>
      </p:sp>
      <p:sp>
        <p:nvSpPr>
          <p:cNvPr id="33" name="textbox-155">
            <a:extLst xmlns:a="http://schemas.openxmlformats.org/drawingml/2006/main">
              <a:ext uri="{FF2B5EF4-FFF2-40B4-BE49-F238E27FC236}">
                <a16:creationId xmlns:a16="http://schemas.microsoft.com/office/drawing/2014/main" id="{9E10A990-A62E-4020-ABA0-AD2C4B9D3524}"/>
              </a:ext>
            </a:extLst>
          </p:cNvPr>
          <p:cNvSpPr>
            <a:spLocks xmlns:a="http://schemas.openxmlformats.org/drawingml/2006/main" noGrp="1"/>
          </p:cNvSpPr>
          <p:nvPr/>
        </p:nvSpPr>
        <p:spPr>
          <a:xfrm xmlns:a="http://schemas.openxmlformats.org/drawingml/2006/main">
            <a:off x="5079968" y="4514850"/>
            <a:ext cx="1733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656B73"/>
                </a:solidFill>
                <a:latin typeface="Helvetica Neue"/>
                <a:ea typeface="Helvetica Neue"/>
                <a:cs typeface="Helvetica Neue"/>
              </a:defRPr>
            </a:pPr>
            <a:r>
              <a:rPr sz="1050" b="0" i="0">
                <a:solidFill>
                  <a:srgbClr val="656B73"/>
                </a:solidFill>
                <a:latin typeface="Helvetica Neue"/>
                <a:ea typeface="Helvetica Neue"/>
                <a:cs typeface="Helvetica Neue"/>
              </a:rPr>
              <a:t>re-sync daily</a:t>
            </a:r>
          </a:p>
        </p:txBody>
      </p:sp>
      <p:sp>
        <p:nvSpPr>
          <p:cNvPr id="34" name="roundRect-156">
            <a:extLst xmlns:a="http://schemas.openxmlformats.org/drawingml/2006/main">
              <a:ext uri="{FF2B5EF4-FFF2-40B4-BE49-F238E27FC236}">
                <a16:creationId xmlns:a16="http://schemas.microsoft.com/office/drawing/2014/main" id="{40A2F4DE-1972-417B-80D5-0C153B5927AF}"/>
              </a:ext>
            </a:extLst>
          </p:cNvPr>
          <p:cNvSpPr>
            <a:spLocks xmlns:a="http://schemas.openxmlformats.org/drawingml/2006/main" noGrp="1"/>
          </p:cNvSpPr>
          <p:nvPr/>
        </p:nvSpPr>
        <p:spPr>
          <a:xfrm xmlns:a="http://schemas.openxmlformats.org/drawingml/2006/main">
            <a:off x="7194518" y="3524250"/>
            <a:ext cx="2038350" cy="1504950"/>
          </a:xfrm>
          <a:prstGeom xmlns:a="http://schemas.openxmlformats.org/drawingml/2006/main" prst="roundRect">
            <a:avLst>
              <a:gd name="adj" fmla="val 5063"/>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t">
            <a:noAutofit/>
          </a:bodyPr>
          <a:lstStyle xmlns:a="http://schemas.openxmlformats.org/drawingml/2006/main"/>
          <a:p xmlns:a="http://schemas.openxmlformats.org/drawingml/2006/main">
            <a:r>
              <a:t/>
            </a:r>
          </a:p>
        </p:txBody>
      </p:sp>
      <p:sp>
        <p:nvSpPr>
          <p:cNvPr id="35" name="textbox-157">
            <a:extLst xmlns:a="http://schemas.openxmlformats.org/drawingml/2006/main">
              <a:ext uri="{FF2B5EF4-FFF2-40B4-BE49-F238E27FC236}">
                <a16:creationId xmlns:a16="http://schemas.microsoft.com/office/drawing/2014/main" id="{01F6D136-E38D-457E-9C0A-10FE142F68B9}"/>
              </a:ext>
            </a:extLst>
          </p:cNvPr>
          <p:cNvSpPr>
            <a:spLocks xmlns:a="http://schemas.openxmlformats.org/drawingml/2006/main" noGrp="1"/>
          </p:cNvSpPr>
          <p:nvPr/>
        </p:nvSpPr>
        <p:spPr>
          <a:xfrm xmlns:a="http://schemas.openxmlformats.org/drawingml/2006/main">
            <a:off x="7346918" y="3695700"/>
            <a:ext cx="173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i="0">
                <a:solidFill>
                  <a:srgbClr val="000000"/>
                </a:solidFill>
                <a:latin typeface="Helvetica Neue"/>
                <a:ea typeface="Helvetica Neue"/>
                <a:cs typeface="Helvetica Neue"/>
              </a:defRPr>
            </a:pPr>
            <a:r>
              <a:rPr sz="1500" b="1" i="0">
                <a:solidFill>
                  <a:srgbClr val="000000"/>
                </a:solidFill>
                <a:latin typeface="Helvetica Neue"/>
                <a:ea typeface="Helvetica Neue"/>
                <a:cs typeface="Helvetica Neue"/>
              </a:rPr>
              <a:t>15–90 days</a:t>
            </a:r>
          </a:p>
        </p:txBody>
      </p:sp>
      <p:sp>
        <p:nvSpPr>
          <p:cNvPr id="36" name="textbox-158">
            <a:extLst xmlns:a="http://schemas.openxmlformats.org/drawingml/2006/main">
              <a:ext uri="{FF2B5EF4-FFF2-40B4-BE49-F238E27FC236}">
                <a16:creationId xmlns:a16="http://schemas.microsoft.com/office/drawing/2014/main" id="{3CAC632A-0ED1-4C57-9413-A383FFF87520}"/>
              </a:ext>
            </a:extLst>
          </p:cNvPr>
          <p:cNvSpPr>
            <a:spLocks xmlns:a="http://schemas.openxmlformats.org/drawingml/2006/main" noGrp="1"/>
          </p:cNvSpPr>
          <p:nvPr/>
        </p:nvSpPr>
        <p:spPr>
          <a:xfrm xmlns:a="http://schemas.openxmlformats.org/drawingml/2006/main">
            <a:off x="7346918" y="4019550"/>
            <a:ext cx="1733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000000"/>
                </a:solidFill>
                <a:latin typeface="Helvetica Neue"/>
                <a:ea typeface="Helvetica Neue"/>
                <a:cs typeface="Helvetica Neue"/>
              </a:defRPr>
            </a:pPr>
            <a:r>
              <a:rPr sz="1425" b="1" i="0">
                <a:solidFill>
                  <a:srgbClr val="000000"/>
                </a:solidFill>
                <a:latin typeface="Helvetica Neue"/>
                <a:ea typeface="Helvetica Neue"/>
                <a:cs typeface="Helvetica Neue"/>
              </a:rPr>
              <a:t>Mostly stable</a:t>
            </a:r>
          </a:p>
        </p:txBody>
      </p:sp>
      <p:sp>
        <p:nvSpPr>
          <p:cNvPr id="37" name="textbox-159">
            <a:extLst xmlns:a="http://schemas.openxmlformats.org/drawingml/2006/main">
              <a:ext uri="{FF2B5EF4-FFF2-40B4-BE49-F238E27FC236}">
                <a16:creationId xmlns:a16="http://schemas.microsoft.com/office/drawing/2014/main" id="{DE25847D-19C3-4D87-AD88-587EB483B6D8}"/>
              </a:ext>
            </a:extLst>
          </p:cNvPr>
          <p:cNvSpPr>
            <a:spLocks xmlns:a="http://schemas.openxmlformats.org/drawingml/2006/main" noGrp="1"/>
          </p:cNvSpPr>
          <p:nvPr/>
        </p:nvSpPr>
        <p:spPr>
          <a:xfrm xmlns:a="http://schemas.openxmlformats.org/drawingml/2006/main">
            <a:off x="7346918" y="4514850"/>
            <a:ext cx="1733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656B73"/>
                </a:solidFill>
                <a:latin typeface="Helvetica Neue"/>
                <a:ea typeface="Helvetica Neue"/>
                <a:cs typeface="Helvetica Neue"/>
              </a:defRPr>
            </a:pPr>
            <a:r>
              <a:rPr sz="1050" b="0" i="0">
                <a:solidFill>
                  <a:srgbClr val="656B73"/>
                </a:solidFill>
                <a:latin typeface="Helvetica Neue"/>
                <a:ea typeface="Helvetica Neue"/>
                <a:cs typeface="Helvetica Neue"/>
              </a:rPr>
              <a:t>re-sync weekly</a:t>
            </a:r>
          </a:p>
        </p:txBody>
      </p:sp>
      <p:sp>
        <p:nvSpPr>
          <p:cNvPr id="38" name="roundRect-160">
            <a:extLst xmlns:a="http://schemas.openxmlformats.org/drawingml/2006/main">
              <a:ext uri="{FF2B5EF4-FFF2-40B4-BE49-F238E27FC236}">
                <a16:creationId xmlns:a16="http://schemas.microsoft.com/office/drawing/2014/main" id="{59400B43-D335-4A79-9825-5932F581139E}"/>
              </a:ext>
            </a:extLst>
          </p:cNvPr>
          <p:cNvSpPr>
            <a:spLocks xmlns:a="http://schemas.openxmlformats.org/drawingml/2006/main" noGrp="1"/>
          </p:cNvSpPr>
          <p:nvPr/>
        </p:nvSpPr>
        <p:spPr>
          <a:xfrm xmlns:a="http://schemas.openxmlformats.org/drawingml/2006/main">
            <a:off x="9461468" y="3524250"/>
            <a:ext cx="2038350" cy="1504950"/>
          </a:xfrm>
          <a:prstGeom xmlns:a="http://schemas.openxmlformats.org/drawingml/2006/main" prst="roundRect">
            <a:avLst>
              <a:gd name="adj" fmla="val 5063"/>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t">
            <a:noAutofit/>
          </a:bodyPr>
          <a:lstStyle xmlns:a="http://schemas.openxmlformats.org/drawingml/2006/main"/>
          <a:p xmlns:a="http://schemas.openxmlformats.org/drawingml/2006/main">
            <a:r>
              <a:t/>
            </a:r>
          </a:p>
        </p:txBody>
      </p:sp>
      <p:sp>
        <p:nvSpPr>
          <p:cNvPr id="39" name="textbox-161">
            <a:extLst xmlns:a="http://schemas.openxmlformats.org/drawingml/2006/main">
              <a:ext uri="{FF2B5EF4-FFF2-40B4-BE49-F238E27FC236}">
                <a16:creationId xmlns:a16="http://schemas.microsoft.com/office/drawing/2014/main" id="{A3B82C0A-1425-48FC-B837-CA4ED5907E3C}"/>
              </a:ext>
            </a:extLst>
          </p:cNvPr>
          <p:cNvSpPr>
            <a:spLocks xmlns:a="http://schemas.openxmlformats.org/drawingml/2006/main" noGrp="1"/>
          </p:cNvSpPr>
          <p:nvPr/>
        </p:nvSpPr>
        <p:spPr>
          <a:xfrm xmlns:a="http://schemas.openxmlformats.org/drawingml/2006/main">
            <a:off x="9613868" y="3695700"/>
            <a:ext cx="173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i="0">
                <a:solidFill>
                  <a:srgbClr val="000000"/>
                </a:solidFill>
                <a:latin typeface="Helvetica Neue"/>
                <a:ea typeface="Helvetica Neue"/>
                <a:cs typeface="Helvetica Neue"/>
              </a:defRPr>
            </a:pPr>
            <a:r>
              <a:rPr sz="1500" b="1" i="0">
                <a:solidFill>
                  <a:srgbClr val="000000"/>
                </a:solidFill>
                <a:latin typeface="Helvetica Neue"/>
                <a:ea typeface="Helvetica Neue"/>
                <a:cs typeface="Helvetica Neue"/>
              </a:rPr>
              <a:t>&gt;90 days</a:t>
            </a:r>
          </a:p>
        </p:txBody>
      </p:sp>
      <p:sp>
        <p:nvSpPr>
          <p:cNvPr id="40" name="textbox-162">
            <a:extLst xmlns:a="http://schemas.openxmlformats.org/drawingml/2006/main">
              <a:ext uri="{FF2B5EF4-FFF2-40B4-BE49-F238E27FC236}">
                <a16:creationId xmlns:a16="http://schemas.microsoft.com/office/drawing/2014/main" id="{C8E615AA-129B-4CC5-AE53-CF808080694A}"/>
              </a:ext>
            </a:extLst>
          </p:cNvPr>
          <p:cNvSpPr>
            <a:spLocks xmlns:a="http://schemas.openxmlformats.org/drawingml/2006/main" noGrp="1"/>
          </p:cNvSpPr>
          <p:nvPr/>
        </p:nvSpPr>
        <p:spPr>
          <a:xfrm xmlns:a="http://schemas.openxmlformats.org/drawingml/2006/main">
            <a:off x="9613868" y="4019550"/>
            <a:ext cx="1733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000000"/>
                </a:solidFill>
                <a:latin typeface="Helvetica Neue"/>
                <a:ea typeface="Helvetica Neue"/>
                <a:cs typeface="Helvetica Neue"/>
              </a:defRPr>
            </a:pPr>
            <a:r>
              <a:rPr sz="1425" b="1" i="0">
                <a:solidFill>
                  <a:srgbClr val="000000"/>
                </a:solidFill>
                <a:latin typeface="Helvetica Neue"/>
                <a:ea typeface="Helvetica Neue"/>
                <a:cs typeface="Helvetica Neue"/>
              </a:rPr>
              <a:t>Stable</a:t>
            </a:r>
          </a:p>
        </p:txBody>
      </p:sp>
      <p:sp>
        <p:nvSpPr>
          <p:cNvPr id="41" name="textbox-163">
            <a:extLst xmlns:a="http://schemas.openxmlformats.org/drawingml/2006/main">
              <a:ext uri="{FF2B5EF4-FFF2-40B4-BE49-F238E27FC236}">
                <a16:creationId xmlns:a16="http://schemas.microsoft.com/office/drawing/2014/main" id="{125870B0-3764-4E12-A64E-4734E7095C7C}"/>
              </a:ext>
            </a:extLst>
          </p:cNvPr>
          <p:cNvSpPr>
            <a:spLocks xmlns:a="http://schemas.openxmlformats.org/drawingml/2006/main" noGrp="1"/>
          </p:cNvSpPr>
          <p:nvPr/>
        </p:nvSpPr>
        <p:spPr>
          <a:xfrm xmlns:a="http://schemas.openxmlformats.org/drawingml/2006/main">
            <a:off x="9613868" y="4514850"/>
            <a:ext cx="1733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656B73"/>
                </a:solidFill>
                <a:latin typeface="Helvetica Neue"/>
                <a:ea typeface="Helvetica Neue"/>
                <a:cs typeface="Helvetica Neue"/>
              </a:defRPr>
            </a:pPr>
            <a:r>
              <a:rPr sz="1050" b="0" i="0">
                <a:solidFill>
                  <a:srgbClr val="656B73"/>
                </a:solidFill>
                <a:latin typeface="Helvetica Neue"/>
                <a:ea typeface="Helvetica Neue"/>
                <a:cs typeface="Helvetica Neue"/>
              </a:rPr>
              <a:t>targeted repair only</a:t>
            </a:r>
          </a:p>
        </p:txBody>
      </p:sp>
      <p:sp>
        <p:nvSpPr>
          <p:cNvPr id="42" name="roundRect-164">
            <a:extLst xmlns:a="http://schemas.openxmlformats.org/drawingml/2006/main">
              <a:ext uri="{FF2B5EF4-FFF2-40B4-BE49-F238E27FC236}">
                <a16:creationId xmlns:a16="http://schemas.microsoft.com/office/drawing/2014/main" id="{1A7E4759-A885-47A3-B6B6-91FD49158A22}"/>
              </a:ext>
            </a:extLst>
          </p:cNvPr>
          <p:cNvSpPr>
            <a:spLocks xmlns:a="http://schemas.openxmlformats.org/drawingml/2006/main" noGrp="1"/>
          </p:cNvSpPr>
          <p:nvPr/>
        </p:nvSpPr>
        <p:spPr>
          <a:xfrm xmlns:a="http://schemas.openxmlformats.org/drawingml/2006/main">
            <a:off x="393668" y="5429250"/>
            <a:ext cx="11001375" cy="514350"/>
          </a:xfrm>
          <a:prstGeom xmlns:a="http://schemas.openxmlformats.org/drawingml/2006/main" prst="roundRect">
            <a:avLst>
              <a:gd name="adj" fmla="val 18519"/>
            </a:avLst>
          </a:prstGeom>
          <a:solidFill xmlns:a="http://schemas.openxmlformats.org/drawingml/2006/main">
            <a:srgbClr val="000000"/>
          </a:solidFill>
          <a:ln xmlns:a="http://schemas.openxmlformats.org/drawingml/2006/main" w="0">
            <a:solidFill>
              <a:srgbClr val="000000"/>
            </a:solidFill>
            <a:prstDash val="solid"/>
          </a:ln>
        </p:spPr>
        <p:txBody>
          <a:bodyPr xmlns:a="http://schemas.openxmlformats.org/drawingml/2006/main" wrap="square" lIns="152400" tIns="133350" rIns="152400" bIns="114300" anchor="ctr">
            <a:normAutofit fontScale="98621"/>
          </a:bodyPr>
          <a:lstStyle xmlns:a="http://schemas.openxmlformats.org/drawingml/2006/main"/>
          <a:p xmlns:a="http://schemas.openxmlformats.org/drawingml/2006/main">
            <a:pPr algn="l">
              <a:defRPr sz="1275" b="1" i="0">
                <a:solidFill>
                  <a:srgbClr val="FFFFFF"/>
                </a:solidFill>
                <a:latin typeface="Helvetica Neue"/>
                <a:ea typeface="Helvetica Neue"/>
                <a:cs typeface="Helvetica Neue"/>
              </a:defRPr>
            </a:pPr>
            <a:r>
              <a:rPr sz="1275" b="1" i="0">
                <a:solidFill>
                  <a:srgbClr val="FFFFFF"/>
                </a:solidFill>
                <a:latin typeface="Helvetica Neue"/>
                <a:ea typeface="Helvetica Neue"/>
                <a:cs typeface="Helvetica Neue"/>
              </a:rPr>
              <a:t>Every report execution stores freshness, sampling, thresholding, `(other)` data loss, restrictions, quota state, and request / response hashes.</a:t>
            </a:r>
          </a:p>
        </p:txBody>
      </p:sp>
    </p:spTree>
    <p:extLst>
      <p:ext uri="{BB962C8B-B14F-4D97-AF65-F5344CB8AC3E}">
        <p14:creationId xmlns:p14="http://schemas.microsoft.com/office/powerpoint/2010/main" val="33005474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textbox-165">
            <a:extLst xmlns:a="http://schemas.openxmlformats.org/drawingml/2006/main">
              <a:ext uri="{FF2B5EF4-FFF2-40B4-BE49-F238E27FC236}">
                <a16:creationId xmlns:a16="http://schemas.microsoft.com/office/drawing/2014/main" id="{A97F73CC-D04E-475C-B812-AE0F5AE08894}"/>
              </a:ext>
            </a:extLst>
          </p:cNvPr>
          <p:cNvSpPr>
            <a:spLocks xmlns:a="http://schemas.openxmlformats.org/drawingml/2006/main" noGrp="1"/>
          </p:cNvSpPr>
          <p:nvPr/>
        </p:nvSpPr>
        <p:spPr>
          <a:xfrm xmlns:a="http://schemas.openxmlformats.org/drawingml/2006/main">
            <a:off x="393668" y="344043"/>
            <a:ext cx="11404568"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0" bIns="0" anchor="t">
            <a:normAutofit fontScale="100000"/>
          </a:bodyPr>
          <a:lstStyle xmlns:a="http://schemas.openxmlformats.org/drawingml/2006/main"/>
          <a:p xmlns:a="http://schemas.openxmlformats.org/drawingml/2006/main">
            <a:pPr algn="l">
              <a:defRPr sz="2850" b="0" i="0">
                <a:solidFill>
                  <a:srgbClr val="000000"/>
                </a:solidFill>
                <a:latin typeface="Helvetica Neue"/>
                <a:ea typeface="Helvetica Neue"/>
                <a:cs typeface="Helvetica Neue"/>
              </a:defRPr>
            </a:pPr>
            <a:r>
              <a:rPr sz="2850" b="0" i="0">
                <a:solidFill>
                  <a:srgbClr val="000000"/>
                </a:solidFill>
                <a:latin typeface="Helvetica Neue"/>
                <a:ea typeface="Helvetica Neue"/>
                <a:cs typeface="Helvetica Neue"/>
              </a:rPr>
              <a:t>Metric semantics prevent plausible-looking errors</a:t>
            </a:r>
          </a:p>
        </p:txBody>
      </p:sp>
      <p:sp>
        <p:nvSpPr>
          <p:cNvPr id="2" name="line-166">
            <a:extLst xmlns:a="http://schemas.openxmlformats.org/drawingml/2006/main">
              <a:ext uri="{FF2B5EF4-FFF2-40B4-BE49-F238E27FC236}">
                <a16:creationId xmlns:a16="http://schemas.microsoft.com/office/drawing/2014/main" id="{EAA61335-474A-4D64-A979-E201929207BC}"/>
              </a:ext>
            </a:extLst>
          </p:cNvPr>
          <p:cNvSpPr>
            <a:spLocks xmlns:a="http://schemas.openxmlformats.org/drawingml/2006/main" noGrp="1"/>
          </p:cNvSpPr>
          <p:nvPr/>
        </p:nvSpPr>
        <p:spPr>
          <a:xfrm xmlns:a="http://schemas.openxmlformats.org/drawingml/2006/main">
            <a:off x="393668" y="1181100"/>
            <a:ext cx="11404568"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3" name="textbox-167">
            <a:extLst xmlns:a="http://schemas.openxmlformats.org/drawingml/2006/main">
              <a:ext uri="{FF2B5EF4-FFF2-40B4-BE49-F238E27FC236}">
                <a16:creationId xmlns:a16="http://schemas.microsoft.com/office/drawing/2014/main" id="{E6450749-0A33-4446-8D57-63FEDA06C3DD}"/>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975" b="0" i="0">
                <a:solidFill>
                  <a:srgbClr val="000000"/>
                </a:solidFill>
                <a:latin typeface="Helvetica Neue"/>
                <a:ea typeface="Helvetica Neue"/>
                <a:cs typeface="Helvetica Neue"/>
              </a:defRPr>
            </a:pPr>
            <a:r>
              <a:rPr sz="975" b="0" i="0">
                <a:solidFill>
                  <a:srgbClr val="000000"/>
                </a:solidFill>
                <a:latin typeface="Helvetica Neue"/>
                <a:ea typeface="Helvetica Neue"/>
                <a:cs typeface="Helvetica Neue"/>
              </a:rPr>
              <a:t>07</a:t>
            </a:r>
          </a:p>
        </p:txBody>
      </p:sp>
      <p:sp>
        <p:nvSpPr>
          <p:cNvPr id="4" name="textbox-168">
            <a:extLst xmlns:a="http://schemas.openxmlformats.org/drawingml/2006/main">
              <a:ext uri="{FF2B5EF4-FFF2-40B4-BE49-F238E27FC236}">
                <a16:creationId xmlns:a16="http://schemas.microsoft.com/office/drawing/2014/main" id="{4ED4420C-468E-4F99-9FF0-8920C49A050B}"/>
              </a:ext>
            </a:extLst>
          </p:cNvPr>
          <p:cNvSpPr>
            <a:spLocks xmlns:a="http://schemas.openxmlformats.org/drawingml/2006/main" noGrp="1"/>
          </p:cNvSpPr>
          <p:nvPr/>
        </p:nvSpPr>
        <p:spPr>
          <a:xfrm xmlns:a="http://schemas.openxmlformats.org/drawingml/2006/main">
            <a:off x="393668" y="133350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656B73"/>
                </a:solidFill>
                <a:latin typeface="Helvetica Neue"/>
                <a:ea typeface="Helvetica Neue"/>
                <a:cs typeface="Helvetica Neue"/>
              </a:defRPr>
            </a:pPr>
            <a:r>
              <a:rPr sz="1500" b="0" i="0">
                <a:solidFill>
                  <a:srgbClr val="656B73"/>
                </a:solidFill>
                <a:latin typeface="Helvetica Neue"/>
                <a:ea typeface="Helvetica Neue"/>
                <a:cs typeface="Helvetica Neue"/>
              </a:rPr>
              <a:t>Daily rows are facts. Period totals follow the metric's declared aggregation behavior.</a:t>
            </a:r>
          </a:p>
        </p:txBody>
      </p:sp>
      <p:sp>
        <p:nvSpPr>
          <p:cNvPr id="5" name="roundRect-169">
            <a:extLst xmlns:a="http://schemas.openxmlformats.org/drawingml/2006/main">
              <a:ext uri="{FF2B5EF4-FFF2-40B4-BE49-F238E27FC236}">
                <a16:creationId xmlns:a16="http://schemas.microsoft.com/office/drawing/2014/main" id="{FEF3146B-1620-4750-8266-57544B50DAFA}"/>
              </a:ext>
            </a:extLst>
          </p:cNvPr>
          <p:cNvSpPr>
            <a:spLocks xmlns:a="http://schemas.openxmlformats.org/drawingml/2006/main" noGrp="1"/>
          </p:cNvSpPr>
          <p:nvPr/>
        </p:nvSpPr>
        <p:spPr>
          <a:xfrm xmlns:a="http://schemas.openxmlformats.org/drawingml/2006/main">
            <a:off x="393668" y="1943100"/>
            <a:ext cx="2628900" cy="3143250"/>
          </a:xfrm>
          <a:prstGeom xmlns:a="http://schemas.openxmlformats.org/drawingml/2006/main" prst="roundRect">
            <a:avLst>
              <a:gd name="adj" fmla="val 2899"/>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t">
            <a:noAutofit/>
          </a:bodyPr>
          <a:lstStyle xmlns:a="http://schemas.openxmlformats.org/drawingml/2006/main"/>
          <a:p xmlns:a="http://schemas.openxmlformats.org/drawingml/2006/main">
            <a:r>
              <a:t/>
            </a:r>
          </a:p>
        </p:txBody>
      </p:sp>
      <p:sp>
        <p:nvSpPr>
          <p:cNvPr id="6" name="textbox-170">
            <a:extLst xmlns:a="http://schemas.openxmlformats.org/drawingml/2006/main">
              <a:ext uri="{FF2B5EF4-FFF2-40B4-BE49-F238E27FC236}">
                <a16:creationId xmlns:a16="http://schemas.microsoft.com/office/drawing/2014/main" id="{D0C47319-22B0-4FF2-AD1A-6F5918291A16}"/>
              </a:ext>
            </a:extLst>
          </p:cNvPr>
          <p:cNvSpPr>
            <a:spLocks xmlns:a="http://schemas.openxmlformats.org/drawingml/2006/main" noGrp="1"/>
          </p:cNvSpPr>
          <p:nvPr/>
        </p:nvSpPr>
        <p:spPr>
          <a:xfrm xmlns:a="http://schemas.openxmlformats.org/drawingml/2006/main">
            <a:off x="565118" y="2114550"/>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i="0">
                <a:solidFill>
                  <a:srgbClr val="000000"/>
                </a:solidFill>
                <a:latin typeface="Helvetica Neue"/>
                <a:ea typeface="Helvetica Neue"/>
                <a:cs typeface="Helvetica Neue"/>
              </a:defRPr>
            </a:pPr>
            <a:r>
              <a:rPr sz="1875" b="1" i="0">
                <a:solidFill>
                  <a:srgbClr val="000000"/>
                </a:solidFill>
                <a:latin typeface="Helvetica Neue"/>
                <a:ea typeface="Helvetica Neue"/>
                <a:cs typeface="Helvetica Neue"/>
              </a:rPr>
              <a:t>SUM</a:t>
            </a:r>
          </a:p>
        </p:txBody>
      </p:sp>
      <p:sp>
        <p:nvSpPr>
          <p:cNvPr id="7" name="line-171">
            <a:extLst xmlns:a="http://schemas.openxmlformats.org/drawingml/2006/main">
              <a:ext uri="{FF2B5EF4-FFF2-40B4-BE49-F238E27FC236}">
                <a16:creationId xmlns:a16="http://schemas.microsoft.com/office/drawing/2014/main" id="{E6961CB5-840D-4B97-A2B4-A653901A55D2}"/>
              </a:ext>
            </a:extLst>
          </p:cNvPr>
          <p:cNvSpPr>
            <a:spLocks xmlns:a="http://schemas.openxmlformats.org/drawingml/2006/main" noGrp="1"/>
          </p:cNvSpPr>
          <p:nvPr/>
        </p:nvSpPr>
        <p:spPr>
          <a:xfrm xmlns:a="http://schemas.openxmlformats.org/drawingml/2006/main">
            <a:off x="565118" y="2552700"/>
            <a:ext cx="22860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8" name="textbox-172">
            <a:extLst xmlns:a="http://schemas.openxmlformats.org/drawingml/2006/main">
              <a:ext uri="{FF2B5EF4-FFF2-40B4-BE49-F238E27FC236}">
                <a16:creationId xmlns:a16="http://schemas.microsoft.com/office/drawing/2014/main" id="{72590E04-CD3C-404B-B530-7A192A55F2F4}"/>
              </a:ext>
            </a:extLst>
          </p:cNvPr>
          <p:cNvSpPr>
            <a:spLocks xmlns:a="http://schemas.openxmlformats.org/drawingml/2006/main" noGrp="1"/>
          </p:cNvSpPr>
          <p:nvPr/>
        </p:nvSpPr>
        <p:spPr>
          <a:xfrm xmlns:a="http://schemas.openxmlformats.org/drawingml/2006/main">
            <a:off x="565118" y="2743200"/>
            <a:ext cx="22860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101010"/>
                </a:solidFill>
                <a:latin typeface="Helvetica Neue"/>
                <a:ea typeface="Helvetica Neue"/>
                <a:cs typeface="Helvetica Neue"/>
              </a:defRPr>
            </a:pPr>
            <a:r>
              <a:rPr sz="1275" b="0" i="0">
                <a:solidFill>
                  <a:srgbClr val="101010"/>
                </a:solidFill>
                <a:latin typeface="Helvetica Neue"/>
                <a:ea typeface="Helvetica Neue"/>
                <a:cs typeface="Helvetica Neue"/>
              </a:rPr>
              <a:t>event count</a:t>
            </a:r>
          </a:p>
          <a:p xmlns:a="http://schemas.openxmlformats.org/drawingml/2006/main">
            <a:pPr algn="l">
              <a:defRPr sz="1275" b="0" i="0">
                <a:solidFill>
                  <a:srgbClr val="101010"/>
                </a:solidFill>
                <a:latin typeface="Helvetica Neue"/>
                <a:ea typeface="Helvetica Neue"/>
                <a:cs typeface="Helvetica Neue"/>
              </a:defRPr>
            </a:pPr>
            <a:r>
              <a:rPr sz="1275" b="0" i="0">
                <a:solidFill>
                  <a:srgbClr val="101010"/>
                </a:solidFill>
                <a:latin typeface="Helvetica Neue"/>
                <a:ea typeface="Helvetica Neue"/>
                <a:cs typeface="Helvetica Neue"/>
              </a:rPr>
              <a:t>lead count</a:t>
            </a:r>
          </a:p>
          <a:p xmlns:a="http://schemas.openxmlformats.org/drawingml/2006/main">
            <a:pPr algn="l">
              <a:defRPr sz="1275" b="0" i="0">
                <a:solidFill>
                  <a:srgbClr val="101010"/>
                </a:solidFill>
                <a:latin typeface="Helvetica Neue"/>
                <a:ea typeface="Helvetica Neue"/>
                <a:cs typeface="Helvetica Neue"/>
              </a:defRPr>
            </a:pPr>
            <a:r>
              <a:rPr sz="1275" b="0" i="0">
                <a:solidFill>
                  <a:srgbClr val="101010"/>
                </a:solidFill>
                <a:latin typeface="Helvetica Neue"/>
                <a:ea typeface="Helvetica Neue"/>
                <a:cs typeface="Helvetica Neue"/>
              </a:rPr>
              <a:t>compatible revenue</a:t>
            </a:r>
          </a:p>
        </p:txBody>
      </p:sp>
      <p:sp>
        <p:nvSpPr>
          <p:cNvPr id="9" name="textbox-173">
            <a:extLst xmlns:a="http://schemas.openxmlformats.org/drawingml/2006/main">
              <a:ext uri="{FF2B5EF4-FFF2-40B4-BE49-F238E27FC236}">
                <a16:creationId xmlns:a16="http://schemas.microsoft.com/office/drawing/2014/main" id="{778C2DF7-6580-4CA9-9F23-FE0457F44F89}"/>
              </a:ext>
            </a:extLst>
          </p:cNvPr>
          <p:cNvSpPr>
            <a:spLocks xmlns:a="http://schemas.openxmlformats.org/drawingml/2006/main" noGrp="1"/>
          </p:cNvSpPr>
          <p:nvPr/>
        </p:nvSpPr>
        <p:spPr>
          <a:xfrm xmlns:a="http://schemas.openxmlformats.org/drawingml/2006/main">
            <a:off x="565118" y="430530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656B73"/>
                </a:solidFill>
                <a:latin typeface="Helvetica Neue"/>
                <a:ea typeface="Helvetica Neue"/>
                <a:cs typeface="Helvetica Neue"/>
              </a:defRPr>
            </a:pPr>
            <a:r>
              <a:rPr sz="1200" b="0" i="0">
                <a:solidFill>
                  <a:srgbClr val="656B73"/>
                </a:solidFill>
                <a:latin typeface="Helvetica Neue"/>
                <a:ea typeface="Helvetica Neue"/>
                <a:cs typeface="Helvetica Neue"/>
              </a:rPr>
              <a:t>Add compatible additive facts across the requested scope.</a:t>
            </a:r>
          </a:p>
        </p:txBody>
      </p:sp>
      <p:sp>
        <p:nvSpPr>
          <p:cNvPr id="10" name="roundRect-174">
            <a:extLst xmlns:a="http://schemas.openxmlformats.org/drawingml/2006/main">
              <a:ext uri="{FF2B5EF4-FFF2-40B4-BE49-F238E27FC236}">
                <a16:creationId xmlns:a16="http://schemas.microsoft.com/office/drawing/2014/main" id="{02A13C49-7110-4D95-8901-B2472470536F}"/>
              </a:ext>
            </a:extLst>
          </p:cNvPr>
          <p:cNvSpPr>
            <a:spLocks xmlns:a="http://schemas.openxmlformats.org/drawingml/2006/main" noGrp="1"/>
          </p:cNvSpPr>
          <p:nvPr/>
        </p:nvSpPr>
        <p:spPr>
          <a:xfrm xmlns:a="http://schemas.openxmlformats.org/drawingml/2006/main">
            <a:off x="3232118" y="1943100"/>
            <a:ext cx="2628900" cy="3143250"/>
          </a:xfrm>
          <a:prstGeom xmlns:a="http://schemas.openxmlformats.org/drawingml/2006/main" prst="roundRect">
            <a:avLst>
              <a:gd name="adj" fmla="val 2899"/>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t">
            <a:noAutofit/>
          </a:bodyPr>
          <a:lstStyle xmlns:a="http://schemas.openxmlformats.org/drawingml/2006/main"/>
          <a:p xmlns:a="http://schemas.openxmlformats.org/drawingml/2006/main">
            <a:r>
              <a:t/>
            </a:r>
          </a:p>
        </p:txBody>
      </p:sp>
      <p:sp>
        <p:nvSpPr>
          <p:cNvPr id="11" name="textbox-175">
            <a:extLst xmlns:a="http://schemas.openxmlformats.org/drawingml/2006/main">
              <a:ext uri="{FF2B5EF4-FFF2-40B4-BE49-F238E27FC236}">
                <a16:creationId xmlns:a16="http://schemas.microsoft.com/office/drawing/2014/main" id="{29DC785E-2874-4004-AC91-A2569EEF9D65}"/>
              </a:ext>
            </a:extLst>
          </p:cNvPr>
          <p:cNvSpPr>
            <a:spLocks xmlns:a="http://schemas.openxmlformats.org/drawingml/2006/main" noGrp="1"/>
          </p:cNvSpPr>
          <p:nvPr/>
        </p:nvSpPr>
        <p:spPr>
          <a:xfrm xmlns:a="http://schemas.openxmlformats.org/drawingml/2006/main">
            <a:off x="3403568" y="2114550"/>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i="0">
                <a:solidFill>
                  <a:srgbClr val="000000"/>
                </a:solidFill>
                <a:latin typeface="Helvetica Neue"/>
                <a:ea typeface="Helvetica Neue"/>
                <a:cs typeface="Helvetica Neue"/>
              </a:defRPr>
            </a:pPr>
            <a:r>
              <a:rPr sz="1875" b="1" i="0">
                <a:solidFill>
                  <a:srgbClr val="000000"/>
                </a:solidFill>
                <a:latin typeface="Helvetica Neue"/>
                <a:ea typeface="Helvetica Neue"/>
                <a:cs typeface="Helvetica Neue"/>
              </a:rPr>
              <a:t>RATIO</a:t>
            </a:r>
          </a:p>
        </p:txBody>
      </p:sp>
      <p:sp>
        <p:nvSpPr>
          <p:cNvPr id="12" name="line-176">
            <a:extLst xmlns:a="http://schemas.openxmlformats.org/drawingml/2006/main">
              <a:ext uri="{FF2B5EF4-FFF2-40B4-BE49-F238E27FC236}">
                <a16:creationId xmlns:a16="http://schemas.microsoft.com/office/drawing/2014/main" id="{ACE51A5C-3C14-4F7E-9C4B-D1E240D538E3}"/>
              </a:ext>
            </a:extLst>
          </p:cNvPr>
          <p:cNvSpPr>
            <a:spLocks xmlns:a="http://schemas.openxmlformats.org/drawingml/2006/main" noGrp="1"/>
          </p:cNvSpPr>
          <p:nvPr/>
        </p:nvSpPr>
        <p:spPr>
          <a:xfrm xmlns:a="http://schemas.openxmlformats.org/drawingml/2006/main">
            <a:off x="3403568" y="2552700"/>
            <a:ext cx="22860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3" name="textbox-177">
            <a:extLst xmlns:a="http://schemas.openxmlformats.org/drawingml/2006/main">
              <a:ext uri="{FF2B5EF4-FFF2-40B4-BE49-F238E27FC236}">
                <a16:creationId xmlns:a16="http://schemas.microsoft.com/office/drawing/2014/main" id="{F83166C3-F4AB-4B62-85AB-FC4B515C1CA4}"/>
              </a:ext>
            </a:extLst>
          </p:cNvPr>
          <p:cNvSpPr>
            <a:spLocks xmlns:a="http://schemas.openxmlformats.org/drawingml/2006/main" noGrp="1"/>
          </p:cNvSpPr>
          <p:nvPr/>
        </p:nvSpPr>
        <p:spPr>
          <a:xfrm xmlns:a="http://schemas.openxmlformats.org/drawingml/2006/main">
            <a:off x="3403568" y="2743200"/>
            <a:ext cx="22860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101010"/>
                </a:solidFill>
                <a:latin typeface="Helvetica Neue"/>
                <a:ea typeface="Helvetica Neue"/>
                <a:cs typeface="Helvetica Neue"/>
              </a:defRPr>
            </a:pPr>
            <a:r>
              <a:rPr sz="1275" b="0" i="0">
                <a:solidFill>
                  <a:srgbClr val="101010"/>
                </a:solidFill>
                <a:latin typeface="Helvetica Neue"/>
                <a:ea typeface="Helvetica Neue"/>
                <a:cs typeface="Helvetica Neue"/>
              </a:rPr>
              <a:t>engagement rate</a:t>
            </a:r>
          </a:p>
          <a:p xmlns:a="http://schemas.openxmlformats.org/drawingml/2006/main">
            <a:pPr algn="l">
              <a:defRPr sz="1275" b="0" i="0">
                <a:solidFill>
                  <a:srgbClr val="101010"/>
                </a:solidFill>
                <a:latin typeface="Helvetica Neue"/>
                <a:ea typeface="Helvetica Neue"/>
                <a:cs typeface="Helvetica Neue"/>
              </a:defRPr>
            </a:pPr>
            <a:r>
              <a:rPr sz="1275" b="0" i="0">
                <a:solidFill>
                  <a:srgbClr val="101010"/>
                </a:solidFill>
                <a:latin typeface="Helvetica Neue"/>
                <a:ea typeface="Helvetica Neue"/>
                <a:cs typeface="Helvetica Neue"/>
              </a:rPr>
              <a:t>conversion rate</a:t>
            </a:r>
          </a:p>
        </p:txBody>
      </p:sp>
      <p:sp>
        <p:nvSpPr>
          <p:cNvPr id="14" name="textbox-178">
            <a:extLst xmlns:a="http://schemas.openxmlformats.org/drawingml/2006/main">
              <a:ext uri="{FF2B5EF4-FFF2-40B4-BE49-F238E27FC236}">
                <a16:creationId xmlns:a16="http://schemas.microsoft.com/office/drawing/2014/main" id="{9CBB6738-7368-4A03-922D-0CBCDC0C19F4}"/>
              </a:ext>
            </a:extLst>
          </p:cNvPr>
          <p:cNvSpPr>
            <a:spLocks xmlns:a="http://schemas.openxmlformats.org/drawingml/2006/main" noGrp="1"/>
          </p:cNvSpPr>
          <p:nvPr/>
        </p:nvSpPr>
        <p:spPr>
          <a:xfrm xmlns:a="http://schemas.openxmlformats.org/drawingml/2006/main">
            <a:off x="3403568" y="430530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defRPr sz="1200" b="0" i="0">
                <a:solidFill>
                  <a:srgbClr val="656B73"/>
                </a:solidFill>
                <a:latin typeface="Helvetica Neue"/>
                <a:ea typeface="Helvetica Neue"/>
                <a:cs typeface="Helvetica Neue"/>
              </a:defRPr>
            </a:pPr>
            <a:r>
              <a:rPr sz="1200" b="0" i="0">
                <a:solidFill>
                  <a:srgbClr val="656B73"/>
                </a:solidFill>
                <a:latin typeface="Helvetica Neue"/>
                <a:ea typeface="Helvetica Neue"/>
                <a:cs typeface="Helvetica Neue"/>
              </a:rPr>
              <a:t>Recompute from numerator / denominator or request the full period.</a:t>
            </a:r>
          </a:p>
        </p:txBody>
      </p:sp>
      <p:sp>
        <p:nvSpPr>
          <p:cNvPr id="15" name="roundRect-179">
            <a:extLst xmlns:a="http://schemas.openxmlformats.org/drawingml/2006/main">
              <a:ext uri="{FF2B5EF4-FFF2-40B4-BE49-F238E27FC236}">
                <a16:creationId xmlns:a16="http://schemas.microsoft.com/office/drawing/2014/main" id="{5D6C11C8-8A61-4B88-8FC9-0AC9A9DC00F5}"/>
              </a:ext>
            </a:extLst>
          </p:cNvPr>
          <p:cNvSpPr>
            <a:spLocks xmlns:a="http://schemas.openxmlformats.org/drawingml/2006/main" noGrp="1"/>
          </p:cNvSpPr>
          <p:nvPr/>
        </p:nvSpPr>
        <p:spPr>
          <a:xfrm xmlns:a="http://schemas.openxmlformats.org/drawingml/2006/main">
            <a:off x="6070568" y="1943100"/>
            <a:ext cx="2628900" cy="3143250"/>
          </a:xfrm>
          <a:prstGeom xmlns:a="http://schemas.openxmlformats.org/drawingml/2006/main" prst="roundRect">
            <a:avLst>
              <a:gd name="adj" fmla="val 2899"/>
            </a:avLst>
          </a:prstGeom>
          <a:solidFill xmlns:a="http://schemas.openxmlformats.org/drawingml/2006/main">
            <a:srgbClr val="EDF8FD"/>
          </a:solidFill>
          <a:ln xmlns:a="http://schemas.openxmlformats.org/drawingml/2006/main" w="19050">
            <a:solidFill>
              <a:srgbClr val="3D8DFF"/>
            </a:solidFill>
            <a:prstDash val="solid"/>
          </a:ln>
        </p:spPr>
        <p:txBody>
          <a:bodyPr xmlns:a="http://schemas.openxmlformats.org/drawingml/2006/main" wrap="square" lIns="152400" tIns="133350" rIns="152400" bIns="114300" anchor="t">
            <a:noAutofit/>
          </a:bodyPr>
          <a:lstStyle xmlns:a="http://schemas.openxmlformats.org/drawingml/2006/main"/>
          <a:p xmlns:a="http://schemas.openxmlformats.org/drawingml/2006/main">
            <a:r>
              <a:t/>
            </a:r>
          </a:p>
        </p:txBody>
      </p:sp>
      <p:sp>
        <p:nvSpPr>
          <p:cNvPr id="16" name="textbox-180">
            <a:extLst xmlns:a="http://schemas.openxmlformats.org/drawingml/2006/main">
              <a:ext uri="{FF2B5EF4-FFF2-40B4-BE49-F238E27FC236}">
                <a16:creationId xmlns:a16="http://schemas.microsoft.com/office/drawing/2014/main" id="{635247D0-85C5-42DA-8220-F747BCF9482B}"/>
              </a:ext>
            </a:extLst>
          </p:cNvPr>
          <p:cNvSpPr>
            <a:spLocks xmlns:a="http://schemas.openxmlformats.org/drawingml/2006/main" noGrp="1"/>
          </p:cNvSpPr>
          <p:nvPr/>
        </p:nvSpPr>
        <p:spPr>
          <a:xfrm xmlns:a="http://schemas.openxmlformats.org/drawingml/2006/main">
            <a:off x="6242018" y="2114550"/>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i="0">
                <a:solidFill>
                  <a:srgbClr val="3D8DFF"/>
                </a:solidFill>
                <a:latin typeface="Helvetica Neue"/>
                <a:ea typeface="Helvetica Neue"/>
                <a:cs typeface="Helvetica Neue"/>
              </a:defRPr>
            </a:pPr>
            <a:r>
              <a:rPr sz="1875" b="1" i="0">
                <a:solidFill>
                  <a:srgbClr val="3D8DFF"/>
                </a:solidFill>
                <a:latin typeface="Helvetica Neue"/>
                <a:ea typeface="Helvetica Neue"/>
                <a:cs typeface="Helvetica Neue"/>
              </a:rPr>
              <a:t>WINDOWED</a:t>
            </a:r>
          </a:p>
        </p:txBody>
      </p:sp>
      <p:sp>
        <p:nvSpPr>
          <p:cNvPr id="17" name="line-181">
            <a:extLst xmlns:a="http://schemas.openxmlformats.org/drawingml/2006/main">
              <a:ext uri="{FF2B5EF4-FFF2-40B4-BE49-F238E27FC236}">
                <a16:creationId xmlns:a16="http://schemas.microsoft.com/office/drawing/2014/main" id="{C9903165-2368-4C18-B99B-6249227BBB58}"/>
              </a:ext>
            </a:extLst>
          </p:cNvPr>
          <p:cNvSpPr>
            <a:spLocks xmlns:a="http://schemas.openxmlformats.org/drawingml/2006/main" noGrp="1"/>
          </p:cNvSpPr>
          <p:nvPr/>
        </p:nvSpPr>
        <p:spPr>
          <a:xfrm xmlns:a="http://schemas.openxmlformats.org/drawingml/2006/main">
            <a:off x="6242018" y="2552700"/>
            <a:ext cx="2286000" cy="0"/>
          </a:xfrm>
          <a:prstGeom xmlns:a="http://schemas.openxmlformats.org/drawingml/2006/main" prst="line">
            <a:avLst/>
          </a:prstGeom>
          <a:noFill xmlns:a="http://schemas.openxmlformats.org/drawingml/2006/main"/>
          <a:ln xmlns:a="http://schemas.openxmlformats.org/drawingml/2006/main" w="9525">
            <a:solidFill>
              <a:srgbClr val="3D8DFF"/>
            </a:solidFill>
            <a:prstDash val="solid"/>
          </a:ln>
        </p:spPr>
      </p:sp>
      <p:sp>
        <p:nvSpPr>
          <p:cNvPr id="18" name="textbox-182">
            <a:extLst xmlns:a="http://schemas.openxmlformats.org/drawingml/2006/main">
              <a:ext uri="{FF2B5EF4-FFF2-40B4-BE49-F238E27FC236}">
                <a16:creationId xmlns:a16="http://schemas.microsoft.com/office/drawing/2014/main" id="{13A4C200-5279-4C80-B7B5-4D99D1784DCA}"/>
              </a:ext>
            </a:extLst>
          </p:cNvPr>
          <p:cNvSpPr>
            <a:spLocks xmlns:a="http://schemas.openxmlformats.org/drawingml/2006/main" noGrp="1"/>
          </p:cNvSpPr>
          <p:nvPr/>
        </p:nvSpPr>
        <p:spPr>
          <a:xfrm xmlns:a="http://schemas.openxmlformats.org/drawingml/2006/main">
            <a:off x="6242018" y="2743200"/>
            <a:ext cx="22860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101010"/>
                </a:solidFill>
                <a:latin typeface="Helvetica Neue"/>
                <a:ea typeface="Helvetica Neue"/>
                <a:cs typeface="Helvetica Neue"/>
              </a:defRPr>
            </a:pPr>
            <a:r>
              <a:rPr sz="1275" b="0" i="0">
                <a:solidFill>
                  <a:srgbClr val="101010"/>
                </a:solidFill>
                <a:latin typeface="Helvetica Neue"/>
                <a:ea typeface="Helvetica Neue"/>
                <a:cs typeface="Helvetica Neue"/>
              </a:rPr>
              <a:t>active users</a:t>
            </a:r>
          </a:p>
          <a:p xmlns:a="http://schemas.openxmlformats.org/drawingml/2006/main">
            <a:pPr algn="l">
              <a:defRPr sz="1275" b="0" i="0">
                <a:solidFill>
                  <a:srgbClr val="101010"/>
                </a:solidFill>
                <a:latin typeface="Helvetica Neue"/>
                <a:ea typeface="Helvetica Neue"/>
                <a:cs typeface="Helvetica Neue"/>
              </a:defRPr>
            </a:pPr>
            <a:r>
              <a:rPr sz="1275" b="0" i="0">
                <a:solidFill>
                  <a:srgbClr val="101010"/>
                </a:solidFill>
                <a:latin typeface="Helvetica Neue"/>
                <a:ea typeface="Helvetica Neue"/>
                <a:cs typeface="Helvetica Neue"/>
              </a:rPr>
              <a:t>users</a:t>
            </a:r>
          </a:p>
          <a:p xmlns:a="http://schemas.openxmlformats.org/drawingml/2006/main">
            <a:pPr algn="l">
              <a:defRPr sz="1275" b="0" i="0">
                <a:solidFill>
                  <a:srgbClr val="101010"/>
                </a:solidFill>
                <a:latin typeface="Helvetica Neue"/>
                <a:ea typeface="Helvetica Neue"/>
                <a:cs typeface="Helvetica Neue"/>
              </a:defRPr>
            </a:pPr>
            <a:r>
              <a:rPr sz="1275" b="0" i="0">
                <a:solidFill>
                  <a:srgbClr val="101010"/>
                </a:solidFill>
                <a:latin typeface="Helvetica Neue"/>
                <a:ea typeface="Helvetica Neue"/>
                <a:cs typeface="Helvetica Neue"/>
              </a:rPr>
              <a:t>sessions as a period total</a:t>
            </a:r>
          </a:p>
        </p:txBody>
      </p:sp>
      <p:sp>
        <p:nvSpPr>
          <p:cNvPr id="19" name="textbox-183">
            <a:extLst xmlns:a="http://schemas.openxmlformats.org/drawingml/2006/main">
              <a:ext uri="{FF2B5EF4-FFF2-40B4-BE49-F238E27FC236}">
                <a16:creationId xmlns:a16="http://schemas.microsoft.com/office/drawing/2014/main" id="{51434C0D-E81D-48A5-8D1D-189C9CBC807E}"/>
              </a:ext>
            </a:extLst>
          </p:cNvPr>
          <p:cNvSpPr>
            <a:spLocks xmlns:a="http://schemas.openxmlformats.org/drawingml/2006/main" noGrp="1"/>
          </p:cNvSpPr>
          <p:nvPr/>
        </p:nvSpPr>
        <p:spPr>
          <a:xfrm xmlns:a="http://schemas.openxmlformats.org/drawingml/2006/main">
            <a:off x="6242018" y="430530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816"/>
          </a:bodyPr>
          <a:lstStyle xmlns:a="http://schemas.openxmlformats.org/drawingml/2006/main"/>
          <a:p xmlns:a="http://schemas.openxmlformats.org/drawingml/2006/main">
            <a:pPr algn="l">
              <a:defRPr sz="1200" b="0" i="0">
                <a:solidFill>
                  <a:srgbClr val="656B73"/>
                </a:solidFill>
                <a:latin typeface="Helvetica Neue"/>
                <a:ea typeface="Helvetica Neue"/>
                <a:cs typeface="Helvetica Neue"/>
              </a:defRPr>
            </a:pPr>
            <a:r>
              <a:rPr sz="1200" b="0" i="0">
                <a:solidFill>
                  <a:srgbClr val="656B73"/>
                </a:solidFill>
                <a:latin typeface="Helvetica Neue"/>
                <a:ea typeface="Helvetica Neue"/>
                <a:cs typeface="Helvetica Neue"/>
              </a:rPr>
              <a:t>Request and cache the complete window. Never sum daily uniques.</a:t>
            </a:r>
          </a:p>
        </p:txBody>
      </p:sp>
      <p:sp>
        <p:nvSpPr>
          <p:cNvPr id="20" name="roundRect-184">
            <a:extLst xmlns:a="http://schemas.openxmlformats.org/drawingml/2006/main">
              <a:ext uri="{FF2B5EF4-FFF2-40B4-BE49-F238E27FC236}">
                <a16:creationId xmlns:a16="http://schemas.microsoft.com/office/drawing/2014/main" id="{ED23C2F3-AD79-4DC2-8356-1515542B0D1B}"/>
              </a:ext>
            </a:extLst>
          </p:cNvPr>
          <p:cNvSpPr>
            <a:spLocks xmlns:a="http://schemas.openxmlformats.org/drawingml/2006/main" noGrp="1"/>
          </p:cNvSpPr>
          <p:nvPr/>
        </p:nvSpPr>
        <p:spPr>
          <a:xfrm xmlns:a="http://schemas.openxmlformats.org/drawingml/2006/main">
            <a:off x="8909018" y="1943100"/>
            <a:ext cx="2628900" cy="3143250"/>
          </a:xfrm>
          <a:prstGeom xmlns:a="http://schemas.openxmlformats.org/drawingml/2006/main" prst="roundRect">
            <a:avLst>
              <a:gd name="adj" fmla="val 2899"/>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t">
            <a:noAutofit/>
          </a:bodyPr>
          <a:lstStyle xmlns:a="http://schemas.openxmlformats.org/drawingml/2006/main"/>
          <a:p xmlns:a="http://schemas.openxmlformats.org/drawingml/2006/main">
            <a:r>
              <a:t/>
            </a:r>
          </a:p>
        </p:txBody>
      </p:sp>
      <p:sp>
        <p:nvSpPr>
          <p:cNvPr id="21" name="textbox-185">
            <a:extLst xmlns:a="http://schemas.openxmlformats.org/drawingml/2006/main">
              <a:ext uri="{FF2B5EF4-FFF2-40B4-BE49-F238E27FC236}">
                <a16:creationId xmlns:a16="http://schemas.microsoft.com/office/drawing/2014/main" id="{CD9A10BA-F5E5-496A-A575-7A7DC8A2245E}"/>
              </a:ext>
            </a:extLst>
          </p:cNvPr>
          <p:cNvSpPr>
            <a:spLocks xmlns:a="http://schemas.openxmlformats.org/drawingml/2006/main" noGrp="1"/>
          </p:cNvSpPr>
          <p:nvPr/>
        </p:nvSpPr>
        <p:spPr>
          <a:xfrm xmlns:a="http://schemas.openxmlformats.org/drawingml/2006/main">
            <a:off x="9080468" y="2114550"/>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i="0">
                <a:solidFill>
                  <a:srgbClr val="000000"/>
                </a:solidFill>
                <a:latin typeface="Helvetica Neue"/>
                <a:ea typeface="Helvetica Neue"/>
                <a:cs typeface="Helvetica Neue"/>
              </a:defRPr>
            </a:pPr>
            <a:r>
              <a:rPr sz="1875" b="1" i="0">
                <a:solidFill>
                  <a:srgbClr val="000000"/>
                </a:solidFill>
                <a:latin typeface="Helvetica Neue"/>
                <a:ea typeface="Helvetica Neue"/>
                <a:cs typeface="Helvetica Neue"/>
              </a:rPr>
              <a:t>EXTERNAL</a:t>
            </a:r>
          </a:p>
        </p:txBody>
      </p:sp>
      <p:sp>
        <p:nvSpPr>
          <p:cNvPr id="22" name="line-186">
            <a:extLst xmlns:a="http://schemas.openxmlformats.org/drawingml/2006/main">
              <a:ext uri="{FF2B5EF4-FFF2-40B4-BE49-F238E27FC236}">
                <a16:creationId xmlns:a16="http://schemas.microsoft.com/office/drawing/2014/main" id="{244D995E-370A-4705-8116-AA265DC8EC81}"/>
              </a:ext>
            </a:extLst>
          </p:cNvPr>
          <p:cNvSpPr>
            <a:spLocks xmlns:a="http://schemas.openxmlformats.org/drawingml/2006/main" noGrp="1"/>
          </p:cNvSpPr>
          <p:nvPr/>
        </p:nvSpPr>
        <p:spPr>
          <a:xfrm xmlns:a="http://schemas.openxmlformats.org/drawingml/2006/main">
            <a:off x="9080468" y="2552700"/>
            <a:ext cx="22860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23" name="textbox-187">
            <a:extLst xmlns:a="http://schemas.openxmlformats.org/drawingml/2006/main">
              <a:ext uri="{FF2B5EF4-FFF2-40B4-BE49-F238E27FC236}">
                <a16:creationId xmlns:a16="http://schemas.microsoft.com/office/drawing/2014/main" id="{3AB96025-E761-4B0D-ABA3-4102583334D3}"/>
              </a:ext>
            </a:extLst>
          </p:cNvPr>
          <p:cNvSpPr>
            <a:spLocks xmlns:a="http://schemas.openxmlformats.org/drawingml/2006/main" noGrp="1"/>
          </p:cNvSpPr>
          <p:nvPr/>
        </p:nvSpPr>
        <p:spPr>
          <a:xfrm xmlns:a="http://schemas.openxmlformats.org/drawingml/2006/main">
            <a:off x="9080468" y="2743200"/>
            <a:ext cx="22860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101010"/>
                </a:solidFill>
                <a:latin typeface="Helvetica Neue"/>
                <a:ea typeface="Helvetica Neue"/>
                <a:cs typeface="Helvetica Neue"/>
              </a:defRPr>
            </a:pPr>
            <a:r>
              <a:rPr sz="1275" b="0" i="0">
                <a:solidFill>
                  <a:srgbClr val="101010"/>
                </a:solidFill>
                <a:latin typeface="Helvetica Neue"/>
                <a:ea typeface="Helvetica Neue"/>
                <a:cs typeface="Helvetica Neue"/>
              </a:rPr>
              <a:t>qualified leads</a:t>
            </a:r>
          </a:p>
          <a:p xmlns:a="http://schemas.openxmlformats.org/drawingml/2006/main">
            <a:pPr algn="l">
              <a:defRPr sz="1275" b="0" i="0">
                <a:solidFill>
                  <a:srgbClr val="101010"/>
                </a:solidFill>
                <a:latin typeface="Helvetica Neue"/>
                <a:ea typeface="Helvetica Neue"/>
                <a:cs typeface="Helvetica Neue"/>
              </a:defRPr>
            </a:pPr>
            <a:r>
              <a:rPr sz="1275" b="0" i="0">
                <a:solidFill>
                  <a:srgbClr val="101010"/>
                </a:solidFill>
                <a:latin typeface="Helvetica Neue"/>
                <a:ea typeface="Helvetica Neue"/>
                <a:cs typeface="Helvetica Neue"/>
              </a:rPr>
              <a:t>booked appointments</a:t>
            </a:r>
          </a:p>
          <a:p xmlns:a="http://schemas.openxmlformats.org/drawingml/2006/main">
            <a:pPr algn="l">
              <a:defRPr sz="1275" b="0" i="0">
                <a:solidFill>
                  <a:srgbClr val="101010"/>
                </a:solidFill>
                <a:latin typeface="Helvetica Neue"/>
                <a:ea typeface="Helvetica Neue"/>
                <a:cs typeface="Helvetica Neue"/>
              </a:defRPr>
            </a:pPr>
            <a:r>
              <a:rPr sz="1275" b="0" i="0">
                <a:solidFill>
                  <a:srgbClr val="101010"/>
                </a:solidFill>
                <a:latin typeface="Helvetica Neue"/>
                <a:ea typeface="Helvetica Neue"/>
                <a:cs typeface="Helvetica Neue"/>
              </a:rPr>
              <a:t>CRM revenue</a:t>
            </a:r>
          </a:p>
        </p:txBody>
      </p:sp>
      <p:sp>
        <p:nvSpPr>
          <p:cNvPr id="24" name="textbox-188">
            <a:extLst xmlns:a="http://schemas.openxmlformats.org/drawingml/2006/main">
              <a:ext uri="{FF2B5EF4-FFF2-40B4-BE49-F238E27FC236}">
                <a16:creationId xmlns:a16="http://schemas.microsoft.com/office/drawing/2014/main" id="{2D56F6DA-2E68-4DE2-82E1-DC449A22F30F}"/>
              </a:ext>
            </a:extLst>
          </p:cNvPr>
          <p:cNvSpPr>
            <a:spLocks xmlns:a="http://schemas.openxmlformats.org/drawingml/2006/main" noGrp="1"/>
          </p:cNvSpPr>
          <p:nvPr/>
        </p:nvSpPr>
        <p:spPr>
          <a:xfrm xmlns:a="http://schemas.openxmlformats.org/drawingml/2006/main">
            <a:off x="9080468" y="430530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656B73"/>
                </a:solidFill>
                <a:latin typeface="Helvetica Neue"/>
                <a:ea typeface="Helvetica Neue"/>
                <a:cs typeface="Helvetica Neue"/>
              </a:defRPr>
            </a:pPr>
            <a:r>
              <a:rPr sz="1200" b="0" i="0">
                <a:solidFill>
                  <a:srgbClr val="656B73"/>
                </a:solidFill>
                <a:latin typeface="Helvetica Neue"/>
                <a:ea typeface="Helvetica Neue"/>
                <a:cs typeface="Helvetica Neue"/>
              </a:rPr>
              <a:t>Use the owning system and its reconciliation policy.</a:t>
            </a:r>
          </a:p>
        </p:txBody>
      </p:sp>
      <p:sp>
        <p:nvSpPr>
          <p:cNvPr id="25" name="roundRect-189">
            <a:extLst xmlns:a="http://schemas.openxmlformats.org/drawingml/2006/main">
              <a:ext uri="{FF2B5EF4-FFF2-40B4-BE49-F238E27FC236}">
                <a16:creationId xmlns:a16="http://schemas.microsoft.com/office/drawing/2014/main" id="{B298370B-2B95-4CEE-8BBB-52AA63132E63}"/>
              </a:ext>
            </a:extLst>
          </p:cNvPr>
          <p:cNvSpPr>
            <a:spLocks xmlns:a="http://schemas.openxmlformats.org/drawingml/2006/main" noGrp="1"/>
          </p:cNvSpPr>
          <p:nvPr/>
        </p:nvSpPr>
        <p:spPr>
          <a:xfrm xmlns:a="http://schemas.openxmlformats.org/drawingml/2006/main">
            <a:off x="393668" y="5467350"/>
            <a:ext cx="11001375" cy="514350"/>
          </a:xfrm>
          <a:prstGeom xmlns:a="http://schemas.openxmlformats.org/drawingml/2006/main" prst="roundRect">
            <a:avLst>
              <a:gd name="adj" fmla="val 18519"/>
            </a:avLst>
          </a:prstGeom>
          <a:solidFill xmlns:a="http://schemas.openxmlformats.org/drawingml/2006/main">
            <a:srgbClr val="EDF8FD"/>
          </a:solidFill>
          <a:ln xmlns:a="http://schemas.openxmlformats.org/drawingml/2006/main" w="19050">
            <a:solidFill>
              <a:srgbClr val="3D8DFF"/>
            </a:solidFill>
            <a:prstDash val="solid"/>
          </a:ln>
        </p:spPr>
        <p:txBody>
          <a:bodyPr xmlns:a="http://schemas.openxmlformats.org/drawingml/2006/main" wrap="square" lIns="152400" tIns="133350" rIns="152400" bIns="114300" anchor="ctr">
            <a:normAutofit fontScale="87865"/>
          </a:bodyPr>
          <a:lstStyle xmlns:a="http://schemas.openxmlformats.org/drawingml/2006/main"/>
          <a:p xmlns:a="http://schemas.openxmlformats.org/drawingml/2006/main">
            <a:pPr algn="l">
              <a:defRPr sz="1575" b="1" i="0">
                <a:solidFill>
                  <a:srgbClr val="000000"/>
                </a:solidFill>
                <a:latin typeface="Helvetica Neue"/>
                <a:ea typeface="Helvetica Neue"/>
                <a:cs typeface="Helvetica Neue"/>
              </a:defRPr>
            </a:pPr>
            <a:r>
              <a:rPr sz="1575" b="1" i="0">
                <a:solidFill>
                  <a:srgbClr val="000000"/>
                </a:solidFill>
                <a:latin typeface="Helvetica Neue"/>
                <a:ea typeface="Helvetica Neue"/>
                <a:cs typeface="Helvetica Neue"/>
              </a:rPr>
              <a:t>Never manufacture period totals by summing daily users, sessions, rates, or funnels.</a:t>
            </a:r>
          </a:p>
        </p:txBody>
      </p:sp>
    </p:spTree>
    <p:extLst>
      <p:ext uri="{BB962C8B-B14F-4D97-AF65-F5344CB8AC3E}">
        <p14:creationId xmlns:p14="http://schemas.microsoft.com/office/powerpoint/2010/main" val="207585875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textbox-190">
            <a:extLst xmlns:a="http://schemas.openxmlformats.org/drawingml/2006/main">
              <a:ext uri="{FF2B5EF4-FFF2-40B4-BE49-F238E27FC236}">
                <a16:creationId xmlns:a16="http://schemas.microsoft.com/office/drawing/2014/main" id="{7436C268-8F42-4E69-AA00-9714C05B03AC}"/>
              </a:ext>
            </a:extLst>
          </p:cNvPr>
          <p:cNvSpPr>
            <a:spLocks xmlns:a="http://schemas.openxmlformats.org/drawingml/2006/main" noGrp="1"/>
          </p:cNvSpPr>
          <p:nvPr/>
        </p:nvSpPr>
        <p:spPr>
          <a:xfrm xmlns:a="http://schemas.openxmlformats.org/drawingml/2006/main">
            <a:off x="393668" y="344043"/>
            <a:ext cx="11404568"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0" bIns="0" anchor="t">
            <a:normAutofit fontScale="100000"/>
          </a:bodyPr>
          <a:lstStyle xmlns:a="http://schemas.openxmlformats.org/drawingml/2006/main"/>
          <a:p xmlns:a="http://schemas.openxmlformats.org/drawingml/2006/main">
            <a:pPr algn="l">
              <a:defRPr sz="2850" b="0" i="0">
                <a:solidFill>
                  <a:srgbClr val="000000"/>
                </a:solidFill>
                <a:latin typeface="Helvetica Neue"/>
                <a:ea typeface="Helvetica Neue"/>
                <a:cs typeface="Helvetica Neue"/>
              </a:defRPr>
            </a:pPr>
            <a:r>
              <a:rPr sz="2850" b="0" i="0">
                <a:solidFill>
                  <a:srgbClr val="000000"/>
                </a:solidFill>
                <a:latin typeface="Helvetica Neue"/>
                <a:ea typeface="Helvetica Neue"/>
                <a:cs typeface="Helvetica Neue"/>
              </a:rPr>
              <a:t>The website analytics assignment is the reporting boundary</a:t>
            </a:r>
          </a:p>
        </p:txBody>
      </p:sp>
      <p:sp>
        <p:nvSpPr>
          <p:cNvPr id="2" name="line-191">
            <a:extLst xmlns:a="http://schemas.openxmlformats.org/drawingml/2006/main">
              <a:ext uri="{FF2B5EF4-FFF2-40B4-BE49-F238E27FC236}">
                <a16:creationId xmlns:a16="http://schemas.microsoft.com/office/drawing/2014/main" id="{136CEBF0-D9A4-4A61-A6D3-40715FA43864}"/>
              </a:ext>
            </a:extLst>
          </p:cNvPr>
          <p:cNvSpPr>
            <a:spLocks xmlns:a="http://schemas.openxmlformats.org/drawingml/2006/main" noGrp="1"/>
          </p:cNvSpPr>
          <p:nvPr/>
        </p:nvSpPr>
        <p:spPr>
          <a:xfrm xmlns:a="http://schemas.openxmlformats.org/drawingml/2006/main">
            <a:off x="393668" y="1181100"/>
            <a:ext cx="11404568"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3" name="textbox-192">
            <a:extLst xmlns:a="http://schemas.openxmlformats.org/drawingml/2006/main">
              <a:ext uri="{FF2B5EF4-FFF2-40B4-BE49-F238E27FC236}">
                <a16:creationId xmlns:a16="http://schemas.microsoft.com/office/drawing/2014/main" id="{0E0F8F14-4387-4DBF-BB8D-94441F3BD4C5}"/>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975" b="0" i="0">
                <a:solidFill>
                  <a:srgbClr val="000000"/>
                </a:solidFill>
                <a:latin typeface="Helvetica Neue"/>
                <a:ea typeface="Helvetica Neue"/>
                <a:cs typeface="Helvetica Neue"/>
              </a:defRPr>
            </a:pPr>
            <a:r>
              <a:rPr sz="975" b="0" i="0">
                <a:solidFill>
                  <a:srgbClr val="000000"/>
                </a:solidFill>
                <a:latin typeface="Helvetica Neue"/>
                <a:ea typeface="Helvetica Neue"/>
                <a:cs typeface="Helvetica Neue"/>
              </a:rPr>
              <a:t>08</a:t>
            </a:r>
          </a:p>
        </p:txBody>
      </p:sp>
      <p:sp>
        <p:nvSpPr>
          <p:cNvPr id="4" name="textbox-193">
            <a:extLst xmlns:a="http://schemas.openxmlformats.org/drawingml/2006/main">
              <a:ext uri="{FF2B5EF4-FFF2-40B4-BE49-F238E27FC236}">
                <a16:creationId xmlns:a16="http://schemas.microsoft.com/office/drawing/2014/main" id="{AA4EF47B-E191-41AA-92C6-92A8484EE50C}"/>
              </a:ext>
            </a:extLst>
          </p:cNvPr>
          <p:cNvSpPr>
            <a:spLocks xmlns:a="http://schemas.openxmlformats.org/drawingml/2006/main" noGrp="1"/>
          </p:cNvSpPr>
          <p:nvPr/>
        </p:nvSpPr>
        <p:spPr>
          <a:xfrm xmlns:a="http://schemas.openxmlformats.org/drawingml/2006/main">
            <a:off x="393668" y="1333500"/>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656B73"/>
                </a:solidFill>
                <a:latin typeface="Helvetica Neue"/>
                <a:ea typeface="Helvetica Neue"/>
                <a:cs typeface="Helvetica Neue"/>
              </a:defRPr>
            </a:pPr>
            <a:r>
              <a:rPr sz="1500" b="0" i="0">
                <a:solidFill>
                  <a:srgbClr val="656B73"/>
                </a:solidFill>
                <a:latin typeface="Helvetica Neue"/>
                <a:ea typeface="Helvetica Neue"/>
                <a:cs typeface="Helvetica Neue"/>
              </a:rPr>
              <a:t>Credentials authenticate. Assignments establish which website is allowed to report from which property and scope.</a:t>
            </a:r>
          </a:p>
        </p:txBody>
      </p:sp>
      <p:sp>
        <p:nvSpPr>
          <p:cNvPr id="5" name="textbox-194">
            <a:extLst xmlns:a="http://schemas.openxmlformats.org/drawingml/2006/main">
              <a:ext uri="{FF2B5EF4-FFF2-40B4-BE49-F238E27FC236}">
                <a16:creationId xmlns:a16="http://schemas.microsoft.com/office/drawing/2014/main" id="{C71914E1-F4BF-454B-B47E-3B6E40180E91}"/>
              </a:ext>
            </a:extLst>
          </p:cNvPr>
          <p:cNvSpPr>
            <a:spLocks xmlns:a="http://schemas.openxmlformats.org/drawingml/2006/main" noGrp="1"/>
          </p:cNvSpPr>
          <p:nvPr/>
        </p:nvSpPr>
        <p:spPr>
          <a:xfrm xmlns:a="http://schemas.openxmlformats.org/drawingml/2006/main">
            <a:off x="393668" y="19431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000000"/>
                </a:solidFill>
                <a:latin typeface="Helvetica Neue"/>
                <a:ea typeface="Helvetica Neue"/>
                <a:cs typeface="Helvetica Neue"/>
              </a:defRPr>
            </a:pPr>
            <a:r>
              <a:rPr sz="1800" b="1" i="0">
                <a:solidFill>
                  <a:srgbClr val="000000"/>
                </a:solidFill>
                <a:latin typeface="Helvetica Neue"/>
                <a:ea typeface="Helvetica Neue"/>
                <a:cs typeface="Helvetica Neue"/>
              </a:rPr>
              <a:t>Tenant hierarchy</a:t>
            </a:r>
          </a:p>
        </p:txBody>
      </p:sp>
      <p:sp>
        <p:nvSpPr>
          <p:cNvPr id="6" name="downArrow-195">
            <a:extLst xmlns:a="http://schemas.openxmlformats.org/drawingml/2006/main">
              <a:ext uri="{FF2B5EF4-FFF2-40B4-BE49-F238E27FC236}">
                <a16:creationId xmlns:a16="http://schemas.microsoft.com/office/drawing/2014/main" id="{648D802B-2FB0-4BAB-9A8C-53B47EBBB642}"/>
              </a:ext>
            </a:extLst>
          </p:cNvPr>
          <p:cNvSpPr>
            <a:spLocks xmlns:a="http://schemas.openxmlformats.org/drawingml/2006/main" noGrp="1"/>
          </p:cNvSpPr>
          <p:nvPr/>
        </p:nvSpPr>
        <p:spPr>
          <a:xfrm xmlns:a="http://schemas.openxmlformats.org/drawingml/2006/main">
            <a:off x="2724150" y="2895600"/>
            <a:ext cx="133350" cy="171450"/>
          </a:xfrm>
          <a:prstGeom xmlns:a="http://schemas.openxmlformats.org/drawingml/2006/main" prst="downArrow">
            <a:avLst/>
          </a:prstGeom>
          <a:solidFill xmlns:a="http://schemas.openxmlformats.org/drawingml/2006/main">
            <a:srgbClr val="3D8DFF"/>
          </a:solidFill>
          <a:ln xmlns:a="http://schemas.openxmlformats.org/drawingml/2006/main" w="0">
            <a:solidFill>
              <a:srgbClr val="3D8DFF"/>
            </a:solidFill>
            <a:prstDash val="solid"/>
          </a:ln>
        </p:spPr>
      </p:sp>
      <p:sp>
        <p:nvSpPr>
          <p:cNvPr id="7" name="roundRect-196">
            <a:extLst xmlns:a="http://schemas.openxmlformats.org/drawingml/2006/main">
              <a:ext uri="{FF2B5EF4-FFF2-40B4-BE49-F238E27FC236}">
                <a16:creationId xmlns:a16="http://schemas.microsoft.com/office/drawing/2014/main" id="{D97A6C63-D0D5-45F4-8F07-5AE5DCDB686D}"/>
              </a:ext>
            </a:extLst>
          </p:cNvPr>
          <p:cNvSpPr>
            <a:spLocks xmlns:a="http://schemas.openxmlformats.org/drawingml/2006/main" noGrp="1"/>
          </p:cNvSpPr>
          <p:nvPr/>
        </p:nvSpPr>
        <p:spPr>
          <a:xfrm xmlns:a="http://schemas.openxmlformats.org/drawingml/2006/main">
            <a:off x="914400" y="2381250"/>
            <a:ext cx="3752850" cy="457200"/>
          </a:xfrm>
          <a:prstGeom xmlns:a="http://schemas.openxmlformats.org/drawingml/2006/main" prst="roundRect">
            <a:avLst>
              <a:gd name="adj" fmla="val 20833"/>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ctr">
            <a:normAutofit fontScale="74733"/>
          </a:bodyPr>
          <a:lstStyle xmlns:a="http://schemas.openxmlformats.org/drawingml/2006/main"/>
          <a:p xmlns:a="http://schemas.openxmlformats.org/drawingml/2006/main">
            <a:pPr algn="l">
              <a:defRPr sz="1350" b="0" i="0">
                <a:solidFill>
                  <a:srgbClr val="000000"/>
                </a:solidFill>
                <a:latin typeface="Helvetica Neue"/>
                <a:ea typeface="Helvetica Neue"/>
                <a:cs typeface="Helvetica Neue"/>
              </a:defRPr>
            </a:pPr>
            <a:r>
              <a:rPr sz="1350" b="0" i="0">
                <a:solidFill>
                  <a:srgbClr val="000000"/>
                </a:solidFill>
                <a:latin typeface="Helvetica Neue"/>
                <a:ea typeface="Helvetica Neue"/>
                <a:cs typeface="Helvetica Neue"/>
              </a:rPr>
              <a:t>Agency organization</a:t>
            </a:r>
          </a:p>
        </p:txBody>
      </p:sp>
      <p:sp>
        <p:nvSpPr>
          <p:cNvPr id="8" name="downArrow-197">
            <a:extLst xmlns:a="http://schemas.openxmlformats.org/drawingml/2006/main">
              <a:ext uri="{FF2B5EF4-FFF2-40B4-BE49-F238E27FC236}">
                <a16:creationId xmlns:a16="http://schemas.microsoft.com/office/drawing/2014/main" id="{49147F8B-D600-424C-92C7-D3587DDFA09A}"/>
              </a:ext>
            </a:extLst>
          </p:cNvPr>
          <p:cNvSpPr>
            <a:spLocks xmlns:a="http://schemas.openxmlformats.org/drawingml/2006/main" noGrp="1"/>
          </p:cNvSpPr>
          <p:nvPr/>
        </p:nvSpPr>
        <p:spPr>
          <a:xfrm xmlns:a="http://schemas.openxmlformats.org/drawingml/2006/main">
            <a:off x="2724150" y="3505200"/>
            <a:ext cx="133350" cy="171450"/>
          </a:xfrm>
          <a:prstGeom xmlns:a="http://schemas.openxmlformats.org/drawingml/2006/main" prst="downArrow">
            <a:avLst/>
          </a:prstGeom>
          <a:solidFill xmlns:a="http://schemas.openxmlformats.org/drawingml/2006/main">
            <a:srgbClr val="3D8DFF"/>
          </a:solidFill>
          <a:ln xmlns:a="http://schemas.openxmlformats.org/drawingml/2006/main" w="0">
            <a:solidFill>
              <a:srgbClr val="3D8DFF"/>
            </a:solidFill>
            <a:prstDash val="solid"/>
          </a:ln>
        </p:spPr>
      </p:sp>
      <p:sp>
        <p:nvSpPr>
          <p:cNvPr id="9" name="roundRect-198">
            <a:extLst xmlns:a="http://schemas.openxmlformats.org/drawingml/2006/main">
              <a:ext uri="{FF2B5EF4-FFF2-40B4-BE49-F238E27FC236}">
                <a16:creationId xmlns:a16="http://schemas.microsoft.com/office/drawing/2014/main" id="{28856EF1-20DF-4B2E-B2FD-6F13EB97E74B}"/>
              </a:ext>
            </a:extLst>
          </p:cNvPr>
          <p:cNvSpPr>
            <a:spLocks xmlns:a="http://schemas.openxmlformats.org/drawingml/2006/main" noGrp="1"/>
          </p:cNvSpPr>
          <p:nvPr/>
        </p:nvSpPr>
        <p:spPr>
          <a:xfrm xmlns:a="http://schemas.openxmlformats.org/drawingml/2006/main">
            <a:off x="914400" y="2990850"/>
            <a:ext cx="3752850" cy="457200"/>
          </a:xfrm>
          <a:prstGeom xmlns:a="http://schemas.openxmlformats.org/drawingml/2006/main" prst="roundRect">
            <a:avLst>
              <a:gd name="adj" fmla="val 20833"/>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ctr">
            <a:normAutofit fontScale="74733"/>
          </a:bodyPr>
          <a:lstStyle xmlns:a="http://schemas.openxmlformats.org/drawingml/2006/main"/>
          <a:p xmlns:a="http://schemas.openxmlformats.org/drawingml/2006/main">
            <a:pPr algn="l">
              <a:defRPr sz="1350" b="0" i="0">
                <a:solidFill>
                  <a:srgbClr val="000000"/>
                </a:solidFill>
                <a:latin typeface="Helvetica Neue"/>
                <a:ea typeface="Helvetica Neue"/>
                <a:cs typeface="Helvetica Neue"/>
              </a:defRPr>
            </a:pPr>
            <a:r>
              <a:rPr sz="1350" b="0" i="0">
                <a:solidFill>
                  <a:srgbClr val="000000"/>
                </a:solidFill>
                <a:latin typeface="Helvetica Neue"/>
                <a:ea typeface="Helvetica Neue"/>
                <a:cs typeface="Helvetica Neue"/>
              </a:rPr>
              <a:t>Company</a:t>
            </a:r>
          </a:p>
        </p:txBody>
      </p:sp>
      <p:sp>
        <p:nvSpPr>
          <p:cNvPr id="10" name="downArrow-199">
            <a:extLst xmlns:a="http://schemas.openxmlformats.org/drawingml/2006/main">
              <a:ext uri="{FF2B5EF4-FFF2-40B4-BE49-F238E27FC236}">
                <a16:creationId xmlns:a16="http://schemas.microsoft.com/office/drawing/2014/main" id="{F509A359-6B08-4B3E-BA89-E9281C1E9F54}"/>
              </a:ext>
            </a:extLst>
          </p:cNvPr>
          <p:cNvSpPr>
            <a:spLocks xmlns:a="http://schemas.openxmlformats.org/drawingml/2006/main" noGrp="1"/>
          </p:cNvSpPr>
          <p:nvPr/>
        </p:nvSpPr>
        <p:spPr>
          <a:xfrm xmlns:a="http://schemas.openxmlformats.org/drawingml/2006/main">
            <a:off x="2724150" y="4114800"/>
            <a:ext cx="133350" cy="171450"/>
          </a:xfrm>
          <a:prstGeom xmlns:a="http://schemas.openxmlformats.org/drawingml/2006/main" prst="downArrow">
            <a:avLst/>
          </a:prstGeom>
          <a:solidFill xmlns:a="http://schemas.openxmlformats.org/drawingml/2006/main">
            <a:srgbClr val="3D8DFF"/>
          </a:solidFill>
          <a:ln xmlns:a="http://schemas.openxmlformats.org/drawingml/2006/main" w="0">
            <a:solidFill>
              <a:srgbClr val="3D8DFF"/>
            </a:solidFill>
            <a:prstDash val="solid"/>
          </a:ln>
        </p:spPr>
      </p:sp>
      <p:sp>
        <p:nvSpPr>
          <p:cNvPr id="11" name="roundRect-200">
            <a:extLst xmlns:a="http://schemas.openxmlformats.org/drawingml/2006/main">
              <a:ext uri="{FF2B5EF4-FFF2-40B4-BE49-F238E27FC236}">
                <a16:creationId xmlns:a16="http://schemas.microsoft.com/office/drawing/2014/main" id="{BF85A808-0E61-4138-AFDC-948438588531}"/>
              </a:ext>
            </a:extLst>
          </p:cNvPr>
          <p:cNvSpPr>
            <a:spLocks xmlns:a="http://schemas.openxmlformats.org/drawingml/2006/main" noGrp="1"/>
          </p:cNvSpPr>
          <p:nvPr/>
        </p:nvSpPr>
        <p:spPr>
          <a:xfrm xmlns:a="http://schemas.openxmlformats.org/drawingml/2006/main">
            <a:off x="914400" y="3600450"/>
            <a:ext cx="3752850" cy="457200"/>
          </a:xfrm>
          <a:prstGeom xmlns:a="http://schemas.openxmlformats.org/drawingml/2006/main" prst="roundRect">
            <a:avLst>
              <a:gd name="adj" fmla="val 20833"/>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ctr">
            <a:normAutofit fontScale="74733"/>
          </a:bodyPr>
          <a:lstStyle xmlns:a="http://schemas.openxmlformats.org/drawingml/2006/main"/>
          <a:p xmlns:a="http://schemas.openxmlformats.org/drawingml/2006/main">
            <a:pPr algn="l">
              <a:defRPr sz="1350" b="0" i="0">
                <a:solidFill>
                  <a:srgbClr val="000000"/>
                </a:solidFill>
                <a:latin typeface="Helvetica Neue"/>
                <a:ea typeface="Helvetica Neue"/>
                <a:cs typeface="Helvetica Neue"/>
              </a:defRPr>
            </a:pPr>
            <a:r>
              <a:rPr sz="1350" b="0" i="0">
                <a:solidFill>
                  <a:srgbClr val="000000"/>
                </a:solidFill>
                <a:latin typeface="Helvetica Neue"/>
                <a:ea typeface="Helvetica Neue"/>
                <a:cs typeface="Helvetica Neue"/>
              </a:rPr>
              <a:t>Website</a:t>
            </a:r>
          </a:p>
        </p:txBody>
      </p:sp>
      <p:sp>
        <p:nvSpPr>
          <p:cNvPr id="12" name="downArrow-201">
            <a:extLst xmlns:a="http://schemas.openxmlformats.org/drawingml/2006/main">
              <a:ext uri="{FF2B5EF4-FFF2-40B4-BE49-F238E27FC236}">
                <a16:creationId xmlns:a16="http://schemas.microsoft.com/office/drawing/2014/main" id="{515C4951-7EC6-48EB-B0CB-1AF4C596A034}"/>
              </a:ext>
            </a:extLst>
          </p:cNvPr>
          <p:cNvSpPr>
            <a:spLocks xmlns:a="http://schemas.openxmlformats.org/drawingml/2006/main" noGrp="1"/>
          </p:cNvSpPr>
          <p:nvPr/>
        </p:nvSpPr>
        <p:spPr>
          <a:xfrm xmlns:a="http://schemas.openxmlformats.org/drawingml/2006/main">
            <a:off x="2724150" y="4724400"/>
            <a:ext cx="133350" cy="171450"/>
          </a:xfrm>
          <a:prstGeom xmlns:a="http://schemas.openxmlformats.org/drawingml/2006/main" prst="downArrow">
            <a:avLst/>
          </a:prstGeom>
          <a:solidFill xmlns:a="http://schemas.openxmlformats.org/drawingml/2006/main">
            <a:srgbClr val="3D8DFF"/>
          </a:solidFill>
          <a:ln xmlns:a="http://schemas.openxmlformats.org/drawingml/2006/main" w="0">
            <a:solidFill>
              <a:srgbClr val="3D8DFF"/>
            </a:solidFill>
            <a:prstDash val="solid"/>
          </a:ln>
        </p:spPr>
      </p:sp>
      <p:sp>
        <p:nvSpPr>
          <p:cNvPr id="13" name="roundRect-202">
            <a:extLst xmlns:a="http://schemas.openxmlformats.org/drawingml/2006/main">
              <a:ext uri="{FF2B5EF4-FFF2-40B4-BE49-F238E27FC236}">
                <a16:creationId xmlns:a16="http://schemas.microsoft.com/office/drawing/2014/main" id="{5CF32C77-1A24-48FC-8CF9-42A34AEA8998}"/>
              </a:ext>
            </a:extLst>
          </p:cNvPr>
          <p:cNvSpPr>
            <a:spLocks xmlns:a="http://schemas.openxmlformats.org/drawingml/2006/main" noGrp="1"/>
          </p:cNvSpPr>
          <p:nvPr/>
        </p:nvSpPr>
        <p:spPr>
          <a:xfrm xmlns:a="http://schemas.openxmlformats.org/drawingml/2006/main">
            <a:off x="914400" y="4210050"/>
            <a:ext cx="3752850" cy="457200"/>
          </a:xfrm>
          <a:prstGeom xmlns:a="http://schemas.openxmlformats.org/drawingml/2006/main" prst="roundRect">
            <a:avLst>
              <a:gd name="adj" fmla="val 20833"/>
            </a:avLst>
          </a:prstGeom>
          <a:solidFill xmlns:a="http://schemas.openxmlformats.org/drawingml/2006/main">
            <a:srgbClr val="EDF8FD"/>
          </a:solidFill>
          <a:ln xmlns:a="http://schemas.openxmlformats.org/drawingml/2006/main" w="19050">
            <a:solidFill>
              <a:srgbClr val="3D8DFF"/>
            </a:solidFill>
            <a:prstDash val="solid"/>
          </a:ln>
        </p:spPr>
        <p:txBody>
          <a:bodyPr xmlns:a="http://schemas.openxmlformats.org/drawingml/2006/main" wrap="square" lIns="152400" tIns="133350" rIns="152400" bIns="114300" anchor="ctr">
            <a:normAutofit fontScale="74733"/>
          </a:bodyPr>
          <a:lstStyle xmlns:a="http://schemas.openxmlformats.org/drawingml/2006/main"/>
          <a:p xmlns:a="http://schemas.openxmlformats.org/drawingml/2006/main">
            <a:pPr algn="l">
              <a:defRPr sz="1350" b="1" i="0">
                <a:solidFill>
                  <a:srgbClr val="000000"/>
                </a:solidFill>
                <a:latin typeface="Helvetica Neue"/>
                <a:ea typeface="Helvetica Neue"/>
                <a:cs typeface="Helvetica Neue"/>
              </a:defRPr>
            </a:pPr>
            <a:r>
              <a:rPr sz="1350" b="1" i="0">
                <a:solidFill>
                  <a:srgbClr val="000000"/>
                </a:solidFill>
                <a:latin typeface="Helvetica Neue"/>
                <a:ea typeface="Helvetica Neue"/>
                <a:cs typeface="Helvetica Neue"/>
              </a:rPr>
              <a:t>Website analytics assignment</a:t>
            </a:r>
          </a:p>
        </p:txBody>
      </p:sp>
      <p:sp>
        <p:nvSpPr>
          <p:cNvPr id="14" name="roundRect-203">
            <a:extLst xmlns:a="http://schemas.openxmlformats.org/drawingml/2006/main">
              <a:ext uri="{FF2B5EF4-FFF2-40B4-BE49-F238E27FC236}">
                <a16:creationId xmlns:a16="http://schemas.microsoft.com/office/drawing/2014/main" id="{473881A9-1156-4551-87E4-A3FF5AC537A5}"/>
              </a:ext>
            </a:extLst>
          </p:cNvPr>
          <p:cNvSpPr>
            <a:spLocks xmlns:a="http://schemas.openxmlformats.org/drawingml/2006/main" noGrp="1"/>
          </p:cNvSpPr>
          <p:nvPr/>
        </p:nvSpPr>
        <p:spPr>
          <a:xfrm xmlns:a="http://schemas.openxmlformats.org/drawingml/2006/main">
            <a:off x="914400" y="4819650"/>
            <a:ext cx="3752850" cy="457200"/>
          </a:xfrm>
          <a:prstGeom xmlns:a="http://schemas.openxmlformats.org/drawingml/2006/main" prst="roundRect">
            <a:avLst>
              <a:gd name="adj" fmla="val 20833"/>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ctr">
            <a:normAutofit fontScale="74733"/>
          </a:bodyPr>
          <a:lstStyle xmlns:a="http://schemas.openxmlformats.org/drawingml/2006/main"/>
          <a:p xmlns:a="http://schemas.openxmlformats.org/drawingml/2006/main">
            <a:pPr algn="l">
              <a:defRPr sz="1350" b="0" i="0">
                <a:solidFill>
                  <a:srgbClr val="000000"/>
                </a:solidFill>
                <a:latin typeface="Helvetica Neue"/>
                <a:ea typeface="Helvetica Neue"/>
                <a:cs typeface="Helvetica Neue"/>
              </a:defRPr>
            </a:pPr>
            <a:r>
              <a:rPr sz="1350" b="0" i="0">
                <a:solidFill>
                  <a:srgbClr val="000000"/>
                </a:solidFill>
                <a:latin typeface="Helvetica Neue"/>
                <a:ea typeface="Helvetica Neue"/>
                <a:cs typeface="Helvetica Neue"/>
              </a:rPr>
              <a:t>GA4 property + optional stream / scope</a:t>
            </a:r>
          </a:p>
        </p:txBody>
      </p:sp>
      <p:sp>
        <p:nvSpPr>
          <p:cNvPr id="15" name="textbox-204">
            <a:extLst xmlns:a="http://schemas.openxmlformats.org/drawingml/2006/main">
              <a:ext uri="{FF2B5EF4-FFF2-40B4-BE49-F238E27FC236}">
                <a16:creationId xmlns:a16="http://schemas.microsoft.com/office/drawing/2014/main" id="{2DB756D0-9C82-4D80-A537-5ACC574EF294}"/>
              </a:ext>
            </a:extLst>
          </p:cNvPr>
          <p:cNvSpPr>
            <a:spLocks xmlns:a="http://schemas.openxmlformats.org/drawingml/2006/main" noGrp="1"/>
          </p:cNvSpPr>
          <p:nvPr/>
        </p:nvSpPr>
        <p:spPr>
          <a:xfrm xmlns:a="http://schemas.openxmlformats.org/drawingml/2006/main">
            <a:off x="914400" y="546735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656B73"/>
                </a:solidFill>
                <a:latin typeface="Helvetica Neue"/>
                <a:ea typeface="Helvetica Neue"/>
                <a:cs typeface="Helvetica Neue"/>
              </a:defRPr>
            </a:pPr>
            <a:r>
              <a:rPr sz="1125" b="0" i="0">
                <a:solidFill>
                  <a:srgbClr val="656B73"/>
                </a:solidFill>
                <a:latin typeface="Helvetica Neue"/>
                <a:ea typeface="Helvetica Neue"/>
                <a:cs typeface="Helvetica Neue"/>
              </a:rPr>
              <a:t>assignment_id is the stable reference for facts and jobs.</a:t>
            </a:r>
          </a:p>
        </p:txBody>
      </p:sp>
      <p:sp>
        <p:nvSpPr>
          <p:cNvPr id="16" name="textbox-205">
            <a:extLst xmlns:a="http://schemas.openxmlformats.org/drawingml/2006/main">
              <a:ext uri="{FF2B5EF4-FFF2-40B4-BE49-F238E27FC236}">
                <a16:creationId xmlns:a16="http://schemas.microsoft.com/office/drawing/2014/main" id="{C3037C32-0BF8-4BCA-AE4F-9B0B8D891B15}"/>
              </a:ext>
            </a:extLst>
          </p:cNvPr>
          <p:cNvSpPr>
            <a:spLocks xmlns:a="http://schemas.openxmlformats.org/drawingml/2006/main" noGrp="1"/>
          </p:cNvSpPr>
          <p:nvPr/>
        </p:nvSpPr>
        <p:spPr>
          <a:xfrm xmlns:a="http://schemas.openxmlformats.org/drawingml/2006/main">
            <a:off x="6191250" y="1943100"/>
            <a:ext cx="457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000000"/>
                </a:solidFill>
                <a:latin typeface="Helvetica Neue"/>
                <a:ea typeface="Helvetica Neue"/>
                <a:cs typeface="Helvetica Neue"/>
              </a:defRPr>
            </a:pPr>
            <a:r>
              <a:rPr sz="1800" b="1" i="0">
                <a:solidFill>
                  <a:srgbClr val="000000"/>
                </a:solidFill>
                <a:latin typeface="Helvetica Neue"/>
                <a:ea typeface="Helvetica Neue"/>
                <a:cs typeface="Helvetica Neue"/>
              </a:rPr>
              <a:t>What the boundary enables</a:t>
            </a:r>
          </a:p>
        </p:txBody>
      </p:sp>
      <p:sp>
        <p:nvSpPr>
          <p:cNvPr id="17" name="line-206">
            <a:extLst xmlns:a="http://schemas.openxmlformats.org/drawingml/2006/main">
              <a:ext uri="{FF2B5EF4-FFF2-40B4-BE49-F238E27FC236}">
                <a16:creationId xmlns:a16="http://schemas.microsoft.com/office/drawing/2014/main" id="{C1C6E8D3-DFC4-4722-9583-6719A56F16C6}"/>
              </a:ext>
            </a:extLst>
          </p:cNvPr>
          <p:cNvSpPr>
            <a:spLocks xmlns:a="http://schemas.openxmlformats.org/drawingml/2006/main" noGrp="1"/>
          </p:cNvSpPr>
          <p:nvPr/>
        </p:nvSpPr>
        <p:spPr>
          <a:xfrm xmlns:a="http://schemas.openxmlformats.org/drawingml/2006/main">
            <a:off x="6191250" y="2914650"/>
            <a:ext cx="50482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8" name="textbox-207">
            <a:extLst xmlns:a="http://schemas.openxmlformats.org/drawingml/2006/main">
              <a:ext uri="{FF2B5EF4-FFF2-40B4-BE49-F238E27FC236}">
                <a16:creationId xmlns:a16="http://schemas.microsoft.com/office/drawing/2014/main" id="{6B15E985-C642-4D85-92CC-67A23933268A}"/>
              </a:ext>
            </a:extLst>
          </p:cNvPr>
          <p:cNvSpPr>
            <a:spLocks xmlns:a="http://schemas.openxmlformats.org/drawingml/2006/main" noGrp="1"/>
          </p:cNvSpPr>
          <p:nvPr/>
        </p:nvSpPr>
        <p:spPr>
          <a:xfrm xmlns:a="http://schemas.openxmlformats.org/drawingml/2006/main">
            <a:off x="6191250" y="25146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01</a:t>
            </a:r>
          </a:p>
        </p:txBody>
      </p:sp>
      <p:sp>
        <p:nvSpPr>
          <p:cNvPr id="19" name="textbox-208">
            <a:extLst xmlns:a="http://schemas.openxmlformats.org/drawingml/2006/main">
              <a:ext uri="{FF2B5EF4-FFF2-40B4-BE49-F238E27FC236}">
                <a16:creationId xmlns:a16="http://schemas.microsoft.com/office/drawing/2014/main" id="{9F7139ED-DB0A-41DB-AB35-F1952592F0F6}"/>
              </a:ext>
            </a:extLst>
          </p:cNvPr>
          <p:cNvSpPr>
            <a:spLocks xmlns:a="http://schemas.openxmlformats.org/drawingml/2006/main" noGrp="1"/>
          </p:cNvSpPr>
          <p:nvPr/>
        </p:nvSpPr>
        <p:spPr>
          <a:xfrm xmlns:a="http://schemas.openxmlformats.org/drawingml/2006/main">
            <a:off x="6667500" y="247650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000000"/>
                </a:solidFill>
                <a:latin typeface="Helvetica Neue"/>
                <a:ea typeface="Helvetica Neue"/>
                <a:cs typeface="Helvetica Neue"/>
              </a:defRPr>
            </a:pPr>
            <a:r>
              <a:rPr sz="1350" b="0" i="0">
                <a:solidFill>
                  <a:srgbClr val="000000"/>
                </a:solidFill>
                <a:latin typeface="Helvetica Neue"/>
                <a:ea typeface="Helvetica Neue"/>
                <a:cs typeface="Helvetica Neue"/>
              </a:rPr>
              <a:t>Effective dates retain property and scope history.</a:t>
            </a:r>
          </a:p>
        </p:txBody>
      </p:sp>
      <p:sp>
        <p:nvSpPr>
          <p:cNvPr id="20" name="line-209">
            <a:extLst xmlns:a="http://schemas.openxmlformats.org/drawingml/2006/main">
              <a:ext uri="{FF2B5EF4-FFF2-40B4-BE49-F238E27FC236}">
                <a16:creationId xmlns:a16="http://schemas.microsoft.com/office/drawing/2014/main" id="{73DFF7C0-FE03-4C13-B9AF-9AE70888FBEA}"/>
              </a:ext>
            </a:extLst>
          </p:cNvPr>
          <p:cNvSpPr>
            <a:spLocks xmlns:a="http://schemas.openxmlformats.org/drawingml/2006/main" noGrp="1"/>
          </p:cNvSpPr>
          <p:nvPr/>
        </p:nvSpPr>
        <p:spPr>
          <a:xfrm xmlns:a="http://schemas.openxmlformats.org/drawingml/2006/main">
            <a:off x="6191250" y="3562350"/>
            <a:ext cx="50482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21" name="textbox-210">
            <a:extLst xmlns:a="http://schemas.openxmlformats.org/drawingml/2006/main">
              <a:ext uri="{FF2B5EF4-FFF2-40B4-BE49-F238E27FC236}">
                <a16:creationId xmlns:a16="http://schemas.microsoft.com/office/drawing/2014/main" id="{0B9A7771-018E-4488-A176-76847EC4610B}"/>
              </a:ext>
            </a:extLst>
          </p:cNvPr>
          <p:cNvSpPr>
            <a:spLocks xmlns:a="http://schemas.openxmlformats.org/drawingml/2006/main" noGrp="1"/>
          </p:cNvSpPr>
          <p:nvPr/>
        </p:nvSpPr>
        <p:spPr>
          <a:xfrm xmlns:a="http://schemas.openxmlformats.org/drawingml/2006/main">
            <a:off x="6191250" y="31623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02</a:t>
            </a:r>
          </a:p>
        </p:txBody>
      </p:sp>
      <p:sp>
        <p:nvSpPr>
          <p:cNvPr id="22" name="textbox-211">
            <a:extLst xmlns:a="http://schemas.openxmlformats.org/drawingml/2006/main">
              <a:ext uri="{FF2B5EF4-FFF2-40B4-BE49-F238E27FC236}">
                <a16:creationId xmlns:a16="http://schemas.microsoft.com/office/drawing/2014/main" id="{4D7B3DE5-9450-400D-86E4-7E493047FAF6}"/>
              </a:ext>
            </a:extLst>
          </p:cNvPr>
          <p:cNvSpPr>
            <a:spLocks xmlns:a="http://schemas.openxmlformats.org/drawingml/2006/main" noGrp="1"/>
          </p:cNvSpPr>
          <p:nvPr/>
        </p:nvSpPr>
        <p:spPr>
          <a:xfrm xmlns:a="http://schemas.openxmlformats.org/drawingml/2006/main">
            <a:off x="6667500" y="312420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000000"/>
                </a:solidFill>
                <a:latin typeface="Helvetica Neue"/>
                <a:ea typeface="Helvetica Neue"/>
                <a:cs typeface="Helvetica Neue"/>
              </a:defRPr>
            </a:pPr>
            <a:r>
              <a:rPr sz="1350" b="0" i="0">
                <a:solidFill>
                  <a:srgbClr val="000000"/>
                </a:solidFill>
                <a:latin typeface="Helvetica Neue"/>
                <a:ea typeface="Helvetica Neue"/>
                <a:cs typeface="Helvetica Neue"/>
              </a:rPr>
              <a:t>A credential may access many properties; it never implies ownership.</a:t>
            </a:r>
          </a:p>
        </p:txBody>
      </p:sp>
      <p:sp>
        <p:nvSpPr>
          <p:cNvPr id="23" name="line-212">
            <a:extLst xmlns:a="http://schemas.openxmlformats.org/drawingml/2006/main">
              <a:ext uri="{FF2B5EF4-FFF2-40B4-BE49-F238E27FC236}">
                <a16:creationId xmlns:a16="http://schemas.microsoft.com/office/drawing/2014/main" id="{5D58E652-15C0-4D18-9309-B4D6308647AA}"/>
              </a:ext>
            </a:extLst>
          </p:cNvPr>
          <p:cNvSpPr>
            <a:spLocks xmlns:a="http://schemas.openxmlformats.org/drawingml/2006/main" noGrp="1"/>
          </p:cNvSpPr>
          <p:nvPr/>
        </p:nvSpPr>
        <p:spPr>
          <a:xfrm xmlns:a="http://schemas.openxmlformats.org/drawingml/2006/main">
            <a:off x="6191250" y="4210050"/>
            <a:ext cx="50482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24" name="textbox-213">
            <a:extLst xmlns:a="http://schemas.openxmlformats.org/drawingml/2006/main">
              <a:ext uri="{FF2B5EF4-FFF2-40B4-BE49-F238E27FC236}">
                <a16:creationId xmlns:a16="http://schemas.microsoft.com/office/drawing/2014/main" id="{D694D8B6-FA2B-4D08-9225-60BBBCD03B94}"/>
              </a:ext>
            </a:extLst>
          </p:cNvPr>
          <p:cNvSpPr>
            <a:spLocks xmlns:a="http://schemas.openxmlformats.org/drawingml/2006/main" noGrp="1"/>
          </p:cNvSpPr>
          <p:nvPr/>
        </p:nvSpPr>
        <p:spPr>
          <a:xfrm xmlns:a="http://schemas.openxmlformats.org/drawingml/2006/main">
            <a:off x="6191250" y="38100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03</a:t>
            </a:r>
          </a:p>
        </p:txBody>
      </p:sp>
      <p:sp>
        <p:nvSpPr>
          <p:cNvPr id="25" name="textbox-214">
            <a:extLst xmlns:a="http://schemas.openxmlformats.org/drawingml/2006/main">
              <a:ext uri="{FF2B5EF4-FFF2-40B4-BE49-F238E27FC236}">
                <a16:creationId xmlns:a16="http://schemas.microsoft.com/office/drawing/2014/main" id="{9EA90200-F875-41CD-B772-95F287FCC4AB}"/>
              </a:ext>
            </a:extLst>
          </p:cNvPr>
          <p:cNvSpPr>
            <a:spLocks xmlns:a="http://schemas.openxmlformats.org/drawingml/2006/main" noGrp="1"/>
          </p:cNvSpPr>
          <p:nvPr/>
        </p:nvSpPr>
        <p:spPr>
          <a:xfrm xmlns:a="http://schemas.openxmlformats.org/drawingml/2006/main">
            <a:off x="6667500" y="377190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000000"/>
                </a:solidFill>
                <a:latin typeface="Helvetica Neue"/>
                <a:ea typeface="Helvetica Neue"/>
                <a:cs typeface="Helvetica Neue"/>
              </a:defRPr>
            </a:pPr>
            <a:r>
              <a:rPr sz="1350" b="0" i="0">
                <a:solidFill>
                  <a:srgbClr val="000000"/>
                </a:solidFill>
                <a:latin typeface="Helvetica Neue"/>
                <a:ea typeface="Helvetica Neue"/>
                <a:cs typeface="Helvetica Neue"/>
              </a:rPr>
              <a:t>Browser-supplied property IDs are never trusted without server authorization.</a:t>
            </a:r>
          </a:p>
        </p:txBody>
      </p:sp>
      <p:sp>
        <p:nvSpPr>
          <p:cNvPr id="26" name="line-215">
            <a:extLst xmlns:a="http://schemas.openxmlformats.org/drawingml/2006/main">
              <a:ext uri="{FF2B5EF4-FFF2-40B4-BE49-F238E27FC236}">
                <a16:creationId xmlns:a16="http://schemas.microsoft.com/office/drawing/2014/main" id="{1DBE866A-28BC-4C64-8118-78DCC64B9742}"/>
              </a:ext>
            </a:extLst>
          </p:cNvPr>
          <p:cNvSpPr>
            <a:spLocks xmlns:a="http://schemas.openxmlformats.org/drawingml/2006/main" noGrp="1"/>
          </p:cNvSpPr>
          <p:nvPr/>
        </p:nvSpPr>
        <p:spPr>
          <a:xfrm xmlns:a="http://schemas.openxmlformats.org/drawingml/2006/main">
            <a:off x="6191250" y="4857750"/>
            <a:ext cx="50482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27" name="textbox-216">
            <a:extLst xmlns:a="http://schemas.openxmlformats.org/drawingml/2006/main">
              <a:ext uri="{FF2B5EF4-FFF2-40B4-BE49-F238E27FC236}">
                <a16:creationId xmlns:a16="http://schemas.microsoft.com/office/drawing/2014/main" id="{34F239FC-BC1A-4D14-9BC8-FAB1F9727B51}"/>
              </a:ext>
            </a:extLst>
          </p:cNvPr>
          <p:cNvSpPr>
            <a:spLocks xmlns:a="http://schemas.openxmlformats.org/drawingml/2006/main" noGrp="1"/>
          </p:cNvSpPr>
          <p:nvPr/>
        </p:nvSpPr>
        <p:spPr>
          <a:xfrm xmlns:a="http://schemas.openxmlformats.org/drawingml/2006/main">
            <a:off x="6191250" y="44577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04</a:t>
            </a:r>
          </a:p>
        </p:txBody>
      </p:sp>
      <p:sp>
        <p:nvSpPr>
          <p:cNvPr id="28" name="textbox-217">
            <a:extLst xmlns:a="http://schemas.openxmlformats.org/drawingml/2006/main">
              <a:ext uri="{FF2B5EF4-FFF2-40B4-BE49-F238E27FC236}">
                <a16:creationId xmlns:a16="http://schemas.microsoft.com/office/drawing/2014/main" id="{4445D6AE-1D15-4A6E-820B-C22D1720EEC7}"/>
              </a:ext>
            </a:extLst>
          </p:cNvPr>
          <p:cNvSpPr>
            <a:spLocks xmlns:a="http://schemas.openxmlformats.org/drawingml/2006/main" noGrp="1"/>
          </p:cNvSpPr>
          <p:nvPr/>
        </p:nvSpPr>
        <p:spPr>
          <a:xfrm xmlns:a="http://schemas.openxmlformats.org/drawingml/2006/main">
            <a:off x="6667500" y="441960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000000"/>
                </a:solidFill>
                <a:latin typeface="Helvetica Neue"/>
                <a:ea typeface="Helvetica Neue"/>
                <a:cs typeface="Helvetica Neue"/>
              </a:defRPr>
            </a:pPr>
            <a:r>
              <a:rPr sz="1350" b="0" i="0">
                <a:solidFill>
                  <a:srgbClr val="000000"/>
                </a:solidFill>
                <a:latin typeface="Helvetica Neue"/>
                <a:ea typeface="Helvetica Neue"/>
                <a:cs typeface="Helvetica Neue"/>
              </a:rPr>
              <a:t>The same tenant model supports the agency console now and the client portal later.</a:t>
            </a:r>
          </a:p>
        </p:txBody>
      </p:sp>
      <p:sp>
        <p:nvSpPr>
          <p:cNvPr id="29" name="roundRect-218">
            <a:extLst xmlns:a="http://schemas.openxmlformats.org/drawingml/2006/main">
              <a:ext uri="{FF2B5EF4-FFF2-40B4-BE49-F238E27FC236}">
                <a16:creationId xmlns:a16="http://schemas.microsoft.com/office/drawing/2014/main" id="{711B3501-6398-471F-8BD8-13A9E54CC6D5}"/>
              </a:ext>
            </a:extLst>
          </p:cNvPr>
          <p:cNvSpPr>
            <a:spLocks xmlns:a="http://schemas.openxmlformats.org/drawingml/2006/main" noGrp="1"/>
          </p:cNvSpPr>
          <p:nvPr/>
        </p:nvSpPr>
        <p:spPr>
          <a:xfrm xmlns:a="http://schemas.openxmlformats.org/drawingml/2006/main">
            <a:off x="6191250" y="5257800"/>
            <a:ext cx="5048250" cy="685800"/>
          </a:xfrm>
          <a:prstGeom xmlns:a="http://schemas.openxmlformats.org/drawingml/2006/main" prst="roundRect">
            <a:avLst>
              <a:gd name="adj" fmla="val 13889"/>
            </a:avLst>
          </a:prstGeom>
          <a:solidFill xmlns:a="http://schemas.openxmlformats.org/drawingml/2006/main">
            <a:srgbClr val="000000"/>
          </a:solidFill>
          <a:ln xmlns:a="http://schemas.openxmlformats.org/drawingml/2006/main" w="0">
            <a:solidFill>
              <a:srgbClr val="000000"/>
            </a:solidFill>
            <a:prstDash val="solid"/>
          </a:ln>
        </p:spPr>
        <p:txBody>
          <a:bodyPr xmlns:a="http://schemas.openxmlformats.org/drawingml/2006/main" wrap="square" lIns="152400" tIns="133350" rIns="152400" bIns="114300" anchor="ctr">
            <a:normAutofit fontScale="98388"/>
          </a:bodyPr>
          <a:lstStyle xmlns:a="http://schemas.openxmlformats.org/drawingml/2006/main"/>
          <a:p xmlns:a="http://schemas.openxmlformats.org/drawingml/2006/main">
            <a:pPr algn="l">
              <a:defRPr sz="1275" b="1" i="0">
                <a:solidFill>
                  <a:srgbClr val="FFFFFF"/>
                </a:solidFill>
                <a:latin typeface="Helvetica Neue"/>
                <a:ea typeface="Helvetica Neue"/>
                <a:cs typeface="Helvetica Neue"/>
              </a:defRPr>
            </a:pPr>
            <a:r>
              <a:rPr sz="1275" b="1" i="0">
                <a:solidFill>
                  <a:srgbClr val="FFFFFF"/>
                </a:solidFill>
                <a:latin typeface="Helvetica Neue"/>
                <a:ea typeface="Helvetica Neue"/>
                <a:cs typeface="Helvetica Neue"/>
              </a:rPr>
              <a:t>Before the portal launches: HTTP authorization + tenant-aware services + Postgres row-level security.</a:t>
            </a:r>
          </a:p>
        </p:txBody>
      </p:sp>
    </p:spTree>
    <p:extLst>
      <p:ext uri="{BB962C8B-B14F-4D97-AF65-F5344CB8AC3E}">
        <p14:creationId xmlns:p14="http://schemas.microsoft.com/office/powerpoint/2010/main" val="174376630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textbox-219">
            <a:extLst xmlns:a="http://schemas.openxmlformats.org/drawingml/2006/main">
              <a:ext uri="{FF2B5EF4-FFF2-40B4-BE49-F238E27FC236}">
                <a16:creationId xmlns:a16="http://schemas.microsoft.com/office/drawing/2014/main" id="{EC16F48C-74BA-495B-8224-F1E2E7402BE8}"/>
              </a:ext>
            </a:extLst>
          </p:cNvPr>
          <p:cNvSpPr>
            <a:spLocks xmlns:a="http://schemas.openxmlformats.org/drawingml/2006/main" noGrp="1"/>
          </p:cNvSpPr>
          <p:nvPr/>
        </p:nvSpPr>
        <p:spPr>
          <a:xfrm xmlns:a="http://schemas.openxmlformats.org/drawingml/2006/main">
            <a:off x="393668" y="344043"/>
            <a:ext cx="11404568"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0" rIns="0" bIns="0" anchor="t">
            <a:normAutofit fontScale="100000"/>
          </a:bodyPr>
          <a:lstStyle xmlns:a="http://schemas.openxmlformats.org/drawingml/2006/main"/>
          <a:p xmlns:a="http://schemas.openxmlformats.org/drawingml/2006/main">
            <a:pPr algn="l">
              <a:defRPr sz="2850" b="0" i="0">
                <a:solidFill>
                  <a:srgbClr val="000000"/>
                </a:solidFill>
                <a:latin typeface="Helvetica Neue"/>
                <a:ea typeface="Helvetica Neue"/>
                <a:cs typeface="Helvetica Neue"/>
              </a:defRPr>
            </a:pPr>
            <a:r>
              <a:rPr sz="2850" b="0" i="0">
                <a:solidFill>
                  <a:srgbClr val="000000"/>
                </a:solidFill>
                <a:latin typeface="Helvetica Neue"/>
                <a:ea typeface="Helvetica Neue"/>
                <a:cs typeface="Helvetica Neue"/>
              </a:rPr>
              <a:t>Phase gates turn the architecture into a repeatable pilot</a:t>
            </a:r>
          </a:p>
        </p:txBody>
      </p:sp>
      <p:sp>
        <p:nvSpPr>
          <p:cNvPr id="2" name="line-220">
            <a:extLst xmlns:a="http://schemas.openxmlformats.org/drawingml/2006/main">
              <a:ext uri="{FF2B5EF4-FFF2-40B4-BE49-F238E27FC236}">
                <a16:creationId xmlns:a16="http://schemas.microsoft.com/office/drawing/2014/main" id="{2B9B1EF6-F4CA-4201-871F-E5361F0CED8A}"/>
              </a:ext>
            </a:extLst>
          </p:cNvPr>
          <p:cNvSpPr>
            <a:spLocks xmlns:a="http://schemas.openxmlformats.org/drawingml/2006/main" noGrp="1"/>
          </p:cNvSpPr>
          <p:nvPr/>
        </p:nvSpPr>
        <p:spPr>
          <a:xfrm xmlns:a="http://schemas.openxmlformats.org/drawingml/2006/main">
            <a:off x="393668" y="1181100"/>
            <a:ext cx="11404568"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3" name="textbox-221">
            <a:extLst xmlns:a="http://schemas.openxmlformats.org/drawingml/2006/main">
              <a:ext uri="{FF2B5EF4-FFF2-40B4-BE49-F238E27FC236}">
                <a16:creationId xmlns:a16="http://schemas.microsoft.com/office/drawing/2014/main" id="{436FEAA1-65A5-4499-9083-FFD322263772}"/>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Autofit/>
          </a:bodyPr>
          <a:lstStyle xmlns:a="http://schemas.openxmlformats.org/drawingml/2006/main"/>
          <a:p xmlns:a="http://schemas.openxmlformats.org/drawingml/2006/main">
            <a:pPr algn="r">
              <a:defRPr sz="975" b="0" i="0">
                <a:solidFill>
                  <a:srgbClr val="000000"/>
                </a:solidFill>
                <a:latin typeface="Helvetica Neue"/>
                <a:ea typeface="Helvetica Neue"/>
                <a:cs typeface="Helvetica Neue"/>
              </a:defRPr>
            </a:pPr>
            <a:r>
              <a:rPr sz="975" b="0" i="0">
                <a:solidFill>
                  <a:srgbClr val="000000"/>
                </a:solidFill>
                <a:latin typeface="Helvetica Neue"/>
                <a:ea typeface="Helvetica Neue"/>
                <a:cs typeface="Helvetica Neue"/>
              </a:rPr>
              <a:t>09</a:t>
            </a:r>
          </a:p>
        </p:txBody>
      </p:sp>
      <p:sp>
        <p:nvSpPr>
          <p:cNvPr id="4" name="textbox-222">
            <a:extLst xmlns:a="http://schemas.openxmlformats.org/drawingml/2006/main">
              <a:ext uri="{FF2B5EF4-FFF2-40B4-BE49-F238E27FC236}">
                <a16:creationId xmlns:a16="http://schemas.microsoft.com/office/drawing/2014/main" id="{9DFB53DD-C2C8-49D0-B4BE-B5EF162DD4E3}"/>
              </a:ext>
            </a:extLst>
          </p:cNvPr>
          <p:cNvSpPr>
            <a:spLocks xmlns:a="http://schemas.openxmlformats.org/drawingml/2006/main" noGrp="1"/>
          </p:cNvSpPr>
          <p:nvPr/>
        </p:nvSpPr>
        <p:spPr>
          <a:xfrm xmlns:a="http://schemas.openxmlformats.org/drawingml/2006/main">
            <a:off x="393668" y="133350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656B73"/>
                </a:solidFill>
                <a:latin typeface="Helvetica Neue"/>
                <a:ea typeface="Helvetica Neue"/>
                <a:cs typeface="Helvetica Neue"/>
              </a:defRPr>
            </a:pPr>
            <a:r>
              <a:rPr sz="1500" b="0" i="0">
                <a:solidFill>
                  <a:srgbClr val="656B73"/>
                </a:solidFill>
                <a:latin typeface="Helvetica Neue"/>
                <a:ea typeface="Helvetica Neue"/>
                <a:cs typeface="Helvetica Neue"/>
              </a:rPr>
              <a:t>Ship trust first; widen the product surface only after each gate passes.</a:t>
            </a:r>
          </a:p>
        </p:txBody>
      </p:sp>
      <p:sp>
        <p:nvSpPr>
          <p:cNvPr id="5" name="textbox-223">
            <a:extLst xmlns:a="http://schemas.openxmlformats.org/drawingml/2006/main">
              <a:ext uri="{FF2B5EF4-FFF2-40B4-BE49-F238E27FC236}">
                <a16:creationId xmlns:a16="http://schemas.microsoft.com/office/drawing/2014/main" id="{341D3791-20DB-4489-8F90-E2B55B2E3EFD}"/>
              </a:ext>
            </a:extLst>
          </p:cNvPr>
          <p:cNvSpPr>
            <a:spLocks xmlns:a="http://schemas.openxmlformats.org/drawingml/2006/main" noGrp="1"/>
          </p:cNvSpPr>
          <p:nvPr/>
        </p:nvSpPr>
        <p:spPr>
          <a:xfrm xmlns:a="http://schemas.openxmlformats.org/drawingml/2006/main">
            <a:off x="393668" y="18859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FOUNDATION</a:t>
            </a:r>
          </a:p>
        </p:txBody>
      </p:sp>
      <p:sp>
        <p:nvSpPr>
          <p:cNvPr id="6" name="roundRect-224">
            <a:extLst xmlns:a="http://schemas.openxmlformats.org/drawingml/2006/main">
              <a:ext uri="{FF2B5EF4-FFF2-40B4-BE49-F238E27FC236}">
                <a16:creationId xmlns:a16="http://schemas.microsoft.com/office/drawing/2014/main" id="{75250411-B471-4D23-9351-41E2A5EBFBE3}"/>
              </a:ext>
            </a:extLst>
          </p:cNvPr>
          <p:cNvSpPr>
            <a:spLocks xmlns:a="http://schemas.openxmlformats.org/drawingml/2006/main" noGrp="1"/>
          </p:cNvSpPr>
          <p:nvPr/>
        </p:nvSpPr>
        <p:spPr>
          <a:xfrm xmlns:a="http://schemas.openxmlformats.org/drawingml/2006/main">
            <a:off x="393668" y="2152650"/>
            <a:ext cx="3381375" cy="800100"/>
          </a:xfrm>
          <a:prstGeom xmlns:a="http://schemas.openxmlformats.org/drawingml/2006/main" prst="roundRect">
            <a:avLst>
              <a:gd name="adj" fmla="val 9524"/>
            </a:avLst>
          </a:prstGeom>
          <a:solidFill xmlns:a="http://schemas.openxmlformats.org/drawingml/2006/main">
            <a:srgbClr val="EDF8FD"/>
          </a:solidFill>
          <a:ln xmlns:a="http://schemas.openxmlformats.org/drawingml/2006/main" w="19050">
            <a:solidFill>
              <a:srgbClr val="3D8DFF"/>
            </a:solidFill>
            <a:prstDash val="solid"/>
          </a:ln>
        </p:spPr>
        <p:txBody>
          <a:bodyPr xmlns:a="http://schemas.openxmlformats.org/drawingml/2006/main" wrap="square" lIns="152400" tIns="133350" rIns="152400" bIns="114300" anchor="t">
            <a:noAutofit/>
          </a:bodyPr>
          <a:lstStyle xmlns:a="http://schemas.openxmlformats.org/drawingml/2006/main"/>
          <a:p xmlns:a="http://schemas.openxmlformats.org/drawingml/2006/main">
            <a:r>
              <a:t/>
            </a:r>
          </a:p>
        </p:txBody>
      </p:sp>
      <p:sp>
        <p:nvSpPr>
          <p:cNvPr id="7" name="textbox-225">
            <a:extLst xmlns:a="http://schemas.openxmlformats.org/drawingml/2006/main">
              <a:ext uri="{FF2B5EF4-FFF2-40B4-BE49-F238E27FC236}">
                <a16:creationId xmlns:a16="http://schemas.microsoft.com/office/drawing/2014/main" id="{1094C9ED-0A84-4963-8EB8-39184E8021CE}"/>
              </a:ext>
            </a:extLst>
          </p:cNvPr>
          <p:cNvSpPr>
            <a:spLocks xmlns:a="http://schemas.openxmlformats.org/drawingml/2006/main" noGrp="1"/>
          </p:cNvSpPr>
          <p:nvPr/>
        </p:nvSpPr>
        <p:spPr>
          <a:xfrm xmlns:a="http://schemas.openxmlformats.org/drawingml/2006/main">
            <a:off x="546068" y="2266950"/>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i="0">
                <a:solidFill>
                  <a:srgbClr val="3D8DFF"/>
                </a:solidFill>
                <a:latin typeface="Helvetica Neue"/>
                <a:ea typeface="Helvetica Neue"/>
                <a:cs typeface="Helvetica Neue"/>
              </a:defRPr>
            </a:pPr>
            <a:r>
              <a:rPr sz="1050" b="1" i="0">
                <a:solidFill>
                  <a:srgbClr val="3D8DFF"/>
                </a:solidFill>
                <a:latin typeface="Helvetica Neue"/>
                <a:ea typeface="Helvetica Neue"/>
                <a:cs typeface="Helvetica Neue"/>
              </a:rPr>
              <a:t>PHASE 0</a:t>
            </a:r>
          </a:p>
        </p:txBody>
      </p:sp>
      <p:sp>
        <p:nvSpPr>
          <p:cNvPr id="8" name="textbox-226">
            <a:extLst xmlns:a="http://schemas.openxmlformats.org/drawingml/2006/main">
              <a:ext uri="{FF2B5EF4-FFF2-40B4-BE49-F238E27FC236}">
                <a16:creationId xmlns:a16="http://schemas.microsoft.com/office/drawing/2014/main" id="{F94665D5-54EF-4C05-A308-4779BA896670}"/>
              </a:ext>
            </a:extLst>
          </p:cNvPr>
          <p:cNvSpPr>
            <a:spLocks xmlns:a="http://schemas.openxmlformats.org/drawingml/2006/main" noGrp="1"/>
          </p:cNvSpPr>
          <p:nvPr/>
        </p:nvSpPr>
        <p:spPr>
          <a:xfrm xmlns:a="http://schemas.openxmlformats.org/drawingml/2006/main">
            <a:off x="546068" y="2466975"/>
            <a:ext cx="30765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00000"/>
                </a:solidFill>
                <a:latin typeface="Helvetica Neue"/>
                <a:ea typeface="Helvetica Neue"/>
                <a:cs typeface="Helvetica Neue"/>
              </a:defRPr>
            </a:pPr>
            <a:r>
              <a:rPr sz="1500" b="1" i="0">
                <a:solidFill>
                  <a:srgbClr val="000000"/>
                </a:solidFill>
                <a:latin typeface="Helvetica Neue"/>
                <a:ea typeface="Helvetica Neue"/>
                <a:cs typeface="Helvetica Neue"/>
              </a:rPr>
              <a:t>Measurement + privacy spec</a:t>
            </a:r>
          </a:p>
        </p:txBody>
      </p:sp>
      <p:sp>
        <p:nvSpPr>
          <p:cNvPr id="9" name="textbox-227">
            <a:extLst xmlns:a="http://schemas.openxmlformats.org/drawingml/2006/main">
              <a:ext uri="{FF2B5EF4-FFF2-40B4-BE49-F238E27FC236}">
                <a16:creationId xmlns:a16="http://schemas.microsoft.com/office/drawing/2014/main" id="{E956D8FA-0ABE-4A2F-AB9F-CECC0476417B}"/>
              </a:ext>
            </a:extLst>
          </p:cNvPr>
          <p:cNvSpPr>
            <a:spLocks xmlns:a="http://schemas.openxmlformats.org/drawingml/2006/main" noGrp="1"/>
          </p:cNvSpPr>
          <p:nvPr/>
        </p:nvSpPr>
        <p:spPr>
          <a:xfrm xmlns:a="http://schemas.openxmlformats.org/drawingml/2006/main">
            <a:off x="546068" y="2714625"/>
            <a:ext cx="30765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656B73"/>
                </a:solidFill>
                <a:latin typeface="Helvetica Neue"/>
                <a:ea typeface="Helvetica Neue"/>
                <a:cs typeface="Helvetica Neue"/>
              </a:defRPr>
            </a:pPr>
            <a:r>
              <a:rPr sz="1050" b="0" i="0">
                <a:solidFill>
                  <a:srgbClr val="656B73"/>
                </a:solidFill>
                <a:latin typeface="Helvetica Neue"/>
                <a:ea typeface="Helvetica Neue"/>
                <a:cs typeface="Helvetica Neue"/>
              </a:rPr>
              <a:t>contract · eligibility manifest · validation</a:t>
            </a:r>
          </a:p>
        </p:txBody>
      </p:sp>
      <p:sp>
        <p:nvSpPr>
          <p:cNvPr id="10" name="roundRect-228">
            <a:extLst xmlns:a="http://schemas.openxmlformats.org/drawingml/2006/main">
              <a:ext uri="{FF2B5EF4-FFF2-40B4-BE49-F238E27FC236}">
                <a16:creationId xmlns:a16="http://schemas.microsoft.com/office/drawing/2014/main" id="{47620DEC-BB13-4074-8ADD-391399E16544}"/>
              </a:ext>
            </a:extLst>
          </p:cNvPr>
          <p:cNvSpPr>
            <a:spLocks xmlns:a="http://schemas.openxmlformats.org/drawingml/2006/main" noGrp="1"/>
          </p:cNvSpPr>
          <p:nvPr/>
        </p:nvSpPr>
        <p:spPr>
          <a:xfrm xmlns:a="http://schemas.openxmlformats.org/drawingml/2006/main">
            <a:off x="4057650" y="2152650"/>
            <a:ext cx="3381375" cy="800100"/>
          </a:xfrm>
          <a:prstGeom xmlns:a="http://schemas.openxmlformats.org/drawingml/2006/main" prst="roundRect">
            <a:avLst>
              <a:gd name="adj" fmla="val 9524"/>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t">
            <a:noAutofit/>
          </a:bodyPr>
          <a:lstStyle xmlns:a="http://schemas.openxmlformats.org/drawingml/2006/main"/>
          <a:p xmlns:a="http://schemas.openxmlformats.org/drawingml/2006/main">
            <a:r>
              <a:t/>
            </a:r>
          </a:p>
        </p:txBody>
      </p:sp>
      <p:sp>
        <p:nvSpPr>
          <p:cNvPr id="11" name="textbox-229">
            <a:extLst xmlns:a="http://schemas.openxmlformats.org/drawingml/2006/main">
              <a:ext uri="{FF2B5EF4-FFF2-40B4-BE49-F238E27FC236}">
                <a16:creationId xmlns:a16="http://schemas.microsoft.com/office/drawing/2014/main" id="{26A57154-5A08-414C-A523-355BFDE9635A}"/>
              </a:ext>
            </a:extLst>
          </p:cNvPr>
          <p:cNvSpPr>
            <a:spLocks xmlns:a="http://schemas.openxmlformats.org/drawingml/2006/main" noGrp="1"/>
          </p:cNvSpPr>
          <p:nvPr/>
        </p:nvSpPr>
        <p:spPr>
          <a:xfrm xmlns:a="http://schemas.openxmlformats.org/drawingml/2006/main">
            <a:off x="4210050" y="2266950"/>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i="0">
                <a:solidFill>
                  <a:srgbClr val="656B73"/>
                </a:solidFill>
                <a:latin typeface="Helvetica Neue"/>
                <a:ea typeface="Helvetica Neue"/>
                <a:cs typeface="Helvetica Neue"/>
              </a:defRPr>
            </a:pPr>
            <a:r>
              <a:rPr sz="1050" b="1" i="0">
                <a:solidFill>
                  <a:srgbClr val="656B73"/>
                </a:solidFill>
                <a:latin typeface="Helvetica Neue"/>
                <a:ea typeface="Helvetica Neue"/>
                <a:cs typeface="Helvetica Neue"/>
              </a:rPr>
              <a:t>PHASE 1</a:t>
            </a:r>
          </a:p>
        </p:txBody>
      </p:sp>
      <p:sp>
        <p:nvSpPr>
          <p:cNvPr id="12" name="textbox-230">
            <a:extLst xmlns:a="http://schemas.openxmlformats.org/drawingml/2006/main">
              <a:ext uri="{FF2B5EF4-FFF2-40B4-BE49-F238E27FC236}">
                <a16:creationId xmlns:a16="http://schemas.microsoft.com/office/drawing/2014/main" id="{0B080FCC-DD44-473E-8FC9-D9E252578BAC}"/>
              </a:ext>
            </a:extLst>
          </p:cNvPr>
          <p:cNvSpPr>
            <a:spLocks xmlns:a="http://schemas.openxmlformats.org/drawingml/2006/main" noGrp="1"/>
          </p:cNvSpPr>
          <p:nvPr/>
        </p:nvSpPr>
        <p:spPr>
          <a:xfrm xmlns:a="http://schemas.openxmlformats.org/drawingml/2006/main">
            <a:off x="4210050" y="2466975"/>
            <a:ext cx="30765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00000"/>
                </a:solidFill>
                <a:latin typeface="Helvetica Neue"/>
                <a:ea typeface="Helvetica Neue"/>
                <a:cs typeface="Helvetica Neue"/>
              </a:defRPr>
            </a:pPr>
            <a:r>
              <a:rPr sz="1500" b="1" i="0">
                <a:solidFill>
                  <a:srgbClr val="000000"/>
                </a:solidFill>
                <a:latin typeface="Helvetica Neue"/>
                <a:ea typeface="Helvetica Neue"/>
                <a:cs typeface="Helvetica Neue"/>
              </a:rPr>
              <a:t>Pilot measurement</a:t>
            </a:r>
          </a:p>
        </p:txBody>
      </p:sp>
      <p:sp>
        <p:nvSpPr>
          <p:cNvPr id="13" name="textbox-231">
            <a:extLst xmlns:a="http://schemas.openxmlformats.org/drawingml/2006/main">
              <a:ext uri="{FF2B5EF4-FFF2-40B4-BE49-F238E27FC236}">
                <a16:creationId xmlns:a16="http://schemas.microsoft.com/office/drawing/2014/main" id="{460FD0E3-A8D6-400D-ACEE-26BF587EBE7C}"/>
              </a:ext>
            </a:extLst>
          </p:cNvPr>
          <p:cNvSpPr>
            <a:spLocks xmlns:a="http://schemas.openxmlformats.org/drawingml/2006/main" noGrp="1"/>
          </p:cNvSpPr>
          <p:nvPr/>
        </p:nvSpPr>
        <p:spPr>
          <a:xfrm xmlns:a="http://schemas.openxmlformats.org/drawingml/2006/main">
            <a:off x="4210050" y="2714625"/>
            <a:ext cx="30765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656B73"/>
                </a:solidFill>
                <a:latin typeface="Helvetica Neue"/>
                <a:ea typeface="Helvetica Neue"/>
                <a:cs typeface="Helvetica Neue"/>
              </a:defRPr>
            </a:pPr>
            <a:r>
              <a:rPr sz="1050" b="0" i="0">
                <a:solidFill>
                  <a:srgbClr val="656B73"/>
                </a:solidFill>
                <a:latin typeface="Helvetica Neue"/>
                <a:ea typeface="Helvetica Neue"/>
                <a:cs typeface="Helvetica Neue"/>
              </a:rPr>
              <a:t>adapter · consent · payload proof</a:t>
            </a:r>
          </a:p>
        </p:txBody>
      </p:sp>
      <p:sp>
        <p:nvSpPr>
          <p:cNvPr id="14" name="roundRect-232">
            <a:extLst xmlns:a="http://schemas.openxmlformats.org/drawingml/2006/main">
              <a:ext uri="{FF2B5EF4-FFF2-40B4-BE49-F238E27FC236}">
                <a16:creationId xmlns:a16="http://schemas.microsoft.com/office/drawing/2014/main" id="{B6D06D98-D225-4584-B004-CBE8DC736D9E}"/>
              </a:ext>
            </a:extLst>
          </p:cNvPr>
          <p:cNvSpPr>
            <a:spLocks xmlns:a="http://schemas.openxmlformats.org/drawingml/2006/main" noGrp="1"/>
          </p:cNvSpPr>
          <p:nvPr/>
        </p:nvSpPr>
        <p:spPr>
          <a:xfrm xmlns:a="http://schemas.openxmlformats.org/drawingml/2006/main">
            <a:off x="7721632" y="2152650"/>
            <a:ext cx="3692557" cy="800100"/>
          </a:xfrm>
          <a:prstGeom xmlns:a="http://schemas.openxmlformats.org/drawingml/2006/main" prst="roundRect">
            <a:avLst>
              <a:gd name="adj" fmla="val 9524"/>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t">
            <a:noAutofit/>
          </a:bodyPr>
          <a:lstStyle xmlns:a="http://schemas.openxmlformats.org/drawingml/2006/main"/>
          <a:p xmlns:a="http://schemas.openxmlformats.org/drawingml/2006/main">
            <a:r>
              <a:t/>
            </a:r>
          </a:p>
        </p:txBody>
      </p:sp>
      <p:sp>
        <p:nvSpPr>
          <p:cNvPr id="15" name="textbox-233">
            <a:extLst xmlns:a="http://schemas.openxmlformats.org/drawingml/2006/main">
              <a:ext uri="{FF2B5EF4-FFF2-40B4-BE49-F238E27FC236}">
                <a16:creationId xmlns:a16="http://schemas.microsoft.com/office/drawing/2014/main" id="{7B3B7166-0573-4FAA-84F5-4330F9013FF3}"/>
              </a:ext>
            </a:extLst>
          </p:cNvPr>
          <p:cNvSpPr>
            <a:spLocks xmlns:a="http://schemas.openxmlformats.org/drawingml/2006/main" noGrp="1"/>
          </p:cNvSpPr>
          <p:nvPr/>
        </p:nvSpPr>
        <p:spPr>
          <a:xfrm xmlns:a="http://schemas.openxmlformats.org/drawingml/2006/main">
            <a:off x="7874032" y="2266950"/>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i="0">
                <a:solidFill>
                  <a:srgbClr val="656B73"/>
                </a:solidFill>
                <a:latin typeface="Helvetica Neue"/>
                <a:ea typeface="Helvetica Neue"/>
                <a:cs typeface="Helvetica Neue"/>
              </a:defRPr>
            </a:pPr>
            <a:r>
              <a:rPr sz="1050" b="1" i="0">
                <a:solidFill>
                  <a:srgbClr val="656B73"/>
                </a:solidFill>
                <a:latin typeface="Helvetica Neue"/>
                <a:ea typeface="Helvetica Neue"/>
                <a:cs typeface="Helvetica Neue"/>
              </a:rPr>
              <a:t>PHASE 2</a:t>
            </a:r>
          </a:p>
        </p:txBody>
      </p:sp>
      <p:sp>
        <p:nvSpPr>
          <p:cNvPr id="16" name="textbox-234">
            <a:extLst xmlns:a="http://schemas.openxmlformats.org/drawingml/2006/main">
              <a:ext uri="{FF2B5EF4-FFF2-40B4-BE49-F238E27FC236}">
                <a16:creationId xmlns:a16="http://schemas.microsoft.com/office/drawing/2014/main" id="{BA8BADB5-F046-44EE-9093-44C08E48C3F8}"/>
              </a:ext>
            </a:extLst>
          </p:cNvPr>
          <p:cNvSpPr>
            <a:spLocks xmlns:a="http://schemas.openxmlformats.org/drawingml/2006/main" noGrp="1"/>
          </p:cNvSpPr>
          <p:nvPr/>
        </p:nvSpPr>
        <p:spPr>
          <a:xfrm xmlns:a="http://schemas.openxmlformats.org/drawingml/2006/main">
            <a:off x="7874032" y="2466975"/>
            <a:ext cx="3387757"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00000"/>
                </a:solidFill>
                <a:latin typeface="Helvetica Neue"/>
                <a:ea typeface="Helvetica Neue"/>
                <a:cs typeface="Helvetica Neue"/>
              </a:defRPr>
            </a:pPr>
            <a:r>
              <a:rPr sz="1500" b="1" i="0">
                <a:solidFill>
                  <a:srgbClr val="000000"/>
                </a:solidFill>
                <a:latin typeface="Helvetica Neue"/>
                <a:ea typeface="Helvetica Neue"/>
                <a:cs typeface="Helvetica Neue"/>
              </a:rPr>
              <a:t>Backend foundation</a:t>
            </a:r>
          </a:p>
        </p:txBody>
      </p:sp>
      <p:sp>
        <p:nvSpPr>
          <p:cNvPr id="17" name="textbox-235">
            <a:extLst xmlns:a="http://schemas.openxmlformats.org/drawingml/2006/main">
              <a:ext uri="{FF2B5EF4-FFF2-40B4-BE49-F238E27FC236}">
                <a16:creationId xmlns:a16="http://schemas.microsoft.com/office/drawing/2014/main" id="{930F5AEF-E1D7-4042-88EA-D7DB0517CE05}"/>
              </a:ext>
            </a:extLst>
          </p:cNvPr>
          <p:cNvSpPr>
            <a:spLocks xmlns:a="http://schemas.openxmlformats.org/drawingml/2006/main" noGrp="1"/>
          </p:cNvSpPr>
          <p:nvPr/>
        </p:nvSpPr>
        <p:spPr>
          <a:xfrm xmlns:a="http://schemas.openxmlformats.org/drawingml/2006/main">
            <a:off x="7874032" y="2714625"/>
            <a:ext cx="3387757"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656B73"/>
                </a:solidFill>
                <a:latin typeface="Helvetica Neue"/>
                <a:ea typeface="Helvetica Neue"/>
                <a:cs typeface="Helvetica Neue"/>
              </a:defRPr>
            </a:pPr>
            <a:r>
              <a:rPr sz="1050" b="0" i="0">
                <a:solidFill>
                  <a:srgbClr val="656B73"/>
                </a:solidFill>
                <a:latin typeface="Helvetica Neue"/>
                <a:ea typeface="Helvetica Neue"/>
                <a:cs typeface="Helvetica Neue"/>
              </a:rPr>
              <a:t>assignments · Postgres · sync · provenance</a:t>
            </a:r>
          </a:p>
        </p:txBody>
      </p:sp>
      <p:sp>
        <p:nvSpPr>
          <p:cNvPr id="18" name="textbox-236">
            <a:extLst xmlns:a="http://schemas.openxmlformats.org/drawingml/2006/main">
              <a:ext uri="{FF2B5EF4-FFF2-40B4-BE49-F238E27FC236}">
                <a16:creationId xmlns:a16="http://schemas.microsoft.com/office/drawing/2014/main" id="{E3E61473-EC89-48EA-9AD9-60A0DD4043C5}"/>
              </a:ext>
            </a:extLst>
          </p:cNvPr>
          <p:cNvSpPr>
            <a:spLocks xmlns:a="http://schemas.openxmlformats.org/drawingml/2006/main" noGrp="1"/>
          </p:cNvSpPr>
          <p:nvPr/>
        </p:nvSpPr>
        <p:spPr>
          <a:xfrm xmlns:a="http://schemas.openxmlformats.org/drawingml/2006/main">
            <a:off x="393668" y="32004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PRODUCT</a:t>
            </a:r>
          </a:p>
        </p:txBody>
      </p:sp>
      <p:sp>
        <p:nvSpPr>
          <p:cNvPr id="19" name="roundRect-237">
            <a:extLst xmlns:a="http://schemas.openxmlformats.org/drawingml/2006/main">
              <a:ext uri="{FF2B5EF4-FFF2-40B4-BE49-F238E27FC236}">
                <a16:creationId xmlns:a16="http://schemas.microsoft.com/office/drawing/2014/main" id="{C0C63810-16E6-43AE-94D2-A19DB57B412A}"/>
              </a:ext>
            </a:extLst>
          </p:cNvPr>
          <p:cNvSpPr>
            <a:spLocks xmlns:a="http://schemas.openxmlformats.org/drawingml/2006/main" noGrp="1"/>
          </p:cNvSpPr>
          <p:nvPr/>
        </p:nvSpPr>
        <p:spPr>
          <a:xfrm xmlns:a="http://schemas.openxmlformats.org/drawingml/2006/main">
            <a:off x="393668" y="3467100"/>
            <a:ext cx="3381375" cy="800100"/>
          </a:xfrm>
          <a:prstGeom xmlns:a="http://schemas.openxmlformats.org/drawingml/2006/main" prst="roundRect">
            <a:avLst>
              <a:gd name="adj" fmla="val 9524"/>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t">
            <a:noAutofit/>
          </a:bodyPr>
          <a:lstStyle xmlns:a="http://schemas.openxmlformats.org/drawingml/2006/main"/>
          <a:p xmlns:a="http://schemas.openxmlformats.org/drawingml/2006/main">
            <a:r>
              <a:t/>
            </a:r>
          </a:p>
        </p:txBody>
      </p:sp>
      <p:sp>
        <p:nvSpPr>
          <p:cNvPr id="20" name="textbox-238">
            <a:extLst xmlns:a="http://schemas.openxmlformats.org/drawingml/2006/main">
              <a:ext uri="{FF2B5EF4-FFF2-40B4-BE49-F238E27FC236}">
                <a16:creationId xmlns:a16="http://schemas.microsoft.com/office/drawing/2014/main" id="{4E3D44EB-F92A-427F-8C60-FECB3D1841C7}"/>
              </a:ext>
            </a:extLst>
          </p:cNvPr>
          <p:cNvSpPr>
            <a:spLocks xmlns:a="http://schemas.openxmlformats.org/drawingml/2006/main" noGrp="1"/>
          </p:cNvSpPr>
          <p:nvPr/>
        </p:nvSpPr>
        <p:spPr>
          <a:xfrm xmlns:a="http://schemas.openxmlformats.org/drawingml/2006/main">
            <a:off x="546068" y="3581400"/>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i="0">
                <a:solidFill>
                  <a:srgbClr val="656B73"/>
                </a:solidFill>
                <a:latin typeface="Helvetica Neue"/>
                <a:ea typeface="Helvetica Neue"/>
                <a:cs typeface="Helvetica Neue"/>
              </a:defRPr>
            </a:pPr>
            <a:r>
              <a:rPr sz="1050" b="1" i="0">
                <a:solidFill>
                  <a:srgbClr val="656B73"/>
                </a:solidFill>
                <a:latin typeface="Helvetica Neue"/>
                <a:ea typeface="Helvetica Neue"/>
                <a:cs typeface="Helvetica Neue"/>
              </a:rPr>
              <a:t>PHASE 3</a:t>
            </a:r>
          </a:p>
        </p:txBody>
      </p:sp>
      <p:sp>
        <p:nvSpPr>
          <p:cNvPr id="21" name="textbox-239">
            <a:extLst xmlns:a="http://schemas.openxmlformats.org/drawingml/2006/main">
              <a:ext uri="{FF2B5EF4-FFF2-40B4-BE49-F238E27FC236}">
                <a16:creationId xmlns:a16="http://schemas.microsoft.com/office/drawing/2014/main" id="{1A46D424-5782-4EFD-B81A-0B5204404524}"/>
              </a:ext>
            </a:extLst>
          </p:cNvPr>
          <p:cNvSpPr>
            <a:spLocks xmlns:a="http://schemas.openxmlformats.org/drawingml/2006/main" noGrp="1"/>
          </p:cNvSpPr>
          <p:nvPr/>
        </p:nvSpPr>
        <p:spPr>
          <a:xfrm xmlns:a="http://schemas.openxmlformats.org/drawingml/2006/main">
            <a:off x="546068" y="3781425"/>
            <a:ext cx="30765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00000"/>
                </a:solidFill>
                <a:latin typeface="Helvetica Neue"/>
                <a:ea typeface="Helvetica Neue"/>
                <a:cs typeface="Helvetica Neue"/>
              </a:defRPr>
            </a:pPr>
            <a:r>
              <a:rPr sz="1500" b="1" i="0">
                <a:solidFill>
                  <a:srgbClr val="000000"/>
                </a:solidFill>
                <a:latin typeface="Helvetica Neue"/>
                <a:ea typeface="Helvetica Neue"/>
                <a:cs typeface="Helvetica Neue"/>
              </a:rPr>
              <a:t>Single-client dashboard</a:t>
            </a:r>
          </a:p>
        </p:txBody>
      </p:sp>
      <p:sp>
        <p:nvSpPr>
          <p:cNvPr id="22" name="textbox-240">
            <a:extLst xmlns:a="http://schemas.openxmlformats.org/drawingml/2006/main">
              <a:ext uri="{FF2B5EF4-FFF2-40B4-BE49-F238E27FC236}">
                <a16:creationId xmlns:a16="http://schemas.microsoft.com/office/drawing/2014/main" id="{F10C45FA-3C01-476F-9755-797DE97DD508}"/>
              </a:ext>
            </a:extLst>
          </p:cNvPr>
          <p:cNvSpPr>
            <a:spLocks xmlns:a="http://schemas.openxmlformats.org/drawingml/2006/main" noGrp="1"/>
          </p:cNvSpPr>
          <p:nvPr/>
        </p:nvSpPr>
        <p:spPr>
          <a:xfrm xmlns:a="http://schemas.openxmlformats.org/drawingml/2006/main">
            <a:off x="546068" y="4029075"/>
            <a:ext cx="30765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656B73"/>
                </a:solidFill>
                <a:latin typeface="Helvetica Neue"/>
                <a:ea typeface="Helvetica Neue"/>
                <a:cs typeface="Helvetica Neue"/>
              </a:defRPr>
            </a:pPr>
            <a:r>
              <a:rPr sz="1050" b="0" i="0">
                <a:solidFill>
                  <a:srgbClr val="656B73"/>
                </a:solidFill>
                <a:latin typeface="Helvetica Neue"/>
                <a:ea typeface="Helvetica Neue"/>
                <a:cs typeface="Helvetica Neue"/>
              </a:rPr>
              <a:t>outcomes · acquisition · freshness</a:t>
            </a:r>
          </a:p>
        </p:txBody>
      </p:sp>
      <p:sp>
        <p:nvSpPr>
          <p:cNvPr id="23" name="roundRect-241">
            <a:extLst xmlns:a="http://schemas.openxmlformats.org/drawingml/2006/main">
              <a:ext uri="{FF2B5EF4-FFF2-40B4-BE49-F238E27FC236}">
                <a16:creationId xmlns:a16="http://schemas.microsoft.com/office/drawing/2014/main" id="{3F60166A-3ABD-4B0E-8425-C59A2AC658CD}"/>
              </a:ext>
            </a:extLst>
          </p:cNvPr>
          <p:cNvSpPr>
            <a:spLocks xmlns:a="http://schemas.openxmlformats.org/drawingml/2006/main" noGrp="1"/>
          </p:cNvSpPr>
          <p:nvPr/>
        </p:nvSpPr>
        <p:spPr>
          <a:xfrm xmlns:a="http://schemas.openxmlformats.org/drawingml/2006/main">
            <a:off x="4057650" y="3467100"/>
            <a:ext cx="3381375" cy="800100"/>
          </a:xfrm>
          <a:prstGeom xmlns:a="http://schemas.openxmlformats.org/drawingml/2006/main" prst="roundRect">
            <a:avLst>
              <a:gd name="adj" fmla="val 9524"/>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t">
            <a:noAutofit/>
          </a:bodyPr>
          <a:lstStyle xmlns:a="http://schemas.openxmlformats.org/drawingml/2006/main"/>
          <a:p xmlns:a="http://schemas.openxmlformats.org/drawingml/2006/main">
            <a:r>
              <a:t/>
            </a:r>
          </a:p>
        </p:txBody>
      </p:sp>
      <p:sp>
        <p:nvSpPr>
          <p:cNvPr id="24" name="textbox-242">
            <a:extLst xmlns:a="http://schemas.openxmlformats.org/drawingml/2006/main">
              <a:ext uri="{FF2B5EF4-FFF2-40B4-BE49-F238E27FC236}">
                <a16:creationId xmlns:a16="http://schemas.microsoft.com/office/drawing/2014/main" id="{24CCA3A3-17AA-44B9-85C8-B156904B7BB1}"/>
              </a:ext>
            </a:extLst>
          </p:cNvPr>
          <p:cNvSpPr>
            <a:spLocks xmlns:a="http://schemas.openxmlformats.org/drawingml/2006/main" noGrp="1"/>
          </p:cNvSpPr>
          <p:nvPr/>
        </p:nvSpPr>
        <p:spPr>
          <a:xfrm xmlns:a="http://schemas.openxmlformats.org/drawingml/2006/main">
            <a:off x="4210050" y="3581400"/>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i="0">
                <a:solidFill>
                  <a:srgbClr val="656B73"/>
                </a:solidFill>
                <a:latin typeface="Helvetica Neue"/>
                <a:ea typeface="Helvetica Neue"/>
                <a:cs typeface="Helvetica Neue"/>
              </a:defRPr>
            </a:pPr>
            <a:r>
              <a:rPr sz="1050" b="1" i="0">
                <a:solidFill>
                  <a:srgbClr val="656B73"/>
                </a:solidFill>
                <a:latin typeface="Helvetica Neue"/>
                <a:ea typeface="Helvetica Neue"/>
                <a:cs typeface="Helvetica Neue"/>
              </a:rPr>
              <a:t>PHASE 4</a:t>
            </a:r>
          </a:p>
        </p:txBody>
      </p:sp>
      <p:sp>
        <p:nvSpPr>
          <p:cNvPr id="25" name="textbox-243">
            <a:extLst xmlns:a="http://schemas.openxmlformats.org/drawingml/2006/main">
              <a:ext uri="{FF2B5EF4-FFF2-40B4-BE49-F238E27FC236}">
                <a16:creationId xmlns:a16="http://schemas.microsoft.com/office/drawing/2014/main" id="{6E0D4E9D-97CE-402C-96C7-AA78FEBA8C3D}"/>
              </a:ext>
            </a:extLst>
          </p:cNvPr>
          <p:cNvSpPr>
            <a:spLocks xmlns:a="http://schemas.openxmlformats.org/drawingml/2006/main" noGrp="1"/>
          </p:cNvSpPr>
          <p:nvPr/>
        </p:nvSpPr>
        <p:spPr>
          <a:xfrm xmlns:a="http://schemas.openxmlformats.org/drawingml/2006/main">
            <a:off x="4210050" y="3781425"/>
            <a:ext cx="30765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00000"/>
                </a:solidFill>
                <a:latin typeface="Helvetica Neue"/>
                <a:ea typeface="Helvetica Neue"/>
                <a:cs typeface="Helvetica Neue"/>
              </a:defRPr>
            </a:pPr>
            <a:r>
              <a:rPr sz="1500" b="1" i="0">
                <a:solidFill>
                  <a:srgbClr val="000000"/>
                </a:solidFill>
                <a:latin typeface="Helvetica Neue"/>
                <a:ea typeface="Helvetica Neue"/>
                <a:cs typeface="Helvetica Neue"/>
              </a:rPr>
              <a:t>Agency portfolio console</a:t>
            </a:r>
          </a:p>
        </p:txBody>
      </p:sp>
      <p:sp>
        <p:nvSpPr>
          <p:cNvPr id="26" name="textbox-244">
            <a:extLst xmlns:a="http://schemas.openxmlformats.org/drawingml/2006/main">
              <a:ext uri="{FF2B5EF4-FFF2-40B4-BE49-F238E27FC236}">
                <a16:creationId xmlns:a16="http://schemas.microsoft.com/office/drawing/2014/main" id="{34877119-82D3-49FE-A781-339E6534A5D2}"/>
              </a:ext>
            </a:extLst>
          </p:cNvPr>
          <p:cNvSpPr>
            <a:spLocks xmlns:a="http://schemas.openxmlformats.org/drawingml/2006/main" noGrp="1"/>
          </p:cNvSpPr>
          <p:nvPr/>
        </p:nvSpPr>
        <p:spPr>
          <a:xfrm xmlns:a="http://schemas.openxmlformats.org/drawingml/2006/main">
            <a:off x="4210050" y="4029075"/>
            <a:ext cx="30765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656B73"/>
                </a:solidFill>
                <a:latin typeface="Helvetica Neue"/>
                <a:ea typeface="Helvetica Neue"/>
                <a:cs typeface="Helvetica Neue"/>
              </a:defRPr>
            </a:pPr>
            <a:r>
              <a:rPr sz="1050" b="0" i="0">
                <a:solidFill>
                  <a:srgbClr val="656B73"/>
                </a:solidFill>
                <a:latin typeface="Helvetica Neue"/>
                <a:ea typeface="Helvetica Neue"/>
                <a:cs typeface="Helvetica Neue"/>
              </a:rPr>
              <a:t>health · alerts · approved comparisons</a:t>
            </a:r>
          </a:p>
        </p:txBody>
      </p:sp>
      <p:sp>
        <p:nvSpPr>
          <p:cNvPr id="27" name="roundRect-245">
            <a:extLst xmlns:a="http://schemas.openxmlformats.org/drawingml/2006/main">
              <a:ext uri="{FF2B5EF4-FFF2-40B4-BE49-F238E27FC236}">
                <a16:creationId xmlns:a16="http://schemas.microsoft.com/office/drawing/2014/main" id="{55558780-DCD5-42BF-8988-CB14B1D40BD0}"/>
              </a:ext>
            </a:extLst>
          </p:cNvPr>
          <p:cNvSpPr>
            <a:spLocks xmlns:a="http://schemas.openxmlformats.org/drawingml/2006/main" noGrp="1"/>
          </p:cNvSpPr>
          <p:nvPr/>
        </p:nvSpPr>
        <p:spPr>
          <a:xfrm xmlns:a="http://schemas.openxmlformats.org/drawingml/2006/main">
            <a:off x="7721632" y="3467100"/>
            <a:ext cx="3692557" cy="800100"/>
          </a:xfrm>
          <a:prstGeom xmlns:a="http://schemas.openxmlformats.org/drawingml/2006/main" prst="roundRect">
            <a:avLst>
              <a:gd name="adj" fmla="val 9524"/>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t">
            <a:noAutofit/>
          </a:bodyPr>
          <a:lstStyle xmlns:a="http://schemas.openxmlformats.org/drawingml/2006/main"/>
          <a:p xmlns:a="http://schemas.openxmlformats.org/drawingml/2006/main">
            <a:r>
              <a:t/>
            </a:r>
          </a:p>
        </p:txBody>
      </p:sp>
      <p:sp>
        <p:nvSpPr>
          <p:cNvPr id="28" name="textbox-246">
            <a:extLst xmlns:a="http://schemas.openxmlformats.org/drawingml/2006/main">
              <a:ext uri="{FF2B5EF4-FFF2-40B4-BE49-F238E27FC236}">
                <a16:creationId xmlns:a16="http://schemas.microsoft.com/office/drawing/2014/main" id="{1BA81FF6-815A-46F8-822A-77249F20CA59}"/>
              </a:ext>
            </a:extLst>
          </p:cNvPr>
          <p:cNvSpPr>
            <a:spLocks xmlns:a="http://schemas.openxmlformats.org/drawingml/2006/main" noGrp="1"/>
          </p:cNvSpPr>
          <p:nvPr/>
        </p:nvSpPr>
        <p:spPr>
          <a:xfrm xmlns:a="http://schemas.openxmlformats.org/drawingml/2006/main">
            <a:off x="7874032" y="3581400"/>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i="0">
                <a:solidFill>
                  <a:srgbClr val="656B73"/>
                </a:solidFill>
                <a:latin typeface="Helvetica Neue"/>
                <a:ea typeface="Helvetica Neue"/>
                <a:cs typeface="Helvetica Neue"/>
              </a:defRPr>
            </a:pPr>
            <a:r>
              <a:rPr sz="1050" b="1" i="0">
                <a:solidFill>
                  <a:srgbClr val="656B73"/>
                </a:solidFill>
                <a:latin typeface="Helvetica Neue"/>
                <a:ea typeface="Helvetica Neue"/>
                <a:cs typeface="Helvetica Neue"/>
              </a:rPr>
              <a:t>PHASE 5</a:t>
            </a:r>
          </a:p>
        </p:txBody>
      </p:sp>
      <p:sp>
        <p:nvSpPr>
          <p:cNvPr id="29" name="textbox-247">
            <a:extLst xmlns:a="http://schemas.openxmlformats.org/drawingml/2006/main">
              <a:ext uri="{FF2B5EF4-FFF2-40B4-BE49-F238E27FC236}">
                <a16:creationId xmlns:a16="http://schemas.microsoft.com/office/drawing/2014/main" id="{4ED2AC01-47EB-498D-8AD7-04237B578ADE}"/>
              </a:ext>
            </a:extLst>
          </p:cNvPr>
          <p:cNvSpPr>
            <a:spLocks xmlns:a="http://schemas.openxmlformats.org/drawingml/2006/main" noGrp="1"/>
          </p:cNvSpPr>
          <p:nvPr/>
        </p:nvSpPr>
        <p:spPr>
          <a:xfrm xmlns:a="http://schemas.openxmlformats.org/drawingml/2006/main">
            <a:off x="7874032" y="3781425"/>
            <a:ext cx="3387757"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00000"/>
                </a:solidFill>
                <a:latin typeface="Helvetica Neue"/>
                <a:ea typeface="Helvetica Neue"/>
                <a:cs typeface="Helvetica Neue"/>
              </a:defRPr>
            </a:pPr>
            <a:r>
              <a:rPr sz="1500" b="1" i="0">
                <a:solidFill>
                  <a:srgbClr val="000000"/>
                </a:solidFill>
                <a:latin typeface="Helvetica Neue"/>
                <a:ea typeface="Helvetica Neue"/>
                <a:cs typeface="Helvetica Neue"/>
              </a:rPr>
              <a:t>Client portal + reporting</a:t>
            </a:r>
          </a:p>
        </p:txBody>
      </p:sp>
      <p:sp>
        <p:nvSpPr>
          <p:cNvPr id="30" name="textbox-248">
            <a:extLst xmlns:a="http://schemas.openxmlformats.org/drawingml/2006/main">
              <a:ext uri="{FF2B5EF4-FFF2-40B4-BE49-F238E27FC236}">
                <a16:creationId xmlns:a16="http://schemas.microsoft.com/office/drawing/2014/main" id="{E74DDEB8-09C6-4EEA-BE6F-857219F2B9AD}"/>
              </a:ext>
            </a:extLst>
          </p:cNvPr>
          <p:cNvSpPr>
            <a:spLocks xmlns:a="http://schemas.openxmlformats.org/drawingml/2006/main" noGrp="1"/>
          </p:cNvSpPr>
          <p:nvPr/>
        </p:nvSpPr>
        <p:spPr>
          <a:xfrm xmlns:a="http://schemas.openxmlformats.org/drawingml/2006/main">
            <a:off x="7874032" y="4029075"/>
            <a:ext cx="3387757"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656B73"/>
                </a:solidFill>
                <a:latin typeface="Helvetica Neue"/>
                <a:ea typeface="Helvetica Neue"/>
                <a:cs typeface="Helvetica Neue"/>
              </a:defRPr>
            </a:pPr>
            <a:r>
              <a:rPr sz="1050" b="0" i="0">
                <a:solidFill>
                  <a:srgbClr val="656B73"/>
                </a:solidFill>
                <a:latin typeface="Helvetica Neue"/>
                <a:ea typeface="Helvetica Neue"/>
                <a:cs typeface="Helvetica Neue"/>
              </a:rPr>
              <a:t>roles · branded portal · OAuth</a:t>
            </a:r>
          </a:p>
        </p:txBody>
      </p:sp>
      <p:sp>
        <p:nvSpPr>
          <p:cNvPr id="31" name="textbox-249">
            <a:extLst xmlns:a="http://schemas.openxmlformats.org/drawingml/2006/main">
              <a:ext uri="{FF2B5EF4-FFF2-40B4-BE49-F238E27FC236}">
                <a16:creationId xmlns:a16="http://schemas.microsoft.com/office/drawing/2014/main" id="{754D7C56-D335-415B-9C6F-065EAE0FCB11}"/>
              </a:ext>
            </a:extLst>
          </p:cNvPr>
          <p:cNvSpPr>
            <a:spLocks xmlns:a="http://schemas.openxmlformats.org/drawingml/2006/main" noGrp="1"/>
          </p:cNvSpPr>
          <p:nvPr/>
        </p:nvSpPr>
        <p:spPr>
          <a:xfrm xmlns:a="http://schemas.openxmlformats.org/drawingml/2006/main">
            <a:off x="393668" y="45148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EXPANSION</a:t>
            </a:r>
          </a:p>
        </p:txBody>
      </p:sp>
      <p:sp>
        <p:nvSpPr>
          <p:cNvPr id="32" name="roundRect-250">
            <a:extLst xmlns:a="http://schemas.openxmlformats.org/drawingml/2006/main">
              <a:ext uri="{FF2B5EF4-FFF2-40B4-BE49-F238E27FC236}">
                <a16:creationId xmlns:a16="http://schemas.microsoft.com/office/drawing/2014/main" id="{5C042989-1C55-4EE3-9270-C1672E186486}"/>
              </a:ext>
            </a:extLst>
          </p:cNvPr>
          <p:cNvSpPr>
            <a:spLocks xmlns:a="http://schemas.openxmlformats.org/drawingml/2006/main" noGrp="1"/>
          </p:cNvSpPr>
          <p:nvPr/>
        </p:nvSpPr>
        <p:spPr>
          <a:xfrm xmlns:a="http://schemas.openxmlformats.org/drawingml/2006/main">
            <a:off x="393668" y="4781550"/>
            <a:ext cx="3381375" cy="800100"/>
          </a:xfrm>
          <a:prstGeom xmlns:a="http://schemas.openxmlformats.org/drawingml/2006/main" prst="roundRect">
            <a:avLst>
              <a:gd name="adj" fmla="val 9524"/>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t">
            <a:noAutofit/>
          </a:bodyPr>
          <a:lstStyle xmlns:a="http://schemas.openxmlformats.org/drawingml/2006/main"/>
          <a:p xmlns:a="http://schemas.openxmlformats.org/drawingml/2006/main">
            <a:r>
              <a:t/>
            </a:r>
          </a:p>
        </p:txBody>
      </p:sp>
      <p:sp>
        <p:nvSpPr>
          <p:cNvPr id="33" name="textbox-251">
            <a:extLst xmlns:a="http://schemas.openxmlformats.org/drawingml/2006/main">
              <a:ext uri="{FF2B5EF4-FFF2-40B4-BE49-F238E27FC236}">
                <a16:creationId xmlns:a16="http://schemas.microsoft.com/office/drawing/2014/main" id="{44DD0642-6600-4B9F-9E6A-E2170A77AE21}"/>
              </a:ext>
            </a:extLst>
          </p:cNvPr>
          <p:cNvSpPr>
            <a:spLocks xmlns:a="http://schemas.openxmlformats.org/drawingml/2006/main" noGrp="1"/>
          </p:cNvSpPr>
          <p:nvPr/>
        </p:nvSpPr>
        <p:spPr>
          <a:xfrm xmlns:a="http://schemas.openxmlformats.org/drawingml/2006/main">
            <a:off x="546068" y="4895850"/>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i="0">
                <a:solidFill>
                  <a:srgbClr val="656B73"/>
                </a:solidFill>
                <a:latin typeface="Helvetica Neue"/>
                <a:ea typeface="Helvetica Neue"/>
                <a:cs typeface="Helvetica Neue"/>
              </a:defRPr>
            </a:pPr>
            <a:r>
              <a:rPr sz="1050" b="1" i="0">
                <a:solidFill>
                  <a:srgbClr val="656B73"/>
                </a:solidFill>
                <a:latin typeface="Helvetica Neue"/>
                <a:ea typeface="Helvetica Neue"/>
                <a:cs typeface="Helvetica Neue"/>
              </a:rPr>
              <a:t>PHASE 6</a:t>
            </a:r>
          </a:p>
        </p:txBody>
      </p:sp>
      <p:sp>
        <p:nvSpPr>
          <p:cNvPr id="34" name="textbox-252">
            <a:extLst xmlns:a="http://schemas.openxmlformats.org/drawingml/2006/main">
              <a:ext uri="{FF2B5EF4-FFF2-40B4-BE49-F238E27FC236}">
                <a16:creationId xmlns:a16="http://schemas.microsoft.com/office/drawing/2014/main" id="{6AC9E11E-B5AB-4EB0-920F-3A73EF2FE37A}"/>
              </a:ext>
            </a:extLst>
          </p:cNvPr>
          <p:cNvSpPr>
            <a:spLocks xmlns:a="http://schemas.openxmlformats.org/drawingml/2006/main" noGrp="1"/>
          </p:cNvSpPr>
          <p:nvPr/>
        </p:nvSpPr>
        <p:spPr>
          <a:xfrm xmlns:a="http://schemas.openxmlformats.org/drawingml/2006/main">
            <a:off x="546068" y="5095875"/>
            <a:ext cx="30765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00000"/>
                </a:solidFill>
                <a:latin typeface="Helvetica Neue"/>
                <a:ea typeface="Helvetica Neue"/>
                <a:cs typeface="Helvetica Neue"/>
              </a:defRPr>
            </a:pPr>
            <a:r>
              <a:rPr sz="1500" b="1" i="0">
                <a:solidFill>
                  <a:srgbClr val="000000"/>
                </a:solidFill>
                <a:latin typeface="Helvetica Neue"/>
                <a:ea typeface="Helvetica Neue"/>
                <a:cs typeface="Helvetica Neue"/>
              </a:rPr>
              <a:t>Marketing integrations</a:t>
            </a:r>
          </a:p>
        </p:txBody>
      </p:sp>
      <p:sp>
        <p:nvSpPr>
          <p:cNvPr id="35" name="textbox-253">
            <a:extLst xmlns:a="http://schemas.openxmlformats.org/drawingml/2006/main">
              <a:ext uri="{FF2B5EF4-FFF2-40B4-BE49-F238E27FC236}">
                <a16:creationId xmlns:a16="http://schemas.microsoft.com/office/drawing/2014/main" id="{49FD2F83-C84F-45A8-8745-8DC473346652}"/>
              </a:ext>
            </a:extLst>
          </p:cNvPr>
          <p:cNvSpPr>
            <a:spLocks xmlns:a="http://schemas.openxmlformats.org/drawingml/2006/main" noGrp="1"/>
          </p:cNvSpPr>
          <p:nvPr/>
        </p:nvSpPr>
        <p:spPr>
          <a:xfrm xmlns:a="http://schemas.openxmlformats.org/drawingml/2006/main">
            <a:off x="546068" y="5343525"/>
            <a:ext cx="30765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656B73"/>
                </a:solidFill>
                <a:latin typeface="Helvetica Neue"/>
                <a:ea typeface="Helvetica Neue"/>
                <a:cs typeface="Helvetica Neue"/>
              </a:defRPr>
            </a:pPr>
            <a:r>
              <a:rPr sz="1050" b="0" i="0">
                <a:solidFill>
                  <a:srgbClr val="656B73"/>
                </a:solidFill>
                <a:latin typeface="Helvetica Neue"/>
                <a:ea typeface="Helvetica Neue"/>
                <a:cs typeface="Helvetica Neue"/>
              </a:rPr>
              <a:t>Ads · Search Console · call tracking</a:t>
            </a:r>
          </a:p>
        </p:txBody>
      </p:sp>
      <p:sp>
        <p:nvSpPr>
          <p:cNvPr id="36" name="roundRect-254">
            <a:extLst xmlns:a="http://schemas.openxmlformats.org/drawingml/2006/main">
              <a:ext uri="{FF2B5EF4-FFF2-40B4-BE49-F238E27FC236}">
                <a16:creationId xmlns:a16="http://schemas.microsoft.com/office/drawing/2014/main" id="{9A2DEC38-7145-4C15-9E9A-7DC608745AB9}"/>
              </a:ext>
            </a:extLst>
          </p:cNvPr>
          <p:cNvSpPr>
            <a:spLocks xmlns:a="http://schemas.openxmlformats.org/drawingml/2006/main" noGrp="1"/>
          </p:cNvSpPr>
          <p:nvPr/>
        </p:nvSpPr>
        <p:spPr>
          <a:xfrm xmlns:a="http://schemas.openxmlformats.org/drawingml/2006/main">
            <a:off x="4057650" y="4781550"/>
            <a:ext cx="3381375" cy="800100"/>
          </a:xfrm>
          <a:prstGeom xmlns:a="http://schemas.openxmlformats.org/drawingml/2006/main" prst="roundRect">
            <a:avLst>
              <a:gd name="adj" fmla="val 9524"/>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t">
            <a:noAutofit/>
          </a:bodyPr>
          <a:lstStyle xmlns:a="http://schemas.openxmlformats.org/drawingml/2006/main"/>
          <a:p xmlns:a="http://schemas.openxmlformats.org/drawingml/2006/main">
            <a:r>
              <a:t/>
            </a:r>
          </a:p>
        </p:txBody>
      </p:sp>
      <p:sp>
        <p:nvSpPr>
          <p:cNvPr id="37" name="textbox-255">
            <a:extLst xmlns:a="http://schemas.openxmlformats.org/drawingml/2006/main">
              <a:ext uri="{FF2B5EF4-FFF2-40B4-BE49-F238E27FC236}">
                <a16:creationId xmlns:a16="http://schemas.microsoft.com/office/drawing/2014/main" id="{0F7AE20B-6B24-4B35-9A17-AC4E64DD506F}"/>
              </a:ext>
            </a:extLst>
          </p:cNvPr>
          <p:cNvSpPr>
            <a:spLocks xmlns:a="http://schemas.openxmlformats.org/drawingml/2006/main" noGrp="1"/>
          </p:cNvSpPr>
          <p:nvPr/>
        </p:nvSpPr>
        <p:spPr>
          <a:xfrm xmlns:a="http://schemas.openxmlformats.org/drawingml/2006/main">
            <a:off x="4210050" y="4895850"/>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i="0">
                <a:solidFill>
                  <a:srgbClr val="656B73"/>
                </a:solidFill>
                <a:latin typeface="Helvetica Neue"/>
                <a:ea typeface="Helvetica Neue"/>
                <a:cs typeface="Helvetica Neue"/>
              </a:defRPr>
            </a:pPr>
            <a:r>
              <a:rPr sz="1050" b="1" i="0">
                <a:solidFill>
                  <a:srgbClr val="656B73"/>
                </a:solidFill>
                <a:latin typeface="Helvetica Neue"/>
                <a:ea typeface="Helvetica Neue"/>
                <a:cs typeface="Helvetica Neue"/>
              </a:rPr>
              <a:t>PHASE 7</a:t>
            </a:r>
          </a:p>
        </p:txBody>
      </p:sp>
      <p:sp>
        <p:nvSpPr>
          <p:cNvPr id="38" name="textbox-256">
            <a:extLst xmlns:a="http://schemas.openxmlformats.org/drawingml/2006/main">
              <a:ext uri="{FF2B5EF4-FFF2-40B4-BE49-F238E27FC236}">
                <a16:creationId xmlns:a16="http://schemas.microsoft.com/office/drawing/2014/main" id="{2FBB6A79-F97B-43BE-A1A8-1C4F411542ED}"/>
              </a:ext>
            </a:extLst>
          </p:cNvPr>
          <p:cNvSpPr>
            <a:spLocks xmlns:a="http://schemas.openxmlformats.org/drawingml/2006/main" noGrp="1"/>
          </p:cNvSpPr>
          <p:nvPr/>
        </p:nvSpPr>
        <p:spPr>
          <a:xfrm xmlns:a="http://schemas.openxmlformats.org/drawingml/2006/main">
            <a:off x="4210050" y="5095875"/>
            <a:ext cx="30765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00000"/>
                </a:solidFill>
                <a:latin typeface="Helvetica Neue"/>
                <a:ea typeface="Helvetica Neue"/>
                <a:cs typeface="Helvetica Neue"/>
              </a:defRPr>
            </a:pPr>
            <a:r>
              <a:rPr sz="1500" b="1" i="0">
                <a:solidFill>
                  <a:srgbClr val="000000"/>
                </a:solidFill>
                <a:latin typeface="Helvetica Neue"/>
                <a:ea typeface="Helvetica Neue"/>
                <a:cs typeface="Helvetica Neue"/>
              </a:rPr>
              <a:t>Revenue attribution</a:t>
            </a:r>
          </a:p>
        </p:txBody>
      </p:sp>
      <p:sp>
        <p:nvSpPr>
          <p:cNvPr id="39" name="textbox-257">
            <a:extLst xmlns:a="http://schemas.openxmlformats.org/drawingml/2006/main">
              <a:ext uri="{FF2B5EF4-FFF2-40B4-BE49-F238E27FC236}">
                <a16:creationId xmlns:a16="http://schemas.microsoft.com/office/drawing/2014/main" id="{CE5F3530-030E-4686-926B-904A2FB94894}"/>
              </a:ext>
            </a:extLst>
          </p:cNvPr>
          <p:cNvSpPr>
            <a:spLocks xmlns:a="http://schemas.openxmlformats.org/drawingml/2006/main" noGrp="1"/>
          </p:cNvSpPr>
          <p:nvPr/>
        </p:nvSpPr>
        <p:spPr>
          <a:xfrm xmlns:a="http://schemas.openxmlformats.org/drawingml/2006/main">
            <a:off x="4210050" y="5343525"/>
            <a:ext cx="30765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656B73"/>
                </a:solidFill>
                <a:latin typeface="Helvetica Neue"/>
                <a:ea typeface="Helvetica Neue"/>
                <a:cs typeface="Helvetica Neue"/>
              </a:defRPr>
            </a:pPr>
            <a:r>
              <a:rPr sz="1050" b="0" i="0">
                <a:solidFill>
                  <a:srgbClr val="656B73"/>
                </a:solidFill>
                <a:latin typeface="Helvetica Neue"/>
                <a:ea typeface="Helvetica Neue"/>
                <a:cs typeface="Helvetica Neue"/>
              </a:rPr>
              <a:t>CRM · bookings · qualified outcomes</a:t>
            </a:r>
          </a:p>
        </p:txBody>
      </p:sp>
      <p:sp>
        <p:nvSpPr>
          <p:cNvPr id="40" name="roundRect-258">
            <a:extLst xmlns:a="http://schemas.openxmlformats.org/drawingml/2006/main">
              <a:ext uri="{FF2B5EF4-FFF2-40B4-BE49-F238E27FC236}">
                <a16:creationId xmlns:a16="http://schemas.microsoft.com/office/drawing/2014/main" id="{F9F38DAB-2465-49FF-8D27-2B05EB819CD4}"/>
              </a:ext>
            </a:extLst>
          </p:cNvPr>
          <p:cNvSpPr>
            <a:spLocks xmlns:a="http://schemas.openxmlformats.org/drawingml/2006/main" noGrp="1"/>
          </p:cNvSpPr>
          <p:nvPr/>
        </p:nvSpPr>
        <p:spPr>
          <a:xfrm xmlns:a="http://schemas.openxmlformats.org/drawingml/2006/main">
            <a:off x="7721632" y="4781550"/>
            <a:ext cx="3692557" cy="800100"/>
          </a:xfrm>
          <a:prstGeom xmlns:a="http://schemas.openxmlformats.org/drawingml/2006/main" prst="roundRect">
            <a:avLst>
              <a:gd name="adj" fmla="val 9524"/>
            </a:avLst>
          </a:prstGeom>
          <a:solidFill xmlns:a="http://schemas.openxmlformats.org/drawingml/2006/main">
            <a:srgbClr val="F2F2F2"/>
          </a:solidFill>
          <a:ln xmlns:a="http://schemas.openxmlformats.org/drawingml/2006/main" w="9525">
            <a:solidFill>
              <a:srgbClr val="B8BCC4"/>
            </a:solidFill>
            <a:prstDash val="solid"/>
          </a:ln>
        </p:spPr>
        <p:txBody>
          <a:bodyPr xmlns:a="http://schemas.openxmlformats.org/drawingml/2006/main" wrap="square" lIns="152400" tIns="133350" rIns="152400" bIns="114300" anchor="t">
            <a:noAutofit/>
          </a:bodyPr>
          <a:lstStyle xmlns:a="http://schemas.openxmlformats.org/drawingml/2006/main"/>
          <a:p xmlns:a="http://schemas.openxmlformats.org/drawingml/2006/main">
            <a:r>
              <a:t/>
            </a:r>
          </a:p>
        </p:txBody>
      </p:sp>
      <p:sp>
        <p:nvSpPr>
          <p:cNvPr id="41" name="textbox-259">
            <a:extLst xmlns:a="http://schemas.openxmlformats.org/drawingml/2006/main">
              <a:ext uri="{FF2B5EF4-FFF2-40B4-BE49-F238E27FC236}">
                <a16:creationId xmlns:a16="http://schemas.microsoft.com/office/drawing/2014/main" id="{4F9B3C1C-CBB5-4024-8D24-B12FDDF4858A}"/>
              </a:ext>
            </a:extLst>
          </p:cNvPr>
          <p:cNvSpPr>
            <a:spLocks xmlns:a="http://schemas.openxmlformats.org/drawingml/2006/main" noGrp="1"/>
          </p:cNvSpPr>
          <p:nvPr/>
        </p:nvSpPr>
        <p:spPr>
          <a:xfrm xmlns:a="http://schemas.openxmlformats.org/drawingml/2006/main">
            <a:off x="7874032" y="4895850"/>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i="0">
                <a:solidFill>
                  <a:srgbClr val="656B73"/>
                </a:solidFill>
                <a:latin typeface="Helvetica Neue"/>
                <a:ea typeface="Helvetica Neue"/>
                <a:cs typeface="Helvetica Neue"/>
              </a:defRPr>
            </a:pPr>
            <a:r>
              <a:rPr sz="1050" b="1" i="0">
                <a:solidFill>
                  <a:srgbClr val="656B73"/>
                </a:solidFill>
                <a:latin typeface="Helvetica Neue"/>
                <a:ea typeface="Helvetica Neue"/>
                <a:cs typeface="Helvetica Neue"/>
              </a:rPr>
              <a:t>PHASE 8</a:t>
            </a:r>
          </a:p>
        </p:txBody>
      </p:sp>
      <p:sp>
        <p:nvSpPr>
          <p:cNvPr id="42" name="textbox-260">
            <a:extLst xmlns:a="http://schemas.openxmlformats.org/drawingml/2006/main">
              <a:ext uri="{FF2B5EF4-FFF2-40B4-BE49-F238E27FC236}">
                <a16:creationId xmlns:a16="http://schemas.microsoft.com/office/drawing/2014/main" id="{BA28EE51-8B6F-4B25-A3F8-4D0B2F34B218}"/>
              </a:ext>
            </a:extLst>
          </p:cNvPr>
          <p:cNvSpPr>
            <a:spLocks xmlns:a="http://schemas.openxmlformats.org/drawingml/2006/main" noGrp="1"/>
          </p:cNvSpPr>
          <p:nvPr/>
        </p:nvSpPr>
        <p:spPr>
          <a:xfrm xmlns:a="http://schemas.openxmlformats.org/drawingml/2006/main">
            <a:off x="7874032" y="5095875"/>
            <a:ext cx="3387757"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00000"/>
                </a:solidFill>
                <a:latin typeface="Helvetica Neue"/>
                <a:ea typeface="Helvetica Neue"/>
                <a:cs typeface="Helvetica Neue"/>
              </a:defRPr>
            </a:pPr>
            <a:r>
              <a:rPr sz="1500" b="1" i="0">
                <a:solidFill>
                  <a:srgbClr val="000000"/>
                </a:solidFill>
                <a:latin typeface="Helvetica Neue"/>
                <a:ea typeface="Helvetica Neue"/>
                <a:cs typeface="Helvetica Neue"/>
              </a:rPr>
              <a:t>Raw-event analytics</a:t>
            </a:r>
          </a:p>
        </p:txBody>
      </p:sp>
      <p:sp>
        <p:nvSpPr>
          <p:cNvPr id="43" name="textbox-261">
            <a:extLst xmlns:a="http://schemas.openxmlformats.org/drawingml/2006/main">
              <a:ext uri="{FF2B5EF4-FFF2-40B4-BE49-F238E27FC236}">
                <a16:creationId xmlns:a16="http://schemas.microsoft.com/office/drawing/2014/main" id="{DE823729-3018-4B71-AE87-B581CDEB2137}"/>
              </a:ext>
            </a:extLst>
          </p:cNvPr>
          <p:cNvSpPr>
            <a:spLocks xmlns:a="http://schemas.openxmlformats.org/drawingml/2006/main" noGrp="1"/>
          </p:cNvSpPr>
          <p:nvPr/>
        </p:nvSpPr>
        <p:spPr>
          <a:xfrm xmlns:a="http://schemas.openxmlformats.org/drawingml/2006/main">
            <a:off x="7874032" y="5343525"/>
            <a:ext cx="3387757"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656B73"/>
                </a:solidFill>
                <a:latin typeface="Helvetica Neue"/>
                <a:ea typeface="Helvetica Neue"/>
                <a:cs typeface="Helvetica Neue"/>
              </a:defRPr>
            </a:pPr>
            <a:r>
              <a:rPr sz="1050" b="0" i="0">
                <a:solidFill>
                  <a:srgbClr val="656B73"/>
                </a:solidFill>
                <a:latin typeface="Helvetica Neue"/>
                <a:ea typeface="Helvetica Neue"/>
                <a:cs typeface="Helvetica Neue"/>
              </a:rPr>
              <a:t>BigQuery only for justified use cases</a:t>
            </a:r>
          </a:p>
        </p:txBody>
      </p:sp>
      <p:sp>
        <p:nvSpPr>
          <p:cNvPr id="44" name="roundRect-262">
            <a:extLst xmlns:a="http://schemas.openxmlformats.org/drawingml/2006/main">
              <a:ext uri="{FF2B5EF4-FFF2-40B4-BE49-F238E27FC236}">
                <a16:creationId xmlns:a16="http://schemas.microsoft.com/office/drawing/2014/main" id="{3C5EBCAE-3FEA-4B6A-B841-9D6B340F07E2}"/>
              </a:ext>
            </a:extLst>
          </p:cNvPr>
          <p:cNvSpPr>
            <a:spLocks xmlns:a="http://schemas.openxmlformats.org/drawingml/2006/main" noGrp="1"/>
          </p:cNvSpPr>
          <p:nvPr/>
        </p:nvSpPr>
        <p:spPr>
          <a:xfrm xmlns:a="http://schemas.openxmlformats.org/drawingml/2006/main">
            <a:off x="393668" y="5924550"/>
            <a:ext cx="11001375" cy="419100"/>
          </a:xfrm>
          <a:prstGeom xmlns:a="http://schemas.openxmlformats.org/drawingml/2006/main" prst="roundRect">
            <a:avLst>
              <a:gd name="adj" fmla="val 22727"/>
            </a:avLst>
          </a:prstGeom>
          <a:solidFill xmlns:a="http://schemas.openxmlformats.org/drawingml/2006/main">
            <a:srgbClr val="000000"/>
          </a:solidFill>
          <a:ln xmlns:a="http://schemas.openxmlformats.org/drawingml/2006/main" w="0">
            <a:solidFill>
              <a:srgbClr val="000000"/>
            </a:solidFill>
            <a:prstDash val="solid"/>
          </a:ln>
        </p:spPr>
        <p:txBody>
          <a:bodyPr xmlns:a="http://schemas.openxmlformats.org/drawingml/2006/main" wrap="square" lIns="152400" tIns="133350" rIns="152400" bIns="114300" anchor="ctr">
            <a:normAutofit fontScale="63241"/>
          </a:bodyPr>
          <a:lstStyle xmlns:a="http://schemas.openxmlformats.org/drawingml/2006/main"/>
          <a:p xmlns:a="http://schemas.openxmlformats.org/drawingml/2006/main">
            <a:pPr algn="l">
              <a:defRPr sz="1200" b="1" i="0">
                <a:solidFill>
                  <a:srgbClr val="FFFFFF"/>
                </a:solidFill>
                <a:latin typeface="Helvetica Neue"/>
                <a:ea typeface="Helvetica Neue"/>
                <a:cs typeface="Helvetica Neue"/>
              </a:defRPr>
            </a:pPr>
            <a:r>
              <a:rPr sz="1200" b="1" i="0">
                <a:solidFill>
                  <a:srgbClr val="FFFFFF"/>
                </a:solidFill>
                <a:latin typeface="Helvetica Neue"/>
                <a:ea typeface="Helvetica Neue"/>
                <a:cs typeface="Helvetica Neue"/>
              </a:rPr>
              <a:t>First production milestone: one real website with approved measurement, clean collection, read-only GA4, idempotent Postgres sync, fixed-period snapshots, and visible measurement health.</a:t>
            </a:r>
          </a:p>
        </p:txBody>
      </p:sp>
    </p:spTree>
    <p:extLst>
      <p:ext uri="{BB962C8B-B14F-4D97-AF65-F5344CB8AC3E}">
        <p14:creationId xmlns:p14="http://schemas.microsoft.com/office/powerpoint/2010/main" val="197356667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box-263">
            <a:extLst xmlns:a="http://schemas.openxmlformats.org/drawingml/2006/main">
              <a:ext uri="{FF2B5EF4-FFF2-40B4-BE49-F238E27FC236}">
                <a16:creationId xmlns:a16="http://schemas.microsoft.com/office/drawing/2014/main" id="{313A30EF-B090-443C-A125-5B3352F6F351}"/>
              </a:ext>
            </a:extLst>
          </p:cNvPr>
          <p:cNvSpPr>
            <a:spLocks xmlns:a="http://schemas.openxmlformats.org/drawingml/2006/main" noGrp="1"/>
          </p:cNvSpPr>
          <p:nvPr/>
        </p:nvSpPr>
        <p:spPr>
          <a:xfrm xmlns:a="http://schemas.openxmlformats.org/drawingml/2006/main">
            <a:off x="393668" y="39224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i="0">
                <a:solidFill>
                  <a:srgbClr val="3D8DFF"/>
                </a:solidFill>
                <a:latin typeface="Helvetica Neue"/>
                <a:ea typeface="Helvetica Neue"/>
                <a:cs typeface="Helvetica Neue"/>
              </a:defRPr>
            </a:pPr>
            <a:r>
              <a:rPr sz="1500" b="1" i="0">
                <a:solidFill>
                  <a:srgbClr val="3D8DFF"/>
                </a:solidFill>
                <a:latin typeface="Helvetica Neue"/>
                <a:ea typeface="Helvetica Neue"/>
                <a:cs typeface="Helvetica Neue"/>
              </a:rPr>
              <a:t>NEXT WORK</a:t>
            </a:r>
          </a:p>
        </p:txBody>
      </p:sp>
      <p:sp>
        <p:nvSpPr>
          <p:cNvPr id="2" name="line-264">
            <a:extLst xmlns:a="http://schemas.openxmlformats.org/drawingml/2006/main">
              <a:ext uri="{FF2B5EF4-FFF2-40B4-BE49-F238E27FC236}">
                <a16:creationId xmlns:a16="http://schemas.microsoft.com/office/drawing/2014/main" id="{7DF44213-6BB5-4663-8892-28C17CB22C3A}"/>
              </a:ext>
            </a:extLst>
          </p:cNvPr>
          <p:cNvSpPr>
            <a:spLocks xmlns:a="http://schemas.openxmlformats.org/drawingml/2006/main" noGrp="1"/>
          </p:cNvSpPr>
          <p:nvPr/>
        </p:nvSpPr>
        <p:spPr>
          <a:xfrm xmlns:a="http://schemas.openxmlformats.org/drawingml/2006/main">
            <a:off x="393668" y="876300"/>
            <a:ext cx="123825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3" name="textbox-265">
            <a:extLst xmlns:a="http://schemas.openxmlformats.org/drawingml/2006/main">
              <a:ext uri="{FF2B5EF4-FFF2-40B4-BE49-F238E27FC236}">
                <a16:creationId xmlns:a16="http://schemas.microsoft.com/office/drawing/2014/main" id="{2AD04C0A-F79B-4FEE-9F3A-7E7526065235}"/>
              </a:ext>
            </a:extLst>
          </p:cNvPr>
          <p:cNvSpPr>
            <a:spLocks xmlns:a="http://schemas.openxmlformats.org/drawingml/2006/main" noGrp="1"/>
          </p:cNvSpPr>
          <p:nvPr/>
        </p:nvSpPr>
        <p:spPr>
          <a:xfrm xmlns:a="http://schemas.openxmlformats.org/drawingml/2006/main">
            <a:off x="393668" y="1562100"/>
            <a:ext cx="6096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rmAutofit fontScale="91146"/>
          </a:bodyPr>
          <a:lstStyle xmlns:a="http://schemas.openxmlformats.org/drawingml/2006/main"/>
          <a:p xmlns:a="http://schemas.openxmlformats.org/drawingml/2006/main">
            <a:pPr algn="l">
              <a:defRPr sz="4800" b="0" i="0">
                <a:solidFill>
                  <a:srgbClr val="000000"/>
                </a:solidFill>
                <a:latin typeface="Helvetica Neue"/>
                <a:ea typeface="Helvetica Neue"/>
                <a:cs typeface="Helvetica Neue"/>
              </a:defRPr>
            </a:pPr>
            <a:r>
              <a:rPr sz="4800" b="0" i="0">
                <a:solidFill>
                  <a:srgbClr val="000000"/>
                </a:solidFill>
                <a:latin typeface="Helvetica Neue"/>
                <a:ea typeface="Helvetica Neue"/>
                <a:cs typeface="Helvetica Neue"/>
              </a:rPr>
              <a:t>Freeze the architecture.</a:t>
            </a:r>
          </a:p>
          <a:p xmlns:a="http://schemas.openxmlformats.org/drawingml/2006/main">
            <a:pPr algn="l">
              <a:defRPr sz="4800" b="0" i="0">
                <a:solidFill>
                  <a:srgbClr val="000000"/>
                </a:solidFill>
                <a:latin typeface="Helvetica Neue"/>
                <a:ea typeface="Helvetica Neue"/>
                <a:cs typeface="Helvetica Neue"/>
              </a:defRPr>
            </a:pPr>
            <a:r>
              <a:rPr sz="4800" b="0" i="0">
                <a:solidFill>
                  <a:srgbClr val="000000"/>
                </a:solidFill>
                <a:latin typeface="Helvetica Neue"/>
                <a:ea typeface="Helvetica Neue"/>
                <a:cs typeface="Helvetica Neue"/>
              </a:rPr>
              <a:t>Prove the pilot assumptions.</a:t>
            </a:r>
          </a:p>
        </p:txBody>
      </p:sp>
      <p:sp>
        <p:nvSpPr>
          <p:cNvPr id="4" name="textbox-266">
            <a:extLst xmlns:a="http://schemas.openxmlformats.org/drawingml/2006/main">
              <a:ext uri="{FF2B5EF4-FFF2-40B4-BE49-F238E27FC236}">
                <a16:creationId xmlns:a16="http://schemas.microsoft.com/office/drawing/2014/main" id="{44209DAE-C9F9-469F-8102-5F11F60ED4BA}"/>
              </a:ext>
            </a:extLst>
          </p:cNvPr>
          <p:cNvSpPr>
            <a:spLocks xmlns:a="http://schemas.openxmlformats.org/drawingml/2006/main" noGrp="1"/>
          </p:cNvSpPr>
          <p:nvPr/>
        </p:nvSpPr>
        <p:spPr>
          <a:xfrm xmlns:a="http://schemas.openxmlformats.org/drawingml/2006/main">
            <a:off x="393668" y="4095750"/>
            <a:ext cx="5524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966"/>
          </a:bodyPr>
          <a:lstStyle xmlns:a="http://schemas.openxmlformats.org/drawingml/2006/main"/>
          <a:p xmlns:a="http://schemas.openxmlformats.org/drawingml/2006/main">
            <a:pPr algn="l">
              <a:defRPr sz="1650" b="0" i="0">
                <a:solidFill>
                  <a:srgbClr val="656B73"/>
                </a:solidFill>
                <a:latin typeface="Helvetica Neue"/>
                <a:ea typeface="Helvetica Neue"/>
                <a:cs typeface="Helvetica Neue"/>
              </a:defRPr>
            </a:pPr>
            <a:r>
              <a:rPr sz="1650" b="0" i="0">
                <a:solidFill>
                  <a:srgbClr val="656B73"/>
                </a:solidFill>
                <a:latin typeface="Helvetica Neue"/>
                <a:ea typeface="Helvetica Neue"/>
                <a:cs typeface="Helvetica Neue"/>
              </a:rPr>
              <a:t>The baseline is now concrete enough to implement. The next four moves should reduce uncertainty, not expand scope.</a:t>
            </a:r>
          </a:p>
        </p:txBody>
      </p:sp>
      <p:sp>
        <p:nvSpPr>
          <p:cNvPr id="5" name="textbox-267">
            <a:extLst xmlns:a="http://schemas.openxmlformats.org/drawingml/2006/main">
              <a:ext uri="{FF2B5EF4-FFF2-40B4-BE49-F238E27FC236}">
                <a16:creationId xmlns:a16="http://schemas.microsoft.com/office/drawing/2014/main" id="{18C4D5A9-C092-4AC5-B998-CDCA435F8FEA}"/>
              </a:ext>
            </a:extLst>
          </p:cNvPr>
          <p:cNvSpPr>
            <a:spLocks xmlns:a="http://schemas.openxmlformats.org/drawingml/2006/main" noGrp="1"/>
          </p:cNvSpPr>
          <p:nvPr/>
        </p:nvSpPr>
        <p:spPr>
          <a:xfrm xmlns:a="http://schemas.openxmlformats.org/drawingml/2006/main">
            <a:off x="7258050" y="160020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000000"/>
                </a:solidFill>
                <a:latin typeface="Helvetica Neue"/>
                <a:ea typeface="Helvetica Neue"/>
                <a:cs typeface="Helvetica Neue"/>
              </a:defRPr>
            </a:pPr>
            <a:r>
              <a:rPr sz="1800" b="1" i="0">
                <a:solidFill>
                  <a:srgbClr val="000000"/>
                </a:solidFill>
                <a:latin typeface="Helvetica Neue"/>
                <a:ea typeface="Helvetica Neue"/>
                <a:cs typeface="Helvetica Neue"/>
              </a:rPr>
              <a:t>Four moves</a:t>
            </a:r>
          </a:p>
        </p:txBody>
      </p:sp>
      <p:sp>
        <p:nvSpPr>
          <p:cNvPr id="6" name="textbox-268">
            <a:extLst xmlns:a="http://schemas.openxmlformats.org/drawingml/2006/main">
              <a:ext uri="{FF2B5EF4-FFF2-40B4-BE49-F238E27FC236}">
                <a16:creationId xmlns:a16="http://schemas.microsoft.com/office/drawing/2014/main" id="{7B01D890-3D96-408E-A862-2391112BF9BD}"/>
              </a:ext>
            </a:extLst>
          </p:cNvPr>
          <p:cNvSpPr>
            <a:spLocks xmlns:a="http://schemas.openxmlformats.org/drawingml/2006/main" noGrp="1"/>
          </p:cNvSpPr>
          <p:nvPr/>
        </p:nvSpPr>
        <p:spPr>
          <a:xfrm xmlns:a="http://schemas.openxmlformats.org/drawingml/2006/main">
            <a:off x="7258050" y="21526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01</a:t>
            </a:r>
          </a:p>
        </p:txBody>
      </p:sp>
      <p:sp>
        <p:nvSpPr>
          <p:cNvPr id="7" name="textbox-269">
            <a:extLst xmlns:a="http://schemas.openxmlformats.org/drawingml/2006/main">
              <a:ext uri="{FF2B5EF4-FFF2-40B4-BE49-F238E27FC236}">
                <a16:creationId xmlns:a16="http://schemas.microsoft.com/office/drawing/2014/main" id="{6843DC65-D874-40E5-86A9-240C17A57074}"/>
              </a:ext>
            </a:extLst>
          </p:cNvPr>
          <p:cNvSpPr>
            <a:spLocks xmlns:a="http://schemas.openxmlformats.org/drawingml/2006/main" noGrp="1"/>
          </p:cNvSpPr>
          <p:nvPr/>
        </p:nvSpPr>
        <p:spPr>
          <a:xfrm xmlns:a="http://schemas.openxmlformats.org/drawingml/2006/main">
            <a:off x="7734300" y="2114550"/>
            <a:ext cx="3619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000000"/>
                </a:solidFill>
                <a:latin typeface="Helvetica Neue"/>
                <a:ea typeface="Helvetica Neue"/>
                <a:cs typeface="Helvetica Neue"/>
              </a:defRPr>
            </a:pPr>
            <a:r>
              <a:rPr sz="1350" b="0" i="0">
                <a:solidFill>
                  <a:srgbClr val="000000"/>
                </a:solidFill>
                <a:latin typeface="Helvetica Neue"/>
                <a:ea typeface="Helvetica Neue"/>
                <a:cs typeface="Helvetica Neue"/>
              </a:rPr>
              <a:t>Write the exact local_service_v1 and healthcare eligibility specs.</a:t>
            </a:r>
          </a:p>
        </p:txBody>
      </p:sp>
      <p:sp>
        <p:nvSpPr>
          <p:cNvPr id="8" name="line-270">
            <a:extLst xmlns:a="http://schemas.openxmlformats.org/drawingml/2006/main">
              <a:ext uri="{FF2B5EF4-FFF2-40B4-BE49-F238E27FC236}">
                <a16:creationId xmlns:a16="http://schemas.microsoft.com/office/drawing/2014/main" id="{B1D9FAD6-38A9-447A-A3AF-9ECD0886CD81}"/>
              </a:ext>
            </a:extLst>
          </p:cNvPr>
          <p:cNvSpPr>
            <a:spLocks xmlns:a="http://schemas.openxmlformats.org/drawingml/2006/main" noGrp="1"/>
          </p:cNvSpPr>
          <p:nvPr/>
        </p:nvSpPr>
        <p:spPr>
          <a:xfrm xmlns:a="http://schemas.openxmlformats.org/drawingml/2006/main">
            <a:off x="7734300" y="2705100"/>
            <a:ext cx="36195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9" name="textbox-271">
            <a:extLst xmlns:a="http://schemas.openxmlformats.org/drawingml/2006/main">
              <a:ext uri="{FF2B5EF4-FFF2-40B4-BE49-F238E27FC236}">
                <a16:creationId xmlns:a16="http://schemas.microsoft.com/office/drawing/2014/main" id="{A8DE2690-F3C7-404C-845B-6A0DE29D67E9}"/>
              </a:ext>
            </a:extLst>
          </p:cNvPr>
          <p:cNvSpPr>
            <a:spLocks xmlns:a="http://schemas.openxmlformats.org/drawingml/2006/main" noGrp="1"/>
          </p:cNvSpPr>
          <p:nvPr/>
        </p:nvSpPr>
        <p:spPr>
          <a:xfrm xmlns:a="http://schemas.openxmlformats.org/drawingml/2006/main">
            <a:off x="7258050" y="28765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02</a:t>
            </a:r>
          </a:p>
        </p:txBody>
      </p:sp>
      <p:sp>
        <p:nvSpPr>
          <p:cNvPr id="10" name="textbox-272">
            <a:extLst xmlns:a="http://schemas.openxmlformats.org/drawingml/2006/main">
              <a:ext uri="{FF2B5EF4-FFF2-40B4-BE49-F238E27FC236}">
                <a16:creationId xmlns:a16="http://schemas.microsoft.com/office/drawing/2014/main" id="{D70AAB76-2A9B-4142-B08D-D3243D655814}"/>
              </a:ext>
            </a:extLst>
          </p:cNvPr>
          <p:cNvSpPr>
            <a:spLocks xmlns:a="http://schemas.openxmlformats.org/drawingml/2006/main" noGrp="1"/>
          </p:cNvSpPr>
          <p:nvPr/>
        </p:nvSpPr>
        <p:spPr>
          <a:xfrm xmlns:a="http://schemas.openxmlformats.org/drawingml/2006/main">
            <a:off x="7734300" y="2838450"/>
            <a:ext cx="3619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000000"/>
                </a:solidFill>
                <a:latin typeface="Helvetica Neue"/>
                <a:ea typeface="Helvetica Neue"/>
                <a:cs typeface="Helvetica Neue"/>
              </a:defRPr>
            </a:pPr>
            <a:r>
              <a:rPr sz="1350" b="0" i="0">
                <a:solidFill>
                  <a:srgbClr val="000000"/>
                </a:solidFill>
                <a:latin typeface="Helvetica Neue"/>
                <a:ea typeface="Helvetica Neue"/>
                <a:cs typeface="Helvetica Neue"/>
              </a:rPr>
              <a:t>Validate the tracking adapter on one approved pilot website.</a:t>
            </a:r>
          </a:p>
        </p:txBody>
      </p:sp>
      <p:sp>
        <p:nvSpPr>
          <p:cNvPr id="11" name="line-273">
            <a:extLst xmlns:a="http://schemas.openxmlformats.org/drawingml/2006/main">
              <a:ext uri="{FF2B5EF4-FFF2-40B4-BE49-F238E27FC236}">
                <a16:creationId xmlns:a16="http://schemas.microsoft.com/office/drawing/2014/main" id="{00D7AEBE-4FDF-42C5-8893-0EF89D6C66CD}"/>
              </a:ext>
            </a:extLst>
          </p:cNvPr>
          <p:cNvSpPr>
            <a:spLocks xmlns:a="http://schemas.openxmlformats.org/drawingml/2006/main" noGrp="1"/>
          </p:cNvSpPr>
          <p:nvPr/>
        </p:nvSpPr>
        <p:spPr>
          <a:xfrm xmlns:a="http://schemas.openxmlformats.org/drawingml/2006/main">
            <a:off x="7734300" y="3429000"/>
            <a:ext cx="36195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2" name="textbox-274">
            <a:extLst xmlns:a="http://schemas.openxmlformats.org/drawingml/2006/main">
              <a:ext uri="{FF2B5EF4-FFF2-40B4-BE49-F238E27FC236}">
                <a16:creationId xmlns:a16="http://schemas.microsoft.com/office/drawing/2014/main" id="{FBECF849-A6EA-4FA8-8426-9BA42E4E54DC}"/>
              </a:ext>
            </a:extLst>
          </p:cNvPr>
          <p:cNvSpPr>
            <a:spLocks xmlns:a="http://schemas.openxmlformats.org/drawingml/2006/main" noGrp="1"/>
          </p:cNvSpPr>
          <p:nvPr/>
        </p:nvSpPr>
        <p:spPr>
          <a:xfrm xmlns:a="http://schemas.openxmlformats.org/drawingml/2006/main">
            <a:off x="7258050" y="36004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03</a:t>
            </a:r>
          </a:p>
        </p:txBody>
      </p:sp>
      <p:sp>
        <p:nvSpPr>
          <p:cNvPr id="13" name="textbox-275">
            <a:extLst xmlns:a="http://schemas.openxmlformats.org/drawingml/2006/main">
              <a:ext uri="{FF2B5EF4-FFF2-40B4-BE49-F238E27FC236}">
                <a16:creationId xmlns:a16="http://schemas.microsoft.com/office/drawing/2014/main" id="{D025D7A0-CC1B-48B3-AA04-E17E23265CA4}"/>
              </a:ext>
            </a:extLst>
          </p:cNvPr>
          <p:cNvSpPr>
            <a:spLocks xmlns:a="http://schemas.openxmlformats.org/drawingml/2006/main" noGrp="1"/>
          </p:cNvSpPr>
          <p:nvPr/>
        </p:nvSpPr>
        <p:spPr>
          <a:xfrm xmlns:a="http://schemas.openxmlformats.org/drawingml/2006/main">
            <a:off x="7734300" y="3562350"/>
            <a:ext cx="3619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000000"/>
                </a:solidFill>
                <a:latin typeface="Helvetica Neue"/>
                <a:ea typeface="Helvetica Neue"/>
                <a:cs typeface="Helvetica Neue"/>
              </a:defRPr>
            </a:pPr>
            <a:r>
              <a:rPr sz="1350" b="0" i="0">
                <a:solidFill>
                  <a:srgbClr val="000000"/>
                </a:solidFill>
                <a:latin typeface="Helvetica Neue"/>
                <a:ea typeface="Helvetica Neue"/>
                <a:cs typeface="Helvetica Neue"/>
              </a:rPr>
              <a:t>After Phase 1 passes, write the Phase 2 Postgres schema and migrations.</a:t>
            </a:r>
          </a:p>
        </p:txBody>
      </p:sp>
      <p:sp>
        <p:nvSpPr>
          <p:cNvPr id="14" name="line-276">
            <a:extLst xmlns:a="http://schemas.openxmlformats.org/drawingml/2006/main">
              <a:ext uri="{FF2B5EF4-FFF2-40B4-BE49-F238E27FC236}">
                <a16:creationId xmlns:a16="http://schemas.microsoft.com/office/drawing/2014/main" id="{FA28F9AB-05B6-47A6-AC6B-B65A20C72C80}"/>
              </a:ext>
            </a:extLst>
          </p:cNvPr>
          <p:cNvSpPr>
            <a:spLocks xmlns:a="http://schemas.openxmlformats.org/drawingml/2006/main" noGrp="1"/>
          </p:cNvSpPr>
          <p:nvPr/>
        </p:nvSpPr>
        <p:spPr>
          <a:xfrm xmlns:a="http://schemas.openxmlformats.org/drawingml/2006/main">
            <a:off x="7734300" y="4152900"/>
            <a:ext cx="36195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5" name="textbox-277">
            <a:extLst xmlns:a="http://schemas.openxmlformats.org/drawingml/2006/main">
              <a:ext uri="{FF2B5EF4-FFF2-40B4-BE49-F238E27FC236}">
                <a16:creationId xmlns:a16="http://schemas.microsoft.com/office/drawing/2014/main" id="{39D5A457-BE6D-4D9F-B022-D85E7B769056}"/>
              </a:ext>
            </a:extLst>
          </p:cNvPr>
          <p:cNvSpPr>
            <a:spLocks xmlns:a="http://schemas.openxmlformats.org/drawingml/2006/main" noGrp="1"/>
          </p:cNvSpPr>
          <p:nvPr/>
        </p:nvSpPr>
        <p:spPr>
          <a:xfrm xmlns:a="http://schemas.openxmlformats.org/drawingml/2006/main">
            <a:off x="7258050" y="43243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04</a:t>
            </a:r>
          </a:p>
        </p:txBody>
      </p:sp>
      <p:sp>
        <p:nvSpPr>
          <p:cNvPr id="16" name="textbox-278">
            <a:extLst xmlns:a="http://schemas.openxmlformats.org/drawingml/2006/main">
              <a:ext uri="{FF2B5EF4-FFF2-40B4-BE49-F238E27FC236}">
                <a16:creationId xmlns:a16="http://schemas.microsoft.com/office/drawing/2014/main" id="{77282886-99F2-481A-842B-E04542E99954}"/>
              </a:ext>
            </a:extLst>
          </p:cNvPr>
          <p:cNvSpPr>
            <a:spLocks xmlns:a="http://schemas.openxmlformats.org/drawingml/2006/main" noGrp="1"/>
          </p:cNvSpPr>
          <p:nvPr/>
        </p:nvSpPr>
        <p:spPr>
          <a:xfrm xmlns:a="http://schemas.openxmlformats.org/drawingml/2006/main">
            <a:off x="7734300" y="4286250"/>
            <a:ext cx="3619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792"/>
          </a:bodyPr>
          <a:lstStyle xmlns:a="http://schemas.openxmlformats.org/drawingml/2006/main"/>
          <a:p xmlns:a="http://schemas.openxmlformats.org/drawingml/2006/main">
            <a:pPr algn="l">
              <a:defRPr sz="1350" b="0" i="0">
                <a:solidFill>
                  <a:srgbClr val="000000"/>
                </a:solidFill>
                <a:latin typeface="Helvetica Neue"/>
                <a:ea typeface="Helvetica Neue"/>
                <a:cs typeface="Helvetica Neue"/>
              </a:defRPr>
            </a:pPr>
            <a:r>
              <a:rPr sz="1350" b="0" i="0">
                <a:solidFill>
                  <a:srgbClr val="000000"/>
                </a:solidFill>
                <a:latin typeface="Helvetica Neue"/>
                <a:ea typeface="Helvetica Neue"/>
                <a:cs typeface="Helvetica Neue"/>
              </a:rPr>
              <a:t>Run the smallest service-account pilot: reconciliation, provenance, non-additive metrics, isolation.</a:t>
            </a:r>
          </a:p>
        </p:txBody>
      </p:sp>
      <p:sp>
        <p:nvSpPr>
          <p:cNvPr id="17" name="roundRect-279">
            <a:extLst xmlns:a="http://schemas.openxmlformats.org/drawingml/2006/main">
              <a:ext uri="{FF2B5EF4-FFF2-40B4-BE49-F238E27FC236}">
                <a16:creationId xmlns:a16="http://schemas.microsoft.com/office/drawing/2014/main" id="{88539688-2E04-460F-9884-CA8BCA56B11C}"/>
              </a:ext>
            </a:extLst>
          </p:cNvPr>
          <p:cNvSpPr>
            <a:spLocks xmlns:a="http://schemas.openxmlformats.org/drawingml/2006/main" noGrp="1"/>
          </p:cNvSpPr>
          <p:nvPr/>
        </p:nvSpPr>
        <p:spPr>
          <a:xfrm xmlns:a="http://schemas.openxmlformats.org/drawingml/2006/main">
            <a:off x="393668" y="5753100"/>
            <a:ext cx="11001375" cy="514350"/>
          </a:xfrm>
          <a:prstGeom xmlns:a="http://schemas.openxmlformats.org/drawingml/2006/main" prst="roundRect">
            <a:avLst>
              <a:gd name="adj" fmla="val 18519"/>
            </a:avLst>
          </a:prstGeom>
          <a:solidFill xmlns:a="http://schemas.openxmlformats.org/drawingml/2006/main">
            <a:srgbClr val="EDF8FD"/>
          </a:solidFill>
          <a:ln xmlns:a="http://schemas.openxmlformats.org/drawingml/2006/main" w="19050">
            <a:solidFill>
              <a:srgbClr val="3D8DFF"/>
            </a:solidFill>
            <a:prstDash val="solid"/>
          </a:ln>
        </p:spPr>
        <p:txBody>
          <a:bodyPr xmlns:a="http://schemas.openxmlformats.org/drawingml/2006/main" wrap="square" lIns="152400" tIns="133350" rIns="152400" bIns="114300" anchor="ctr">
            <a:normAutofit fontScale="92259"/>
          </a:bodyPr>
          <a:lstStyle xmlns:a="http://schemas.openxmlformats.org/drawingml/2006/main"/>
          <a:p xmlns:a="http://schemas.openxmlformats.org/drawingml/2006/main">
            <a:pPr algn="l">
              <a:defRPr sz="1500" b="1" i="0">
                <a:solidFill>
                  <a:srgbClr val="000000"/>
                </a:solidFill>
                <a:latin typeface="Helvetica Neue"/>
                <a:ea typeface="Helvetica Neue"/>
                <a:cs typeface="Helvetica Neue"/>
              </a:defRPr>
            </a:pPr>
            <a:r>
              <a:rPr sz="1500" b="1" i="0">
                <a:solidFill>
                  <a:srgbClr val="000000"/>
                </a:solidFill>
                <a:latin typeface="Helvetica Neue"/>
                <a:ea typeface="Helvetica Neue"/>
                <a:cs typeface="Helvetica Neue"/>
              </a:rPr>
              <a:t>The architecture is ready for a pilot—not for broader platform planning before the pilot gates pass.</a:t>
            </a:r>
          </a:p>
        </p:txBody>
      </p:sp>
    </p:spTree>
    <p:extLst>
      <p:ext uri="{BB962C8B-B14F-4D97-AF65-F5344CB8AC3E}">
        <p14:creationId xmlns:p14="http://schemas.microsoft.com/office/powerpoint/2010/main" val="791813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2026-08-08T05:58:24.8190000Z</dcterms:created>
  <dcterms:modified xsi:type="dcterms:W3CDTF">2026-08-08T05:58:24.8200000Z</dcterms:modified>
</coreProperties>
</file>